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6.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84" r:id="rId2"/>
    <p:sldId id="287" r:id="rId3"/>
    <p:sldId id="261" r:id="rId4"/>
    <p:sldId id="262" r:id="rId5"/>
    <p:sldId id="263" r:id="rId6"/>
    <p:sldId id="264" r:id="rId7"/>
    <p:sldId id="265" r:id="rId8"/>
    <p:sldId id="266" r:id="rId9"/>
    <p:sldId id="267" r:id="rId10"/>
    <p:sldId id="268" r:id="rId11"/>
    <p:sldId id="286" r:id="rId12"/>
    <p:sldId id="346" r:id="rId13"/>
    <p:sldId id="340" r:id="rId14"/>
    <p:sldId id="341" r:id="rId15"/>
    <p:sldId id="342" r:id="rId16"/>
    <p:sldId id="343" r:id="rId17"/>
    <p:sldId id="344" r:id="rId18"/>
    <p:sldId id="257" r:id="rId19"/>
    <p:sldId id="256" r:id="rId20"/>
    <p:sldId id="258" r:id="rId21"/>
    <p:sldId id="259" r:id="rId22"/>
    <p:sldId id="260" r:id="rId23"/>
    <p:sldId id="282" r:id="rId24"/>
    <p:sldId id="283" r:id="rId25"/>
    <p:sldId id="279" r:id="rId26"/>
    <p:sldId id="280" r:id="rId27"/>
    <p:sldId id="281" r:id="rId28"/>
    <p:sldId id="288" r:id="rId29"/>
    <p:sldId id="289" r:id="rId30"/>
    <p:sldId id="290" r:id="rId31"/>
    <p:sldId id="291" r:id="rId32"/>
    <p:sldId id="331" r:id="rId33"/>
    <p:sldId id="332" r:id="rId34"/>
    <p:sldId id="333" r:id="rId35"/>
    <p:sldId id="334" r:id="rId36"/>
    <p:sldId id="335" r:id="rId37"/>
    <p:sldId id="336" r:id="rId38"/>
    <p:sldId id="339" r:id="rId39"/>
    <p:sldId id="307" r:id="rId40"/>
    <p:sldId id="351" r:id="rId41"/>
    <p:sldId id="347" r:id="rId42"/>
    <p:sldId id="350" r:id="rId43"/>
    <p:sldId id="292" r:id="rId44"/>
    <p:sldId id="348" r:id="rId45"/>
    <p:sldId id="352" r:id="rId46"/>
    <p:sldId id="353" r:id="rId47"/>
    <p:sldId id="354" r:id="rId48"/>
    <p:sldId id="355" r:id="rId49"/>
    <p:sldId id="345" r:id="rId50"/>
    <p:sldId id="349" r:id="rId51"/>
  </p:sldIdLst>
  <p:sldSz cx="9144000" cy="6858000" type="screen4x3"/>
  <p:notesSz cx="6858000" cy="9144000"/>
  <p:custDataLst>
    <p:tags r:id="rId53"/>
  </p:custDataLst>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86139" initials="8"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51" d="100"/>
          <a:sy n="151" d="100"/>
        </p:scale>
        <p:origin x="2094" y="1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1DB12-A0A0-4D5C-BF87-0DA4FE49DF44}" type="datetimeFigureOut">
              <a:rPr lang="zh-CN" altLang="en-US" smtClean="0"/>
              <a:t>2025/4/9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23E9B-0769-4979-A03E-932774381CF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823E9B-0769-4979-A03E-932774381CF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C57854-34E5-4E6E-B151-6A2E361F3D21}" type="slidenum">
              <a:rPr lang="zh-CN" altLang="en-US" smtClean="0"/>
              <a:t>32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C57854-34E5-4E6E-B151-6A2E361F3D21}" type="slidenum">
              <a:rPr lang="zh-CN" altLang="en-US" smtClean="0"/>
              <a:t>34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C57854-34E5-4E6E-B151-6A2E361F3D21}" type="slidenum">
              <a:rPr lang="zh-CN" altLang="en-US" smtClean="0"/>
              <a:t>37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C57854-34E5-4E6E-B151-6A2E361F3D21}" type="slidenum">
              <a:rPr lang="zh-CN" altLang="en-US" smtClean="0"/>
              <a:t>38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E823E9B-0769-4979-A03E-932774381CF6}" type="slidenum">
              <a:rPr lang="zh-CN" altLang="en-US" smtClean="0"/>
              <a:t>43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PCIe 6.0被认为是PCIe问世近20年以来变化最大的一次。坦率来说，PCIe 4.0/5.0都是对3.0的小修小改，比如依然采用基于NRZ（Non-Return-to-Zero）的128b/130b编码。PCIe 6.0则改用PAM4脉冲调幅信令，1b/1b编码</a:t>
            </a:r>
            <a:endParaRPr lang="zh-CN" altLang="en-US"/>
          </a:p>
          <a:p>
            <a:endParaRPr lang="zh-CN" altLang="en-US"/>
          </a:p>
          <a:p>
            <a:r>
              <a:rPr lang="zh-CN" altLang="en-US"/>
              <a:t>除了PAM4和FEC，PCIe 6.0的最后一项主要技术就是在逻辑层使用FLIT（流量控制单元）编码。</a:t>
            </a:r>
          </a:p>
          <a:p>
            <a:r>
              <a:rPr lang="zh-CN" altLang="en-US"/>
              <a:t>其实，PAM4、FLIT都不算新技术，在200G+的超高速以太网早已应用，其中PAM4没能大规模推广的原因在于物理层成本太高。</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idx="1"/>
          </p:nvPr>
        </p:nvSpPr>
        <p:spPr>
          <a:xfrm>
            <a:off x="457200" y="1600200"/>
            <a:ext cx="8229600" cy="4525963"/>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a:endParaRPr lang="zh-CN" altLang="en-US">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a:endParaRPr lang="zh-CN" altLang="en-US">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itchFamily="2" charset="-122"/>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1.xml"/><Relationship Id="rId10" Type="http://schemas.openxmlformats.org/officeDocument/2006/relationships/image" Target="../media/image5.png"/><Relationship Id="rId4" Type="http://schemas.openxmlformats.org/officeDocument/2006/relationships/slideLayout" Target="../slideLayouts/slideLayout2.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0.xml"/><Relationship Id="rId7" Type="http://schemas.openxmlformats.org/officeDocument/2006/relationships/image" Target="../media/image7.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2.xml"/><Relationship Id="rId5" Type="http://schemas.openxmlformats.org/officeDocument/2006/relationships/tags" Target="../tags/tag12.xml"/><Relationship Id="rId10" Type="http://schemas.openxmlformats.org/officeDocument/2006/relationships/image" Target="../media/image10.png"/><Relationship Id="rId4" Type="http://schemas.openxmlformats.org/officeDocument/2006/relationships/tags" Target="../tags/tag11.xml"/><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5.xml"/><Relationship Id="rId7"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14.png"/><Relationship Id="rId5" Type="http://schemas.openxmlformats.org/officeDocument/2006/relationships/tags" Target="../tags/tag17.xml"/><Relationship Id="rId10" Type="http://schemas.openxmlformats.org/officeDocument/2006/relationships/image" Target="../media/image13.png"/><Relationship Id="rId4" Type="http://schemas.openxmlformats.org/officeDocument/2006/relationships/tags" Target="../tags/tag16.xml"/><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18.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17.png"/><Relationship Id="rId5" Type="http://schemas.openxmlformats.org/officeDocument/2006/relationships/tags" Target="../tags/tag23.xml"/><Relationship Id="rId10" Type="http://schemas.openxmlformats.org/officeDocument/2006/relationships/image" Target="../media/image16.png"/><Relationship Id="rId4" Type="http://schemas.openxmlformats.org/officeDocument/2006/relationships/tags" Target="../tags/tag22.xml"/><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28.xml"/><Relationship Id="rId7" Type="http://schemas.openxmlformats.org/officeDocument/2006/relationships/slideLayout" Target="../slideLayouts/slideLayout2.xml"/><Relationship Id="rId12" Type="http://schemas.openxmlformats.org/officeDocument/2006/relationships/image" Target="../media/image2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22.png"/><Relationship Id="rId5" Type="http://schemas.openxmlformats.org/officeDocument/2006/relationships/tags" Target="../tags/tag30.xml"/><Relationship Id="rId10" Type="http://schemas.openxmlformats.org/officeDocument/2006/relationships/image" Target="../media/image21.png"/><Relationship Id="rId4" Type="http://schemas.openxmlformats.org/officeDocument/2006/relationships/tags" Target="../tags/tag29.xml"/><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tags" Target="../tags/tag33.xml"/><Relationship Id="rId16" Type="http://schemas.openxmlformats.org/officeDocument/2006/relationships/image" Target="../media/image29.png"/><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24.png"/><Relationship Id="rId5" Type="http://schemas.openxmlformats.org/officeDocument/2006/relationships/tags" Target="../tags/tag36.xml"/><Relationship Id="rId15" Type="http://schemas.openxmlformats.org/officeDocument/2006/relationships/image" Target="../media/image28.png"/><Relationship Id="rId10" Type="http://schemas.openxmlformats.org/officeDocument/2006/relationships/slideLayout" Target="../slideLayouts/slideLayout2.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43.xml"/><Relationship Id="rId7"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image" Target="../media/image35.png"/><Relationship Id="rId5" Type="http://schemas.openxmlformats.org/officeDocument/2006/relationships/tags" Target="../tags/tag45.xml"/><Relationship Id="rId10" Type="http://schemas.openxmlformats.org/officeDocument/2006/relationships/image" Target="../media/image34.png"/><Relationship Id="rId4" Type="http://schemas.openxmlformats.org/officeDocument/2006/relationships/tags" Target="../tags/tag44.xml"/><Relationship Id="rId9" Type="http://schemas.openxmlformats.org/officeDocument/2006/relationships/image" Target="../media/image33.png"/></Relationships>
</file>

<file path=ppt/slides/_rels/slide10.xml.rels><?xml version="1.0" encoding="UTF-8" standalone="yes"?>
<Relationships xmlns="http://schemas.openxmlformats.org/package/2006/relationships"><Relationship Id="rId8" Type="http://schemas.openxmlformats.org/officeDocument/2006/relationships/tags" Target="../tags/tag54.xml"/><Relationship Id="rId13" Type="http://schemas.openxmlformats.org/officeDocument/2006/relationships/image" Target="../media/image39.png"/><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image" Target="../media/image38.png"/><Relationship Id="rId2" Type="http://schemas.openxmlformats.org/officeDocument/2006/relationships/tags" Target="../tags/tag48.xml"/><Relationship Id="rId16" Type="http://schemas.openxmlformats.org/officeDocument/2006/relationships/image" Target="../media/image42.png"/><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37.png"/><Relationship Id="rId5" Type="http://schemas.openxmlformats.org/officeDocument/2006/relationships/tags" Target="../tags/tag51.xml"/><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tags" Target="../tags/tag50.xml"/><Relationship Id="rId9" Type="http://schemas.openxmlformats.org/officeDocument/2006/relationships/slideLayout" Target="../slideLayouts/slideLayout2.xml"/><Relationship Id="rId14" Type="http://schemas.openxmlformats.org/officeDocument/2006/relationships/image" Target="../media/image4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59.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tags" Target="../tags/tag60.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6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image" Target="../media/image69.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68.png"/><Relationship Id="rId5" Type="http://schemas.openxmlformats.org/officeDocument/2006/relationships/tags" Target="../tags/tag66.xml"/><Relationship Id="rId10" Type="http://schemas.openxmlformats.org/officeDocument/2006/relationships/image" Target="../media/image67.png"/><Relationship Id="rId4" Type="http://schemas.openxmlformats.org/officeDocument/2006/relationships/tags" Target="../tags/tag65.xml"/><Relationship Id="rId9"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image" Target="../media/image71.png"/><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image" Target="../media/image70.png"/><Relationship Id="rId2" Type="http://schemas.openxmlformats.org/officeDocument/2006/relationships/tags" Target="../tags/tag71.xml"/><Relationship Id="rId16" Type="http://schemas.openxmlformats.org/officeDocument/2006/relationships/slideLayout" Target="../slideLayouts/slideLayout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19" Type="http://schemas.openxmlformats.org/officeDocument/2006/relationships/image" Target="../media/image72.png"/><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s>
</file>

<file path=ppt/slides/_rels/slide20.xml.rels><?xml version="1.0" encoding="UTF-8" standalone="yes"?>
<Relationships xmlns="http://schemas.openxmlformats.org/package/2006/relationships"><Relationship Id="rId3" Type="http://schemas.openxmlformats.org/officeDocument/2006/relationships/tags" Target="../tags/tag87.xml"/><Relationship Id="rId7" Type="http://schemas.openxmlformats.org/officeDocument/2006/relationships/image" Target="../media/image74.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73.png"/><Relationship Id="rId5" Type="http://schemas.openxmlformats.org/officeDocument/2006/relationships/slideLayout" Target="../slideLayouts/slideLayout2.xml"/><Relationship Id="rId4" Type="http://schemas.openxmlformats.org/officeDocument/2006/relationships/tags" Target="../tags/tag88.xml"/></Relationships>
</file>

<file path=ppt/slides/_rels/slide21.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media/image18.png"/><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76.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75.png"/><Relationship Id="rId5" Type="http://schemas.openxmlformats.org/officeDocument/2006/relationships/tags" Target="../tags/tag93.xml"/><Relationship Id="rId10" Type="http://schemas.openxmlformats.org/officeDocument/2006/relationships/slideLayout" Target="../slideLayouts/slideLayout2.xml"/><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image" Target="../media/image77.png"/></Relationships>
</file>

<file path=ppt/slides/_rels/slide22.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tags" Target="../tags/tag100.xml"/><Relationship Id="rId7"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10" Type="http://schemas.openxmlformats.org/officeDocument/2006/relationships/image" Target="../media/image77.png"/><Relationship Id="rId4" Type="http://schemas.openxmlformats.org/officeDocument/2006/relationships/tags" Target="../tags/tag101.xml"/><Relationship Id="rId9" Type="http://schemas.openxmlformats.org/officeDocument/2006/relationships/image" Target="../media/image76.png"/></Relationships>
</file>

<file path=ppt/slides/_rels/slide23.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image" Target="../media/image81.png"/><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image" Target="../media/image80.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9.png"/><Relationship Id="rId5" Type="http://schemas.openxmlformats.org/officeDocument/2006/relationships/tags" Target="../tags/tag108.xml"/><Relationship Id="rId10" Type="http://schemas.openxmlformats.org/officeDocument/2006/relationships/slideLayout" Target="../slideLayouts/slideLayout2.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image" Target="../media/image82.png"/></Relationships>
</file>

<file path=ppt/slides/_rels/slide24.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tags" Target="../tags/tag115.xml"/><Relationship Id="rId7" Type="http://schemas.openxmlformats.org/officeDocument/2006/relationships/slideLayout" Target="../slideLayouts/slideLayout2.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5" Type="http://schemas.openxmlformats.org/officeDocument/2006/relationships/tags" Target="../tags/tag117.xml"/><Relationship Id="rId10" Type="http://schemas.openxmlformats.org/officeDocument/2006/relationships/image" Target="../media/image85.png"/><Relationship Id="rId4" Type="http://schemas.openxmlformats.org/officeDocument/2006/relationships/tags" Target="../tags/tag116.xml"/><Relationship Id="rId9" Type="http://schemas.openxmlformats.org/officeDocument/2006/relationships/image" Target="../media/image84.pn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media/image89.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image" Target="../media/image88.png"/><Relationship Id="rId5" Type="http://schemas.openxmlformats.org/officeDocument/2006/relationships/tags" Target="../tags/tag123.xml"/><Relationship Id="rId10" Type="http://schemas.openxmlformats.org/officeDocument/2006/relationships/image" Target="../media/image87.png"/><Relationship Id="rId4" Type="http://schemas.openxmlformats.org/officeDocument/2006/relationships/tags" Target="../tags/tag122.xml"/><Relationship Id="rId9" Type="http://schemas.openxmlformats.org/officeDocument/2006/relationships/image" Target="../media/image86.png"/></Relationships>
</file>

<file path=ppt/slides/_rels/slide26.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image" Target="../media/image91.png"/><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image" Target="../media/image90.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slideLayout" Target="../slideLayouts/slideLayout2.xml"/><Relationship Id="rId5" Type="http://schemas.openxmlformats.org/officeDocument/2006/relationships/tags" Target="../tags/tag130.xml"/><Relationship Id="rId15" Type="http://schemas.openxmlformats.org/officeDocument/2006/relationships/image" Target="../media/image93.png"/><Relationship Id="rId10" Type="http://schemas.openxmlformats.org/officeDocument/2006/relationships/tags" Target="../tags/tag135.xml"/><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image" Target="../media/image92.png"/></Relationships>
</file>

<file path=ppt/slides/_rels/slide27.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Layout" Target="../slideLayouts/slideLayout2.xml"/><Relationship Id="rId1" Type="http://schemas.openxmlformats.org/officeDocument/2006/relationships/tags" Target="../tags/tag139.xml"/><Relationship Id="rId5" Type="http://schemas.openxmlformats.org/officeDocument/2006/relationships/image" Target="../media/image98.png"/><Relationship Id="rId4" Type="http://schemas.openxmlformats.org/officeDocument/2006/relationships/image" Target="../media/image9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1.xml"/><Relationship Id="rId1" Type="http://schemas.openxmlformats.org/officeDocument/2006/relationships/tags" Target="../tags/tag140.xml"/><Relationship Id="rId5" Type="http://schemas.openxmlformats.org/officeDocument/2006/relationships/image" Target="../media/image100.png"/><Relationship Id="rId4" Type="http://schemas.openxmlformats.org/officeDocument/2006/relationships/image" Target="../media/image9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3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tags" Target="../tags/tag143.xml"/><Relationship Id="rId4" Type="http://schemas.openxmlformats.org/officeDocument/2006/relationships/image" Target="../media/image102.png"/></Relationships>
</file>

<file path=ppt/slides/_rels/slide3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33.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3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png"/></Relationships>
</file>

<file path=ppt/slides/_rels/slide3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3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4.png"/></Relationships>
</file>

<file path=ppt/slides/_rels/slide3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39.xml.rels><?xml version="1.0" encoding="UTF-8" standalone="yes"?>
<Relationships xmlns="http://schemas.openxmlformats.org/package/2006/relationships"><Relationship Id="rId3" Type="http://schemas.openxmlformats.org/officeDocument/2006/relationships/hyperlink" Target="https://baike.baidu.com/item/GT/0?fromModule=lemma_inlink" TargetMode="External"/><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hyperlink" Target="https://baike.baidu.com/item/GB/0?fromModule=lemma_inlink" TargetMode="External"/><Relationship Id="rId4" Type="http://schemas.openxmlformats.org/officeDocument/2006/relationships/hyperlink" Target="https://baike.baidu.com/item/MB/0?fromModule=lemma_inlink"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tags" Target="../tags/tag146.xml"/><Relationship Id="rId7" Type="http://schemas.openxmlformats.org/officeDocument/2006/relationships/image" Target="../media/image132.png"/><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slideLayout" Target="../slideLayouts/slideLayout2.xml"/><Relationship Id="rId5" Type="http://schemas.openxmlformats.org/officeDocument/2006/relationships/tags" Target="../tags/tag148.xml"/><Relationship Id="rId10" Type="http://schemas.openxmlformats.org/officeDocument/2006/relationships/image" Target="../media/image135.png"/><Relationship Id="rId4" Type="http://schemas.openxmlformats.org/officeDocument/2006/relationships/tags" Target="../tags/tag147.xml"/><Relationship Id="rId9" Type="http://schemas.openxmlformats.org/officeDocument/2006/relationships/image" Target="../media/image134.png"/></Relationships>
</file>

<file path=ppt/slides/_rels/slide41.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6.png"/><Relationship Id="rId7" Type="http://schemas.openxmlformats.org/officeDocument/2006/relationships/image" Target="../media/image140.png"/><Relationship Id="rId2" Type="http://schemas.openxmlformats.org/officeDocument/2006/relationships/slideLayout" Target="../slideLayouts/slideLayout2.xml"/><Relationship Id="rId1" Type="http://schemas.openxmlformats.org/officeDocument/2006/relationships/tags" Target="../tags/tag149.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42.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slideLayout" Target="../slideLayouts/slideLayout2.xml"/><Relationship Id="rId1" Type="http://schemas.openxmlformats.org/officeDocument/2006/relationships/tags" Target="../tags/tag150.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43.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notesSlide" Target="../notesSlides/notesSlide6.xml"/><Relationship Id="rId7" Type="http://schemas.openxmlformats.org/officeDocument/2006/relationships/image" Target="../media/image150.png"/><Relationship Id="rId2" Type="http://schemas.openxmlformats.org/officeDocument/2006/relationships/slideLayout" Target="../slideLayouts/slideLayout2.xml"/><Relationship Id="rId1" Type="http://schemas.openxmlformats.org/officeDocument/2006/relationships/tags" Target="../tags/tag15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4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slideLayout" Target="../slideLayouts/slideLayout2.xml"/><Relationship Id="rId1" Type="http://schemas.openxmlformats.org/officeDocument/2006/relationships/tags" Target="../tags/tag152.xml"/><Relationship Id="rId4" Type="http://schemas.openxmlformats.org/officeDocument/2006/relationships/image" Target="../media/image153.png"/></Relationships>
</file>

<file path=ppt/slides/_rels/slide45.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slideLayout" Target="../slideLayouts/slideLayout2.xml"/><Relationship Id="rId7" Type="http://schemas.openxmlformats.org/officeDocument/2006/relationships/image" Target="../media/image157.png"/><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image" Target="../media/image156.png"/><Relationship Id="rId5" Type="http://schemas.openxmlformats.org/officeDocument/2006/relationships/image" Target="../media/image155.png"/><Relationship Id="rId10" Type="http://schemas.openxmlformats.org/officeDocument/2006/relationships/image" Target="../media/image160.png"/><Relationship Id="rId4" Type="http://schemas.openxmlformats.org/officeDocument/2006/relationships/image" Target="../media/image154.png"/><Relationship Id="rId9" Type="http://schemas.openxmlformats.org/officeDocument/2006/relationships/image" Target="../media/image159.png"/></Relationships>
</file>

<file path=ppt/slides/_rels/slide4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slideLayout" Target="../slideLayouts/slideLayout2.xml"/><Relationship Id="rId1" Type="http://schemas.openxmlformats.org/officeDocument/2006/relationships/tags" Target="../tags/tag155.xml"/><Relationship Id="rId5" Type="http://schemas.openxmlformats.org/officeDocument/2006/relationships/image" Target="../media/image155.png"/><Relationship Id="rId4" Type="http://schemas.openxmlformats.org/officeDocument/2006/relationships/image" Target="../media/image1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tags" Target="../tags/tag158.xml"/><Relationship Id="rId7" Type="http://schemas.openxmlformats.org/officeDocument/2006/relationships/image" Target="../media/image163.png"/><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159.xml"/><Relationship Id="rId9" Type="http://schemas.openxmlformats.org/officeDocument/2006/relationships/image" Target="../media/image165.png"/></Relationships>
</file>

<file path=ppt/slides/_rels/slide5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PCI</a:t>
            </a:r>
            <a:r>
              <a:rPr lang="zh-CN" altLang="en-US" sz="2800" dirty="0">
                <a:gradFill>
                  <a:gsLst>
                    <a:gs pos="0">
                      <a:srgbClr val="E30000"/>
                    </a:gs>
                    <a:gs pos="100000">
                      <a:srgbClr val="760303"/>
                    </a:gs>
                  </a:gsLst>
                  <a:lin scaled="0"/>
                </a:gradFill>
              </a:rPr>
              <a:t>与</a:t>
            </a:r>
            <a:r>
              <a:rPr lang="en-US" altLang="zh-CN" sz="2800" dirty="0">
                <a:gradFill>
                  <a:gsLst>
                    <a:gs pos="0">
                      <a:srgbClr val="E30000"/>
                    </a:gs>
                    <a:gs pos="100000">
                      <a:srgbClr val="760303"/>
                    </a:gs>
                  </a:gsLst>
                  <a:lin scaled="0"/>
                </a:gradFill>
              </a:rPr>
              <a:t>PCIE</a:t>
            </a:r>
            <a:endParaRPr lang="zh-CN" altLang="en-US" sz="2800" dirty="0">
              <a:gradFill>
                <a:gsLst>
                  <a:gs pos="0">
                    <a:srgbClr val="E30000"/>
                  </a:gs>
                  <a:gs pos="100000">
                    <a:srgbClr val="760303"/>
                  </a:gs>
                </a:gsLst>
                <a:lin scaled="0"/>
              </a:gradFill>
            </a:endParaRPr>
          </a:p>
        </p:txBody>
      </p:sp>
      <p:sp>
        <p:nvSpPr>
          <p:cNvPr id="5" name="文本框 4"/>
          <p:cNvSpPr txBox="1"/>
          <p:nvPr/>
        </p:nvSpPr>
        <p:spPr>
          <a:xfrm>
            <a:off x="4887354" y="5229200"/>
            <a:ext cx="4067944" cy="1107996"/>
          </a:xfrm>
          <a:prstGeom prst="rect">
            <a:avLst/>
          </a:prstGeom>
          <a:noFill/>
        </p:spPr>
        <p:txBody>
          <a:bodyPr wrap="square" rtlCol="0">
            <a:spAutoFit/>
          </a:bodyPr>
          <a:lstStyle/>
          <a:p>
            <a:r>
              <a:rPr lang="en-US" altLang="zh-CN" sz="1100" dirty="0">
                <a:highlight>
                  <a:srgbClr val="FFFF00"/>
                </a:highlight>
              </a:rPr>
              <a:t>Like most other serial technologies, PCI Express uses the split transaction protocol which allows a target device to receive one or more requests and then respond to each request with a separate completion. </a:t>
            </a:r>
            <a:r>
              <a:rPr lang="en-US" altLang="zh-CN" sz="1100" b="0" i="0" u="none" strike="noStrike" baseline="0" dirty="0">
                <a:highlight>
                  <a:srgbClr val="FFFF00"/>
                </a:highlight>
                <a:latin typeface="PalatinoLinotype-Roman"/>
              </a:rPr>
              <a:t>This is a significant improvement over the PCI bus protocol that used wait‐states or delayed transactions (retries) to deal with latencies in accessing targets.</a:t>
            </a:r>
            <a:endParaRPr lang="zh-CN" altLang="en-US" sz="1100" dirty="0">
              <a:highlight>
                <a:srgbClr val="FFFF00"/>
              </a:highlight>
            </a:endParaRPr>
          </a:p>
        </p:txBody>
      </p:sp>
      <p:pic>
        <p:nvPicPr>
          <p:cNvPr id="7" name="图片 6"/>
          <p:cNvPicPr>
            <a:picLocks noChangeAspect="1"/>
          </p:cNvPicPr>
          <p:nvPr/>
        </p:nvPicPr>
        <p:blipFill>
          <a:blip r:embed="rId6"/>
          <a:stretch>
            <a:fillRect/>
          </a:stretch>
        </p:blipFill>
        <p:spPr>
          <a:xfrm>
            <a:off x="5746152" y="717467"/>
            <a:ext cx="3119127" cy="3222524"/>
          </a:xfrm>
          <a:prstGeom prst="rect">
            <a:avLst/>
          </a:prstGeom>
        </p:spPr>
      </p:pic>
      <p:pic>
        <p:nvPicPr>
          <p:cNvPr id="9" name="图片 8"/>
          <p:cNvPicPr>
            <a:picLocks noChangeAspect="1"/>
          </p:cNvPicPr>
          <p:nvPr/>
        </p:nvPicPr>
        <p:blipFill>
          <a:blip r:embed="rId7"/>
          <a:stretch>
            <a:fillRect/>
          </a:stretch>
        </p:blipFill>
        <p:spPr>
          <a:xfrm>
            <a:off x="205199" y="692696"/>
            <a:ext cx="2259576" cy="1518371"/>
          </a:xfrm>
          <a:prstGeom prst="rect">
            <a:avLst/>
          </a:prstGeom>
        </p:spPr>
      </p:pic>
      <p:pic>
        <p:nvPicPr>
          <p:cNvPr id="11" name="图片 10"/>
          <p:cNvPicPr>
            <a:picLocks noChangeAspect="1"/>
          </p:cNvPicPr>
          <p:nvPr/>
        </p:nvPicPr>
        <p:blipFill>
          <a:blip r:embed="rId8"/>
          <a:stretch>
            <a:fillRect/>
          </a:stretch>
        </p:blipFill>
        <p:spPr>
          <a:xfrm>
            <a:off x="107315" y="2335461"/>
            <a:ext cx="2476457" cy="2456323"/>
          </a:xfrm>
          <a:prstGeom prst="rect">
            <a:avLst/>
          </a:prstGeom>
        </p:spPr>
      </p:pic>
      <p:sp>
        <p:nvSpPr>
          <p:cNvPr id="12" name="文本框 11"/>
          <p:cNvSpPr txBox="1"/>
          <p:nvPr>
            <p:custDataLst>
              <p:tags r:id="rId2"/>
            </p:custDataLst>
          </p:nvPr>
        </p:nvSpPr>
        <p:spPr>
          <a:xfrm>
            <a:off x="107315" y="5165243"/>
            <a:ext cx="4349750" cy="830997"/>
          </a:xfrm>
          <a:prstGeom prst="rect">
            <a:avLst/>
          </a:prstGeom>
          <a:noFill/>
        </p:spPr>
        <p:txBody>
          <a:bodyPr wrap="square" rtlCol="0">
            <a:spAutoFit/>
          </a:bodyPr>
          <a:lstStyle/>
          <a:p>
            <a:r>
              <a:rPr lang="en-US" altLang="zh-CN" sz="1200" b="1" dirty="0">
                <a:gradFill>
                  <a:gsLst>
                    <a:gs pos="0">
                      <a:srgbClr val="E30000"/>
                    </a:gs>
                    <a:gs pos="100000">
                      <a:srgbClr val="760303"/>
                    </a:gs>
                  </a:gsLst>
                  <a:lin scaled="0"/>
                </a:gradFill>
              </a:rPr>
              <a:t>PCI</a:t>
            </a:r>
            <a:r>
              <a:rPr lang="zh-CN" altLang="en-US" sz="1200" b="1" dirty="0">
                <a:gradFill>
                  <a:gsLst>
                    <a:gs pos="0">
                      <a:srgbClr val="E30000"/>
                    </a:gs>
                    <a:gs pos="100000">
                      <a:srgbClr val="760303"/>
                    </a:gs>
                  </a:gsLst>
                  <a:lin scaled="0"/>
                </a:gradFill>
              </a:rPr>
              <a:t>这种总线型协议目标设备不能主动发数据：一切行为都是</a:t>
            </a:r>
            <a:r>
              <a:rPr lang="en-US" altLang="zh-CN" sz="1200" b="1" dirty="0">
                <a:gradFill>
                  <a:gsLst>
                    <a:gs pos="0">
                      <a:srgbClr val="E30000"/>
                    </a:gs>
                    <a:gs pos="100000">
                      <a:srgbClr val="760303"/>
                    </a:gs>
                  </a:gsLst>
                  <a:lin scaled="0"/>
                </a:gradFill>
              </a:rPr>
              <a:t>master</a:t>
            </a:r>
            <a:r>
              <a:rPr lang="zh-CN" altLang="en-US" sz="1200" b="1" dirty="0">
                <a:gradFill>
                  <a:gsLst>
                    <a:gs pos="0">
                      <a:srgbClr val="E30000"/>
                    </a:gs>
                    <a:gs pos="100000">
                      <a:srgbClr val="760303"/>
                    </a:gs>
                  </a:gsLst>
                  <a:lin scaled="0"/>
                </a:gradFill>
              </a:rPr>
              <a:t>发起请求，</a:t>
            </a:r>
            <a:r>
              <a:rPr lang="en-US" altLang="zh-CN" sz="1200" b="1" dirty="0">
                <a:gradFill>
                  <a:gsLst>
                    <a:gs pos="0">
                      <a:srgbClr val="E30000"/>
                    </a:gs>
                    <a:gs pos="100000">
                      <a:srgbClr val="760303"/>
                    </a:gs>
                  </a:gsLst>
                  <a:lin scaled="0"/>
                </a:gradFill>
              </a:rPr>
              <a:t>slave</a:t>
            </a:r>
            <a:r>
              <a:rPr lang="zh-CN" altLang="en-US" sz="1200" b="1" dirty="0">
                <a:gradFill>
                  <a:gsLst>
                    <a:gs pos="0">
                      <a:srgbClr val="E30000"/>
                    </a:gs>
                    <a:gs pos="100000">
                      <a:srgbClr val="760303"/>
                    </a:gs>
                  </a:gsLst>
                  <a:lin scaled="0"/>
                </a:gradFill>
              </a:rPr>
              <a:t>响应。</a:t>
            </a:r>
            <a:endParaRPr lang="en-US" altLang="zh-CN" sz="1200" b="1" dirty="0">
              <a:gradFill>
                <a:gsLst>
                  <a:gs pos="0">
                    <a:srgbClr val="E30000"/>
                  </a:gs>
                  <a:gs pos="100000">
                    <a:srgbClr val="760303"/>
                  </a:gs>
                </a:gsLst>
                <a:lin scaled="0"/>
              </a:gradFill>
            </a:endParaRPr>
          </a:p>
          <a:p>
            <a:r>
              <a:rPr lang="zh-CN" altLang="en-US" sz="1200" b="1" dirty="0">
                <a:gradFill>
                  <a:gsLst>
                    <a:gs pos="0">
                      <a:srgbClr val="E30000"/>
                    </a:gs>
                    <a:gs pos="100000">
                      <a:srgbClr val="760303"/>
                    </a:gs>
                  </a:gsLst>
                  <a:lin scaled="0"/>
                </a:gradFill>
              </a:rPr>
              <a:t>所以对于远端读请求这样不能立即响应的，以</a:t>
            </a:r>
            <a:r>
              <a:rPr lang="en-US" altLang="zh-CN" sz="1200" b="1" dirty="0">
                <a:gradFill>
                  <a:gsLst>
                    <a:gs pos="0">
                      <a:srgbClr val="E30000"/>
                    </a:gs>
                    <a:gs pos="100000">
                      <a:srgbClr val="760303"/>
                    </a:gs>
                  </a:gsLst>
                  <a:lin scaled="0"/>
                </a:gradFill>
              </a:rPr>
              <a:t>retry</a:t>
            </a:r>
            <a:r>
              <a:rPr lang="zh-CN" altLang="en-US" sz="1200" b="1" dirty="0">
                <a:gradFill>
                  <a:gsLst>
                    <a:gs pos="0">
                      <a:srgbClr val="E30000"/>
                    </a:gs>
                    <a:gs pos="100000">
                      <a:srgbClr val="760303"/>
                    </a:gs>
                  </a:gsLst>
                  <a:lin scaled="0"/>
                </a:gradFill>
              </a:rPr>
              <a:t>方式响应</a:t>
            </a:r>
            <a:r>
              <a:rPr lang="en-US" altLang="zh-CN" sz="1200" b="1" dirty="0">
                <a:gradFill>
                  <a:gsLst>
                    <a:gs pos="0">
                      <a:srgbClr val="E30000"/>
                    </a:gs>
                    <a:gs pos="100000">
                      <a:srgbClr val="760303"/>
                    </a:gs>
                  </a:gsLst>
                  <a:lin scaled="0"/>
                </a:gradFill>
              </a:rPr>
              <a:t>master</a:t>
            </a:r>
            <a:r>
              <a:rPr lang="zh-CN" altLang="en-US" sz="1200" b="1" dirty="0">
                <a:gradFill>
                  <a:gsLst>
                    <a:gs pos="0">
                      <a:srgbClr val="E30000"/>
                    </a:gs>
                    <a:gs pos="100000">
                      <a:srgbClr val="760303"/>
                    </a:gs>
                  </a:gsLst>
                  <a:lin scaled="0"/>
                </a:gradFill>
              </a:rPr>
              <a:t>，同时自己再继续向下游发起读。</a:t>
            </a:r>
          </a:p>
        </p:txBody>
      </p:sp>
      <p:pic>
        <p:nvPicPr>
          <p:cNvPr id="14" name="图片 13"/>
          <p:cNvPicPr>
            <a:picLocks noChangeAspect="1"/>
          </p:cNvPicPr>
          <p:nvPr/>
        </p:nvPicPr>
        <p:blipFill>
          <a:blip r:embed="rId9"/>
          <a:stretch>
            <a:fillRect/>
          </a:stretch>
        </p:blipFill>
        <p:spPr>
          <a:xfrm>
            <a:off x="2498176" y="692696"/>
            <a:ext cx="2301669" cy="1505059"/>
          </a:xfrm>
          <a:prstGeom prst="rect">
            <a:avLst/>
          </a:prstGeom>
        </p:spPr>
      </p:pic>
      <p:sp>
        <p:nvSpPr>
          <p:cNvPr id="15" name="文本框 14"/>
          <p:cNvSpPr txBox="1"/>
          <p:nvPr>
            <p:custDataLst>
              <p:tags r:id="rId3"/>
            </p:custDataLst>
          </p:nvPr>
        </p:nvSpPr>
        <p:spPr>
          <a:xfrm>
            <a:off x="3923928" y="4081623"/>
            <a:ext cx="3813311" cy="461665"/>
          </a:xfrm>
          <a:prstGeom prst="rect">
            <a:avLst/>
          </a:prstGeom>
          <a:noFill/>
        </p:spPr>
        <p:txBody>
          <a:bodyPr wrap="square" rtlCol="0">
            <a:spAutoFit/>
          </a:bodyPr>
          <a:lstStyle/>
          <a:p>
            <a:r>
              <a:rPr lang="en-US" altLang="zh-CN" sz="1200" b="1" dirty="0">
                <a:gradFill>
                  <a:gsLst>
                    <a:gs pos="0">
                      <a:srgbClr val="E30000"/>
                    </a:gs>
                    <a:gs pos="100000">
                      <a:srgbClr val="760303"/>
                    </a:gs>
                  </a:gsLst>
                  <a:lin scaled="0"/>
                </a:gradFill>
              </a:rPr>
              <a:t>PCI-X</a:t>
            </a:r>
            <a:r>
              <a:rPr lang="zh-CN" altLang="en-US" sz="1200" b="1" dirty="0">
                <a:gradFill>
                  <a:gsLst>
                    <a:gs pos="0">
                      <a:srgbClr val="E30000"/>
                    </a:gs>
                    <a:gs pos="100000">
                      <a:srgbClr val="760303"/>
                    </a:gs>
                  </a:gsLst>
                  <a:lin scaled="0"/>
                </a:gradFill>
              </a:rPr>
              <a:t>，</a:t>
            </a:r>
            <a:r>
              <a:rPr lang="en-US" altLang="zh-CN" sz="1200" b="1" dirty="0">
                <a:gradFill>
                  <a:gsLst>
                    <a:gs pos="0">
                      <a:srgbClr val="E30000"/>
                    </a:gs>
                    <a:gs pos="100000">
                      <a:srgbClr val="760303"/>
                    </a:gs>
                  </a:gsLst>
                  <a:lin scaled="0"/>
                </a:gradFill>
              </a:rPr>
              <a:t>PCIE</a:t>
            </a:r>
            <a:r>
              <a:rPr lang="zh-CN" altLang="en-US" sz="1200" b="1" dirty="0">
                <a:gradFill>
                  <a:gsLst>
                    <a:gs pos="0">
                      <a:srgbClr val="E30000"/>
                    </a:gs>
                    <a:gs pos="100000">
                      <a:srgbClr val="760303"/>
                    </a:gs>
                  </a:gsLst>
                  <a:lin scaled="0"/>
                </a:gradFill>
              </a:rPr>
              <a:t>协议是</a:t>
            </a:r>
            <a:r>
              <a:rPr lang="en-US" altLang="zh-CN" sz="1200" b="1" dirty="0">
                <a:gradFill>
                  <a:gsLst>
                    <a:gs pos="0">
                      <a:srgbClr val="E30000"/>
                    </a:gs>
                    <a:gs pos="100000">
                      <a:srgbClr val="760303"/>
                    </a:gs>
                  </a:gsLst>
                  <a:lin scaled="0"/>
                </a:gradFill>
              </a:rPr>
              <a:t>split</a:t>
            </a:r>
            <a:r>
              <a:rPr lang="zh-CN" altLang="en-US" sz="1200" b="1" dirty="0">
                <a:gradFill>
                  <a:gsLst>
                    <a:gs pos="0">
                      <a:srgbClr val="E30000"/>
                    </a:gs>
                    <a:gs pos="100000">
                      <a:srgbClr val="760303"/>
                    </a:gs>
                  </a:gsLst>
                  <a:lin scaled="0"/>
                </a:gradFill>
              </a:rPr>
              <a:t>协议（</a:t>
            </a:r>
            <a:r>
              <a:rPr lang="en-US" altLang="zh-CN" sz="1200" b="1" dirty="0">
                <a:gradFill>
                  <a:gsLst>
                    <a:gs pos="0">
                      <a:srgbClr val="E30000"/>
                    </a:gs>
                    <a:gs pos="100000">
                      <a:srgbClr val="760303"/>
                    </a:gs>
                  </a:gsLst>
                  <a:lin scaled="0"/>
                </a:gradFill>
              </a:rPr>
              <a:t>split</a:t>
            </a:r>
            <a:r>
              <a:rPr lang="zh-CN" altLang="en-US" sz="1200" b="1" dirty="0">
                <a:gradFill>
                  <a:gsLst>
                    <a:gs pos="0">
                      <a:srgbClr val="E30000"/>
                    </a:gs>
                    <a:gs pos="100000">
                      <a:srgbClr val="760303"/>
                    </a:gs>
                  </a:gsLst>
                  <a:lin scaled="0"/>
                </a:gradFill>
              </a:rPr>
              <a:t>理解：请求和响应是独立的事务，可以拆分）</a:t>
            </a:r>
          </a:p>
        </p:txBody>
      </p:sp>
      <p:pic>
        <p:nvPicPr>
          <p:cNvPr id="17" name="图片 16"/>
          <p:cNvPicPr>
            <a:picLocks noChangeAspect="1"/>
          </p:cNvPicPr>
          <p:nvPr/>
        </p:nvPicPr>
        <p:blipFill>
          <a:blip r:embed="rId10"/>
          <a:stretch>
            <a:fillRect/>
          </a:stretch>
        </p:blipFill>
        <p:spPr>
          <a:xfrm>
            <a:off x="2793824" y="2571214"/>
            <a:ext cx="2952328" cy="13874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olidFill>
                  <a:srgbClr val="C00000"/>
                </a:solidFill>
              </a:rPr>
              <a:t>DLLP</a:t>
            </a:r>
            <a:r>
              <a:rPr lang="zh-CN" altLang="en-US" dirty="0">
                <a:solidFill>
                  <a:srgbClr val="C00000"/>
                </a:solidFill>
              </a:rPr>
              <a:t>流控</a:t>
            </a:r>
            <a:endParaRPr lang="en-US" altLang="zh-CN" dirty="0">
              <a:solidFill>
                <a:srgbClr val="C00000"/>
              </a:solidFill>
            </a:endParaRPr>
          </a:p>
          <a:p>
            <a:r>
              <a:rPr lang="en-US" altLang="zh-CN" dirty="0">
                <a:solidFill>
                  <a:srgbClr val="C00000"/>
                </a:solidFill>
              </a:rPr>
              <a:t>ACK/NACK</a:t>
            </a:r>
            <a:endParaRPr lang="zh-CN" altLang="en-US" dirty="0">
              <a:solidFill>
                <a:srgbClr val="C00000"/>
              </a:solidFill>
            </a:endParaRPr>
          </a:p>
        </p:txBody>
      </p:sp>
      <p:sp>
        <p:nvSpPr>
          <p:cNvPr id="4" name="标题 6"/>
          <p:cNvSpPr>
            <a:spLocks noGrp="1"/>
          </p:cNvSpPr>
          <p:nvPr>
            <p:ph type="title"/>
            <p:custDataLst>
              <p:tags r:id="rId1"/>
            </p:custDataLst>
          </p:nvPr>
        </p:nvSpPr>
        <p:spPr>
          <a:xfrm>
            <a:off x="107504" y="188640"/>
            <a:ext cx="8508365" cy="461010"/>
          </a:xfrm>
        </p:spPr>
        <p:txBody>
          <a:bodyPr/>
          <a:lstStyle/>
          <a:p>
            <a:pPr algn="l"/>
            <a:r>
              <a:rPr lang="zh-CN" altLang="en-US" sz="3600" dirty="0">
                <a:gradFill>
                  <a:gsLst>
                    <a:gs pos="0">
                      <a:srgbClr val="E30000"/>
                    </a:gs>
                    <a:gs pos="100000">
                      <a:srgbClr val="760303"/>
                    </a:gs>
                  </a:gsLst>
                  <a:lin scaled="0"/>
                </a:gradFill>
              </a:rPr>
              <a:t>数据链路层</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LLFC</a:t>
            </a:r>
            <a:r>
              <a:rPr lang="zh-CN" altLang="en-US" sz="2800" dirty="0">
                <a:gradFill>
                  <a:gsLst>
                    <a:gs pos="0">
                      <a:srgbClr val="E30000"/>
                    </a:gs>
                    <a:gs pos="100000">
                      <a:srgbClr val="760303"/>
                    </a:gs>
                  </a:gsLst>
                  <a:lin scaled="0"/>
                </a:gradFill>
              </a:rPr>
              <a:t>：</a:t>
            </a:r>
            <a:r>
              <a:rPr lang="en-US" sz="2800" dirty="0">
                <a:gradFill>
                  <a:gsLst>
                    <a:gs pos="0">
                      <a:srgbClr val="E30000"/>
                    </a:gs>
                    <a:gs pos="100000">
                      <a:srgbClr val="760303"/>
                    </a:gs>
                  </a:gsLst>
                  <a:lin scaled="0"/>
                </a:gradFill>
              </a:rPr>
              <a:t>FC</a:t>
            </a:r>
            <a:r>
              <a:rPr lang="zh-CN" altLang="en-US" sz="2800" dirty="0">
                <a:gradFill>
                  <a:gsLst>
                    <a:gs pos="0">
                      <a:srgbClr val="E30000"/>
                    </a:gs>
                    <a:gs pos="100000">
                      <a:srgbClr val="760303"/>
                    </a:gs>
                  </a:gsLst>
                  <a:lin scaled="0"/>
                </a:gradFill>
              </a:rPr>
              <a:t>概念</a:t>
            </a:r>
          </a:p>
        </p:txBody>
      </p:sp>
      <p:pic>
        <p:nvPicPr>
          <p:cNvPr id="4" name="图片 3"/>
          <p:cNvPicPr>
            <a:picLocks noChangeAspect="1"/>
          </p:cNvPicPr>
          <p:nvPr>
            <p:custDataLst>
              <p:tags r:id="rId2"/>
            </p:custDataLst>
          </p:nvPr>
        </p:nvPicPr>
        <p:blipFill>
          <a:blip r:embed="rId4"/>
          <a:stretch>
            <a:fillRect/>
          </a:stretch>
        </p:blipFill>
        <p:spPr>
          <a:xfrm>
            <a:off x="251460" y="908685"/>
            <a:ext cx="5596890" cy="3735070"/>
          </a:xfrm>
          <a:prstGeom prst="rect">
            <a:avLst/>
          </a:prstGeom>
        </p:spPr>
      </p:pic>
      <p:sp>
        <p:nvSpPr>
          <p:cNvPr id="5" name="文本框 4"/>
          <p:cNvSpPr txBox="1"/>
          <p:nvPr/>
        </p:nvSpPr>
        <p:spPr>
          <a:xfrm>
            <a:off x="251460" y="4796790"/>
            <a:ext cx="4493260" cy="1568450"/>
          </a:xfrm>
          <a:prstGeom prst="rect">
            <a:avLst/>
          </a:prstGeom>
          <a:noFill/>
        </p:spPr>
        <p:txBody>
          <a:bodyPr wrap="square" rtlCol="0" anchor="t">
            <a:spAutoFit/>
          </a:bodyPr>
          <a:lstStyle/>
          <a:p>
            <a:r>
              <a:rPr lang="zh-CN" altLang="en-US" sz="1200" b="1" dirty="0"/>
              <a:t>Buffer space is reported by the receiver in units called Flow Control credits. The</a:t>
            </a:r>
            <a:r>
              <a:rPr lang="en-US" altLang="zh-CN" sz="1200" b="1" dirty="0"/>
              <a:t> </a:t>
            </a:r>
            <a:r>
              <a:rPr lang="zh-CN" altLang="en-US" sz="1200" b="1" dirty="0"/>
              <a:t>unit value of Flow Control Credits (FCCs) for header and data buffers are:</a:t>
            </a:r>
          </a:p>
          <a:p>
            <a:r>
              <a:rPr lang="zh-CN" altLang="en-US" sz="1200" dirty="0"/>
              <a:t>• Header credits — maximum header size + digest</a:t>
            </a:r>
          </a:p>
          <a:p>
            <a:r>
              <a:rPr lang="zh-CN" altLang="en-US" sz="1200" dirty="0"/>
              <a:t>— 4 DWs for completions</a:t>
            </a:r>
          </a:p>
          <a:p>
            <a:r>
              <a:rPr lang="zh-CN" altLang="en-US" sz="1200" dirty="0"/>
              <a:t>— 5 DWs for requests</a:t>
            </a:r>
          </a:p>
          <a:p>
            <a:r>
              <a:rPr lang="zh-CN" altLang="en-US" sz="1200" dirty="0"/>
              <a:t>• Data credits — 4 DWs (aligned 16 bytes)</a:t>
            </a:r>
          </a:p>
          <a:p>
            <a:r>
              <a:rPr lang="en-US" altLang="zh-CN" sz="1200" b="1" dirty="0">
                <a:highlight>
                  <a:srgbClr val="FFFF00"/>
                </a:highlight>
              </a:rPr>
              <a:t>FC DLLP</a:t>
            </a:r>
            <a:r>
              <a:rPr lang="zh-CN" altLang="en-US" sz="1200" b="1" dirty="0">
                <a:highlight>
                  <a:srgbClr val="FFFF00"/>
                </a:highlight>
              </a:rPr>
              <a:t>并不消耗</a:t>
            </a:r>
            <a:r>
              <a:rPr lang="en-US" altLang="zh-CN" sz="1200" b="1" dirty="0">
                <a:highlight>
                  <a:srgbClr val="FFFF00"/>
                </a:highlight>
              </a:rPr>
              <a:t>Credit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LLFC</a:t>
            </a:r>
            <a:r>
              <a:rPr lang="zh-CN" altLang="en-US" sz="2800" dirty="0">
                <a:gradFill>
                  <a:gsLst>
                    <a:gs pos="0">
                      <a:srgbClr val="E30000"/>
                    </a:gs>
                    <a:gs pos="100000">
                      <a:srgbClr val="760303"/>
                    </a:gs>
                  </a:gsLst>
                  <a:lin scaled="0"/>
                </a:gradFill>
              </a:rPr>
              <a:t>：</a:t>
            </a:r>
            <a:r>
              <a:rPr lang="en-US" sz="2800" dirty="0">
                <a:gradFill>
                  <a:gsLst>
                    <a:gs pos="0">
                      <a:srgbClr val="E30000"/>
                    </a:gs>
                    <a:gs pos="100000">
                      <a:srgbClr val="760303"/>
                    </a:gs>
                  </a:gsLst>
                  <a:lin scaled="0"/>
                </a:gradFill>
              </a:rPr>
              <a:t>Init</a:t>
            </a:r>
            <a:r>
              <a:rPr lang="zh-CN" altLang="en-US" sz="2800" dirty="0">
                <a:gradFill>
                  <a:gsLst>
                    <a:gs pos="0">
                      <a:srgbClr val="E30000"/>
                    </a:gs>
                    <a:gs pos="100000">
                      <a:srgbClr val="760303"/>
                    </a:gs>
                  </a:gsLst>
                  <a:lin scaled="0"/>
                </a:gradFill>
              </a:rPr>
              <a:t>通告</a:t>
            </a:r>
            <a:endParaRPr lang="en-US" altLang="zh-CN" sz="2800" dirty="0">
              <a:gradFill>
                <a:gsLst>
                  <a:gs pos="0">
                    <a:srgbClr val="E30000"/>
                  </a:gs>
                  <a:gs pos="100000">
                    <a:srgbClr val="760303"/>
                  </a:gs>
                </a:gsLst>
                <a:lin scaled="0"/>
              </a:gradFill>
            </a:endParaRPr>
          </a:p>
        </p:txBody>
      </p:sp>
      <p:pic>
        <p:nvPicPr>
          <p:cNvPr id="6" name="图片 5"/>
          <p:cNvPicPr>
            <a:picLocks noChangeAspect="1"/>
          </p:cNvPicPr>
          <p:nvPr>
            <p:custDataLst>
              <p:tags r:id="rId2"/>
            </p:custDataLst>
          </p:nvPr>
        </p:nvPicPr>
        <p:blipFill>
          <a:blip r:embed="rId7"/>
          <a:stretch>
            <a:fillRect/>
          </a:stretch>
        </p:blipFill>
        <p:spPr>
          <a:xfrm>
            <a:off x="283845" y="645160"/>
            <a:ext cx="3840480" cy="1127760"/>
          </a:xfrm>
          <a:prstGeom prst="rect">
            <a:avLst/>
          </a:prstGeom>
        </p:spPr>
      </p:pic>
      <p:pic>
        <p:nvPicPr>
          <p:cNvPr id="8" name="图片 7"/>
          <p:cNvPicPr>
            <a:picLocks noChangeAspect="1"/>
          </p:cNvPicPr>
          <p:nvPr>
            <p:custDataLst>
              <p:tags r:id="rId3"/>
            </p:custDataLst>
          </p:nvPr>
        </p:nvPicPr>
        <p:blipFill>
          <a:blip r:embed="rId8"/>
          <a:stretch>
            <a:fillRect/>
          </a:stretch>
        </p:blipFill>
        <p:spPr>
          <a:xfrm>
            <a:off x="300355" y="1772920"/>
            <a:ext cx="3791585" cy="2893695"/>
          </a:xfrm>
          <a:prstGeom prst="rect">
            <a:avLst/>
          </a:prstGeom>
        </p:spPr>
      </p:pic>
      <p:pic>
        <p:nvPicPr>
          <p:cNvPr id="9" name="图片 8"/>
          <p:cNvPicPr>
            <a:picLocks noChangeAspect="1"/>
          </p:cNvPicPr>
          <p:nvPr>
            <p:custDataLst>
              <p:tags r:id="rId4"/>
            </p:custDataLst>
          </p:nvPr>
        </p:nvPicPr>
        <p:blipFill>
          <a:blip r:embed="rId9"/>
          <a:stretch>
            <a:fillRect/>
          </a:stretch>
        </p:blipFill>
        <p:spPr>
          <a:xfrm>
            <a:off x="4716145" y="2612390"/>
            <a:ext cx="3609975" cy="2131695"/>
          </a:xfrm>
          <a:prstGeom prst="rect">
            <a:avLst/>
          </a:prstGeom>
        </p:spPr>
      </p:pic>
      <p:pic>
        <p:nvPicPr>
          <p:cNvPr id="10" name="图片 9"/>
          <p:cNvPicPr>
            <a:picLocks noChangeAspect="1"/>
          </p:cNvPicPr>
          <p:nvPr>
            <p:custDataLst>
              <p:tags r:id="rId5"/>
            </p:custDataLst>
          </p:nvPr>
        </p:nvPicPr>
        <p:blipFill>
          <a:blip r:embed="rId10"/>
          <a:stretch>
            <a:fillRect/>
          </a:stretch>
        </p:blipFill>
        <p:spPr>
          <a:xfrm>
            <a:off x="4715510" y="692785"/>
            <a:ext cx="3610610" cy="19196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8"/>
          <a:stretch>
            <a:fillRect/>
          </a:stretch>
        </p:blipFill>
        <p:spPr>
          <a:xfrm>
            <a:off x="323215" y="554990"/>
            <a:ext cx="2815590" cy="2694305"/>
          </a:xfrm>
          <a:prstGeom prst="rect">
            <a:avLst/>
          </a:prstGeom>
        </p:spPr>
      </p:pic>
      <p:sp>
        <p:nvSpPr>
          <p:cNvPr id="7" name="标题 6"/>
          <p:cNvSpPr>
            <a:spLocks noGrp="1"/>
          </p:cNvSpPr>
          <p:nvPr>
            <p:ph type="title"/>
            <p:custDataLst>
              <p:tags r:id="rId2"/>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rPr>
              <a:t>LLFC</a:t>
            </a:r>
            <a:r>
              <a:rPr lang="zh-CN" altLang="en-US" sz="2800">
                <a:gradFill>
                  <a:gsLst>
                    <a:gs pos="0">
                      <a:srgbClr val="E30000"/>
                    </a:gs>
                    <a:gs pos="100000">
                      <a:srgbClr val="760303"/>
                    </a:gs>
                  </a:gsLst>
                  <a:lin scaled="0"/>
                </a:gradFill>
              </a:rPr>
              <a:t>：</a:t>
            </a:r>
            <a:r>
              <a:rPr lang="en-US" altLang="zh-CN" sz="2800">
                <a:gradFill>
                  <a:gsLst>
                    <a:gs pos="0">
                      <a:srgbClr val="E30000"/>
                    </a:gs>
                    <a:gs pos="100000">
                      <a:srgbClr val="760303"/>
                    </a:gs>
                  </a:gsLst>
                  <a:lin scaled="0"/>
                </a:gradFill>
              </a:rPr>
              <a:t>Init</a:t>
            </a:r>
            <a:r>
              <a:rPr lang="zh-CN" altLang="en-US" sz="2800">
                <a:gradFill>
                  <a:gsLst>
                    <a:gs pos="0">
                      <a:srgbClr val="E30000"/>
                    </a:gs>
                    <a:gs pos="100000">
                      <a:srgbClr val="760303"/>
                    </a:gs>
                  </a:gsLst>
                  <a:lin scaled="0"/>
                </a:gradFill>
              </a:rPr>
              <a:t>过程</a:t>
            </a:r>
          </a:p>
        </p:txBody>
      </p:sp>
      <p:pic>
        <p:nvPicPr>
          <p:cNvPr id="3" name="图片 2"/>
          <p:cNvPicPr>
            <a:picLocks noChangeAspect="1"/>
          </p:cNvPicPr>
          <p:nvPr>
            <p:custDataLst>
              <p:tags r:id="rId3"/>
            </p:custDataLst>
          </p:nvPr>
        </p:nvPicPr>
        <p:blipFill>
          <a:blip r:embed="rId9"/>
          <a:stretch>
            <a:fillRect/>
          </a:stretch>
        </p:blipFill>
        <p:spPr>
          <a:xfrm>
            <a:off x="179705" y="3827145"/>
            <a:ext cx="3587115" cy="2151380"/>
          </a:xfrm>
          <a:prstGeom prst="rect">
            <a:avLst/>
          </a:prstGeom>
        </p:spPr>
      </p:pic>
      <p:pic>
        <p:nvPicPr>
          <p:cNvPr id="4" name="图片 3"/>
          <p:cNvPicPr>
            <a:picLocks noChangeAspect="1"/>
          </p:cNvPicPr>
          <p:nvPr>
            <p:custDataLst>
              <p:tags r:id="rId4"/>
            </p:custDataLst>
          </p:nvPr>
        </p:nvPicPr>
        <p:blipFill>
          <a:blip r:embed="rId10"/>
          <a:stretch>
            <a:fillRect/>
          </a:stretch>
        </p:blipFill>
        <p:spPr>
          <a:xfrm>
            <a:off x="3996055" y="3884295"/>
            <a:ext cx="2501900" cy="2667000"/>
          </a:xfrm>
          <a:prstGeom prst="rect">
            <a:avLst/>
          </a:prstGeom>
        </p:spPr>
      </p:pic>
      <p:sp>
        <p:nvSpPr>
          <p:cNvPr id="5" name="文本框 4"/>
          <p:cNvSpPr txBox="1"/>
          <p:nvPr/>
        </p:nvSpPr>
        <p:spPr>
          <a:xfrm>
            <a:off x="251460" y="3284855"/>
            <a:ext cx="3391535" cy="506730"/>
          </a:xfrm>
          <a:prstGeom prst="rect">
            <a:avLst/>
          </a:prstGeom>
          <a:noFill/>
        </p:spPr>
        <p:txBody>
          <a:bodyPr wrap="square" rtlCol="0" anchor="t">
            <a:spAutoFit/>
          </a:bodyPr>
          <a:lstStyle/>
          <a:p>
            <a:r>
              <a:rPr lang="zh-CN" altLang="en-US" sz="900">
                <a:highlight>
                  <a:srgbClr val="FFFF00"/>
                </a:highlight>
              </a:rPr>
              <a:t>During the FC_INIT1 state, devices continuously send a sequence of 3 InitFC1</a:t>
            </a:r>
            <a:r>
              <a:rPr lang="en-US" altLang="zh-CN" sz="900">
                <a:highlight>
                  <a:srgbClr val="FFFF00"/>
                </a:highlight>
              </a:rPr>
              <a:t> </a:t>
            </a:r>
            <a:r>
              <a:rPr lang="zh-CN" altLang="en-US" sz="900">
                <a:highlight>
                  <a:srgbClr val="FFFF00"/>
                </a:highlight>
              </a:rPr>
              <a:t>Flow Control DLLPs advertising their receiver buffer sizes (see Figure 6</a:t>
            </a:r>
            <a:r>
              <a:rPr lang="en-US" altLang="zh-CN" sz="900">
                <a:highlight>
                  <a:srgbClr val="FFFF00"/>
                </a:highlight>
              </a:rPr>
              <a:t>-5</a:t>
            </a:r>
            <a:r>
              <a:rPr lang="zh-CN" altLang="en-US" sz="900">
                <a:highlight>
                  <a:srgbClr val="FFFF00"/>
                </a:highlight>
              </a:rPr>
              <a:t>).</a:t>
            </a:r>
          </a:p>
        </p:txBody>
      </p:sp>
      <p:pic>
        <p:nvPicPr>
          <p:cNvPr id="6" name="图片 5"/>
          <p:cNvPicPr>
            <a:picLocks noChangeAspect="1"/>
          </p:cNvPicPr>
          <p:nvPr>
            <p:custDataLst>
              <p:tags r:id="rId5"/>
            </p:custDataLst>
          </p:nvPr>
        </p:nvPicPr>
        <p:blipFill>
          <a:blip r:embed="rId11"/>
          <a:stretch>
            <a:fillRect/>
          </a:stretch>
        </p:blipFill>
        <p:spPr>
          <a:xfrm>
            <a:off x="3546475" y="476250"/>
            <a:ext cx="4122420" cy="2734310"/>
          </a:xfrm>
          <a:prstGeom prst="rect">
            <a:avLst/>
          </a:prstGeom>
        </p:spPr>
      </p:pic>
      <p:sp>
        <p:nvSpPr>
          <p:cNvPr id="8" name="文本框 7"/>
          <p:cNvSpPr txBox="1"/>
          <p:nvPr>
            <p:custDataLst>
              <p:tags r:id="rId6"/>
            </p:custDataLst>
          </p:nvPr>
        </p:nvSpPr>
        <p:spPr>
          <a:xfrm>
            <a:off x="3563620" y="3276600"/>
            <a:ext cx="3391535" cy="506730"/>
          </a:xfrm>
          <a:prstGeom prst="rect">
            <a:avLst/>
          </a:prstGeom>
          <a:noFill/>
        </p:spPr>
        <p:txBody>
          <a:bodyPr wrap="square" rtlCol="0" anchor="t">
            <a:spAutoFit/>
          </a:bodyPr>
          <a:lstStyle/>
          <a:p>
            <a:r>
              <a:rPr sz="900">
                <a:highlight>
                  <a:srgbClr val="FFFF00"/>
                </a:highlight>
              </a:rPr>
              <a:t>It can even send TLPs at this point, even though initialization</a:t>
            </a:r>
          </a:p>
          <a:p>
            <a:r>
              <a:rPr sz="900">
                <a:highlight>
                  <a:srgbClr val="FFFF00"/>
                </a:highlight>
              </a:rPr>
              <a:t>hasn’t completed for the other side of the Link, and this is indicated to the</a:t>
            </a:r>
            <a:r>
              <a:rPr lang="en-US" sz="900">
                <a:highlight>
                  <a:srgbClr val="FFFF00"/>
                </a:highlight>
              </a:rPr>
              <a:t> </a:t>
            </a:r>
            <a:r>
              <a:rPr sz="900">
                <a:highlight>
                  <a:srgbClr val="FFFF00"/>
                </a:highlight>
              </a:rPr>
              <a:t>Transaction Layer by the DL_Up signal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9"/>
          <a:stretch>
            <a:fillRect/>
          </a:stretch>
        </p:blipFill>
        <p:spPr>
          <a:xfrm>
            <a:off x="179705" y="548640"/>
            <a:ext cx="4249420" cy="3073400"/>
          </a:xfrm>
          <a:prstGeom prst="rect">
            <a:avLst/>
          </a:prstGeom>
        </p:spPr>
      </p:pic>
      <p:sp>
        <p:nvSpPr>
          <p:cNvPr id="5" name="文本框 4"/>
          <p:cNvSpPr txBox="1"/>
          <p:nvPr/>
        </p:nvSpPr>
        <p:spPr>
          <a:xfrm>
            <a:off x="179705" y="3789045"/>
            <a:ext cx="4572000" cy="830997"/>
          </a:xfrm>
          <a:prstGeom prst="rect">
            <a:avLst/>
          </a:prstGeom>
          <a:noFill/>
        </p:spPr>
        <p:txBody>
          <a:bodyPr wrap="square" rtlCol="0" anchor="t">
            <a:spAutoFit/>
          </a:bodyPr>
          <a:lstStyle/>
          <a:p>
            <a:r>
              <a:rPr lang="zh-CN" altLang="en-US" sz="1200" dirty="0">
                <a:highlight>
                  <a:srgbClr val="FFFF00"/>
                </a:highlight>
              </a:rPr>
              <a:t>While these Flow Control elements are</a:t>
            </a:r>
            <a:r>
              <a:rPr lang="en-US" altLang="zh-CN" sz="1200" dirty="0">
                <a:highlight>
                  <a:srgbClr val="FFFF00"/>
                </a:highlight>
              </a:rPr>
              <a:t> </a:t>
            </a:r>
            <a:r>
              <a:rPr lang="zh-CN" altLang="en-US" sz="1200" dirty="0">
                <a:highlight>
                  <a:srgbClr val="FFFF00"/>
                </a:highlight>
              </a:rPr>
              <a:t>duplicated for all six receive buffers, for simplicity this example only deals with</a:t>
            </a:r>
          </a:p>
          <a:p>
            <a:r>
              <a:rPr lang="zh-CN" altLang="en-US" sz="1200" dirty="0">
                <a:highlight>
                  <a:srgbClr val="FFFF00"/>
                </a:highlight>
              </a:rPr>
              <a:t> non</a:t>
            </a:r>
            <a:r>
              <a:rPr lang="en-US" altLang="zh-CN" sz="1200" dirty="0">
                <a:highlight>
                  <a:srgbClr val="FFFF00"/>
                </a:highlight>
              </a:rPr>
              <a:t>-</a:t>
            </a:r>
            <a:r>
              <a:rPr lang="zh-CN" altLang="en-US" sz="1200" dirty="0">
                <a:highlight>
                  <a:srgbClr val="FFFF00"/>
                </a:highlight>
              </a:rPr>
              <a:t>posted header flow control.</a:t>
            </a:r>
            <a:endParaRPr lang="en-US" altLang="zh-CN" sz="1200" dirty="0">
              <a:highlight>
                <a:srgbClr val="FFFF00"/>
              </a:highlight>
            </a:endParaRPr>
          </a:p>
          <a:p>
            <a:r>
              <a:rPr lang="en-US" altLang="zh-CN" sz="1200" b="1" dirty="0">
                <a:solidFill>
                  <a:srgbClr val="FF0000"/>
                </a:solidFill>
                <a:highlight>
                  <a:srgbClr val="FFFF00"/>
                </a:highlight>
                <a:sym typeface="Wingdings" panose="05000000000000000000" pitchFamily="2" charset="2"/>
              </a:rPr>
              <a:t> VC</a:t>
            </a:r>
            <a:r>
              <a:rPr lang="zh-CN" altLang="en-US" sz="1200" b="1" dirty="0">
                <a:solidFill>
                  <a:srgbClr val="FF0000"/>
                </a:solidFill>
                <a:highlight>
                  <a:srgbClr val="FFFF00"/>
                </a:highlight>
                <a:sym typeface="Wingdings" panose="05000000000000000000" pitchFamily="2" charset="2"/>
              </a:rPr>
              <a:t>级别的缓存管理，基于</a:t>
            </a:r>
            <a:r>
              <a:rPr lang="en-US" altLang="zh-CN" sz="1200" b="1" dirty="0">
                <a:solidFill>
                  <a:srgbClr val="FF0000"/>
                </a:solidFill>
                <a:highlight>
                  <a:srgbClr val="FFFF00"/>
                </a:highlight>
                <a:sym typeface="Wingdings" panose="05000000000000000000" pitchFamily="2" charset="2"/>
              </a:rPr>
              <a:t>VC</a:t>
            </a:r>
            <a:r>
              <a:rPr lang="zh-CN" altLang="en-US" sz="1200" b="1" dirty="0">
                <a:solidFill>
                  <a:srgbClr val="FF0000"/>
                </a:solidFill>
                <a:highlight>
                  <a:srgbClr val="FFFF00"/>
                </a:highlight>
                <a:sym typeface="Wingdings" panose="05000000000000000000" pitchFamily="2" charset="2"/>
              </a:rPr>
              <a:t>通告</a:t>
            </a:r>
            <a:r>
              <a:rPr lang="en-US" altLang="zh-CN" sz="1200" b="1" dirty="0">
                <a:solidFill>
                  <a:srgbClr val="FF0000"/>
                </a:solidFill>
                <a:highlight>
                  <a:srgbClr val="FFFF00"/>
                </a:highlight>
                <a:sym typeface="Wingdings" panose="05000000000000000000" pitchFamily="2" charset="2"/>
              </a:rPr>
              <a:t>HDR</a:t>
            </a:r>
            <a:r>
              <a:rPr lang="zh-CN" altLang="en-US" sz="1200" b="1" dirty="0">
                <a:solidFill>
                  <a:srgbClr val="FF0000"/>
                </a:solidFill>
                <a:highlight>
                  <a:srgbClr val="FFFF00"/>
                </a:highlight>
                <a:sym typeface="Wingdings" panose="05000000000000000000" pitchFamily="2" charset="2"/>
              </a:rPr>
              <a:t>，</a:t>
            </a:r>
            <a:r>
              <a:rPr lang="en-US" altLang="zh-CN" sz="1200" b="1" dirty="0">
                <a:solidFill>
                  <a:srgbClr val="FF0000"/>
                </a:solidFill>
                <a:highlight>
                  <a:srgbClr val="FFFF00"/>
                </a:highlight>
                <a:sym typeface="Wingdings" panose="05000000000000000000" pitchFamily="2" charset="2"/>
              </a:rPr>
              <a:t>Data</a:t>
            </a:r>
            <a:r>
              <a:rPr lang="zh-CN" altLang="en-US" sz="1200" b="1" dirty="0">
                <a:solidFill>
                  <a:srgbClr val="FF0000"/>
                </a:solidFill>
                <a:highlight>
                  <a:srgbClr val="FFFF00"/>
                </a:highlight>
                <a:sym typeface="Wingdings" panose="05000000000000000000" pitchFamily="2" charset="2"/>
              </a:rPr>
              <a:t>的</a:t>
            </a:r>
            <a:r>
              <a:rPr lang="en-US" altLang="zh-CN" sz="1200" b="1" dirty="0">
                <a:solidFill>
                  <a:srgbClr val="FF0000"/>
                </a:solidFill>
                <a:highlight>
                  <a:srgbClr val="FFFF00"/>
                </a:highlight>
                <a:sym typeface="Wingdings" panose="05000000000000000000" pitchFamily="2" charset="2"/>
              </a:rPr>
              <a:t>credit</a:t>
            </a:r>
            <a:endParaRPr lang="zh-CN" altLang="en-US" sz="1200" b="1" dirty="0">
              <a:solidFill>
                <a:srgbClr val="FF0000"/>
              </a:solidFill>
              <a:highlight>
                <a:srgbClr val="FFFF00"/>
              </a:highlight>
            </a:endParaRPr>
          </a:p>
        </p:txBody>
      </p:sp>
      <p:sp>
        <p:nvSpPr>
          <p:cNvPr id="7" name="标题 6"/>
          <p:cNvSpPr>
            <a:spLocks noGrp="1"/>
          </p:cNvSpPr>
          <p:nvPr>
            <p:ph type="title"/>
            <p:custDataLst>
              <p:tags r:id="rId2"/>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rPr>
              <a:t>LLFC</a:t>
            </a:r>
            <a:r>
              <a:rPr lang="zh-CN" altLang="en-US" sz="2800">
                <a:gradFill>
                  <a:gsLst>
                    <a:gs pos="0">
                      <a:srgbClr val="E30000"/>
                    </a:gs>
                    <a:gs pos="100000">
                      <a:srgbClr val="760303"/>
                    </a:gs>
                  </a:gsLst>
                  <a:lin scaled="0"/>
                </a:gradFill>
              </a:rPr>
              <a:t>：</a:t>
            </a:r>
            <a:r>
              <a:rPr lang="en-US" altLang="zh-CN" sz="2800">
                <a:gradFill>
                  <a:gsLst>
                    <a:gs pos="0">
                      <a:srgbClr val="E30000"/>
                    </a:gs>
                    <a:gs pos="100000">
                      <a:srgbClr val="760303"/>
                    </a:gs>
                  </a:gsLst>
                  <a:lin scaled="0"/>
                </a:gradFill>
              </a:rPr>
              <a:t>FC </a:t>
            </a:r>
            <a:r>
              <a:rPr lang="zh-CN" altLang="en-US" sz="2800">
                <a:gradFill>
                  <a:gsLst>
                    <a:gs pos="0">
                      <a:srgbClr val="E30000"/>
                    </a:gs>
                    <a:gs pos="100000">
                      <a:srgbClr val="760303"/>
                    </a:gs>
                  </a:gsLst>
                  <a:lin scaled="0"/>
                </a:gradFill>
              </a:rPr>
              <a:t>过程</a:t>
            </a:r>
          </a:p>
        </p:txBody>
      </p:sp>
      <p:pic>
        <p:nvPicPr>
          <p:cNvPr id="6" name="图片 5"/>
          <p:cNvPicPr>
            <a:picLocks noChangeAspect="1"/>
          </p:cNvPicPr>
          <p:nvPr>
            <p:custDataLst>
              <p:tags r:id="rId3"/>
            </p:custDataLst>
          </p:nvPr>
        </p:nvPicPr>
        <p:blipFill>
          <a:blip r:embed="rId10"/>
          <a:stretch>
            <a:fillRect/>
          </a:stretch>
        </p:blipFill>
        <p:spPr>
          <a:xfrm>
            <a:off x="4651375" y="816700"/>
            <a:ext cx="3742055" cy="1533525"/>
          </a:xfrm>
          <a:prstGeom prst="rect">
            <a:avLst/>
          </a:prstGeom>
        </p:spPr>
      </p:pic>
      <p:pic>
        <p:nvPicPr>
          <p:cNvPr id="8" name="图片 7"/>
          <p:cNvPicPr>
            <a:picLocks noChangeAspect="1"/>
          </p:cNvPicPr>
          <p:nvPr>
            <p:custDataLst>
              <p:tags r:id="rId4"/>
            </p:custDataLst>
          </p:nvPr>
        </p:nvPicPr>
        <p:blipFill>
          <a:blip r:embed="rId11"/>
          <a:stretch>
            <a:fillRect/>
          </a:stretch>
        </p:blipFill>
        <p:spPr>
          <a:xfrm>
            <a:off x="4620895" y="2369633"/>
            <a:ext cx="4343400" cy="2159635"/>
          </a:xfrm>
          <a:prstGeom prst="rect">
            <a:avLst/>
          </a:prstGeom>
        </p:spPr>
      </p:pic>
      <p:pic>
        <p:nvPicPr>
          <p:cNvPr id="2" name="图片 1"/>
          <p:cNvPicPr>
            <a:picLocks noChangeAspect="1"/>
          </p:cNvPicPr>
          <p:nvPr>
            <p:custDataLst>
              <p:tags r:id="rId5"/>
            </p:custDataLst>
          </p:nvPr>
        </p:nvPicPr>
        <p:blipFill>
          <a:blip r:embed="rId12"/>
          <a:stretch>
            <a:fillRect/>
          </a:stretch>
        </p:blipFill>
        <p:spPr>
          <a:xfrm>
            <a:off x="4620895" y="4620042"/>
            <a:ext cx="2884760" cy="2162436"/>
          </a:xfrm>
          <a:prstGeom prst="rect">
            <a:avLst/>
          </a:prstGeom>
        </p:spPr>
      </p:pic>
      <p:cxnSp>
        <p:nvCxnSpPr>
          <p:cNvPr id="3" name="直接箭头连接符 2"/>
          <p:cNvCxnSpPr/>
          <p:nvPr>
            <p:custDataLst>
              <p:tags r:id="rId6"/>
            </p:custDataLst>
          </p:nvPr>
        </p:nvCxnSpPr>
        <p:spPr>
          <a:xfrm>
            <a:off x="2770742" y="4608954"/>
            <a:ext cx="1747036" cy="1322620"/>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7"/>
            </p:custDataLst>
          </p:nvPr>
        </p:nvSpPr>
        <p:spPr>
          <a:xfrm>
            <a:off x="2304415" y="5424260"/>
            <a:ext cx="2015902" cy="276999"/>
          </a:xfrm>
          <a:prstGeom prst="rect">
            <a:avLst/>
          </a:prstGeom>
          <a:noFill/>
        </p:spPr>
        <p:txBody>
          <a:bodyPr wrap="square" rtlCol="0">
            <a:spAutoFit/>
          </a:bodyPr>
          <a:lstStyle/>
          <a:p>
            <a:r>
              <a:rPr lang="zh-CN" altLang="en-US" sz="1200" b="1" dirty="0">
                <a:gradFill>
                  <a:gsLst>
                    <a:gs pos="0">
                      <a:srgbClr val="E30000"/>
                    </a:gs>
                    <a:gs pos="100000">
                      <a:srgbClr val="760303"/>
                    </a:gs>
                  </a:gsLst>
                  <a:lin scaled="0"/>
                </a:gradFill>
              </a:rPr>
              <a:t>对照上游的</a:t>
            </a:r>
            <a:r>
              <a:rPr lang="en-US" altLang="zh-CN" sz="1200" b="1" dirty="0">
                <a:gradFill>
                  <a:gsLst>
                    <a:gs pos="0">
                      <a:srgbClr val="E30000"/>
                    </a:gs>
                    <a:gs pos="100000">
                      <a:srgbClr val="760303"/>
                    </a:gs>
                  </a:gsLst>
                  <a:lin scaled="0"/>
                </a:gradFill>
              </a:rPr>
              <a:t>QOS</a:t>
            </a:r>
            <a:r>
              <a:rPr lang="zh-CN" altLang="en-US" sz="1200" b="1" dirty="0">
                <a:gradFill>
                  <a:gsLst>
                    <a:gs pos="0">
                      <a:srgbClr val="E30000"/>
                    </a:gs>
                    <a:gs pos="100000">
                      <a:srgbClr val="760303"/>
                    </a:gs>
                  </a:gsLst>
                  <a:lin scaled="0"/>
                </a:gradFill>
              </a:rPr>
              <a:t>调度理解</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rPr>
              <a:t>LLFC</a:t>
            </a:r>
            <a:r>
              <a:rPr lang="zh-CN" altLang="en-US" sz="2800">
                <a:gradFill>
                  <a:gsLst>
                    <a:gs pos="0">
                      <a:srgbClr val="E30000"/>
                    </a:gs>
                    <a:gs pos="100000">
                      <a:srgbClr val="760303"/>
                    </a:gs>
                  </a:gsLst>
                  <a:lin scaled="0"/>
                </a:gradFill>
              </a:rPr>
              <a:t>：举例</a:t>
            </a:r>
          </a:p>
        </p:txBody>
      </p:sp>
      <p:pic>
        <p:nvPicPr>
          <p:cNvPr id="4" name="图片 3"/>
          <p:cNvPicPr>
            <a:picLocks noChangeAspect="1"/>
          </p:cNvPicPr>
          <p:nvPr>
            <p:custDataLst>
              <p:tags r:id="rId2"/>
            </p:custDataLst>
          </p:nvPr>
        </p:nvPicPr>
        <p:blipFill>
          <a:blip r:embed="rId8"/>
          <a:stretch>
            <a:fillRect/>
          </a:stretch>
        </p:blipFill>
        <p:spPr>
          <a:xfrm>
            <a:off x="179705" y="692785"/>
            <a:ext cx="2733040" cy="2360930"/>
          </a:xfrm>
          <a:prstGeom prst="rect">
            <a:avLst/>
          </a:prstGeom>
        </p:spPr>
      </p:pic>
      <p:pic>
        <p:nvPicPr>
          <p:cNvPr id="5" name="图片 4"/>
          <p:cNvPicPr>
            <a:picLocks noChangeAspect="1"/>
          </p:cNvPicPr>
          <p:nvPr>
            <p:custDataLst>
              <p:tags r:id="rId3"/>
            </p:custDataLst>
          </p:nvPr>
        </p:nvPicPr>
        <p:blipFill>
          <a:blip r:embed="rId9"/>
          <a:stretch>
            <a:fillRect/>
          </a:stretch>
        </p:blipFill>
        <p:spPr>
          <a:xfrm>
            <a:off x="116840" y="3284855"/>
            <a:ext cx="2795905" cy="1823085"/>
          </a:xfrm>
          <a:prstGeom prst="rect">
            <a:avLst/>
          </a:prstGeom>
        </p:spPr>
      </p:pic>
      <p:pic>
        <p:nvPicPr>
          <p:cNvPr id="6" name="图片 5"/>
          <p:cNvPicPr>
            <a:picLocks noChangeAspect="1"/>
          </p:cNvPicPr>
          <p:nvPr>
            <p:custDataLst>
              <p:tags r:id="rId4"/>
            </p:custDataLst>
          </p:nvPr>
        </p:nvPicPr>
        <p:blipFill>
          <a:blip r:embed="rId10"/>
          <a:stretch>
            <a:fillRect/>
          </a:stretch>
        </p:blipFill>
        <p:spPr>
          <a:xfrm>
            <a:off x="3041650" y="692785"/>
            <a:ext cx="2920365" cy="2374265"/>
          </a:xfrm>
          <a:prstGeom prst="rect">
            <a:avLst/>
          </a:prstGeom>
        </p:spPr>
      </p:pic>
      <p:pic>
        <p:nvPicPr>
          <p:cNvPr id="8" name="图片 7"/>
          <p:cNvPicPr>
            <a:picLocks noChangeAspect="1"/>
          </p:cNvPicPr>
          <p:nvPr>
            <p:custDataLst>
              <p:tags r:id="rId5"/>
            </p:custDataLst>
          </p:nvPr>
        </p:nvPicPr>
        <p:blipFill>
          <a:blip r:embed="rId11"/>
          <a:stretch>
            <a:fillRect/>
          </a:stretch>
        </p:blipFill>
        <p:spPr>
          <a:xfrm>
            <a:off x="2987675" y="3284855"/>
            <a:ext cx="2767965" cy="2091055"/>
          </a:xfrm>
          <a:prstGeom prst="rect">
            <a:avLst/>
          </a:prstGeom>
        </p:spPr>
      </p:pic>
      <p:pic>
        <p:nvPicPr>
          <p:cNvPr id="9" name="图片 8"/>
          <p:cNvPicPr>
            <a:picLocks noChangeAspect="1"/>
          </p:cNvPicPr>
          <p:nvPr>
            <p:custDataLst>
              <p:tags r:id="rId6"/>
            </p:custDataLst>
          </p:nvPr>
        </p:nvPicPr>
        <p:blipFill>
          <a:blip r:embed="rId12"/>
          <a:stretch>
            <a:fillRect/>
          </a:stretch>
        </p:blipFill>
        <p:spPr>
          <a:xfrm>
            <a:off x="6012180" y="692785"/>
            <a:ext cx="3027680" cy="22313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11"/>
          <a:stretch>
            <a:fillRect/>
          </a:stretch>
        </p:blipFill>
        <p:spPr>
          <a:xfrm>
            <a:off x="107315" y="646430"/>
            <a:ext cx="3088005" cy="2907665"/>
          </a:xfrm>
          <a:prstGeom prst="rect">
            <a:avLst/>
          </a:prstGeom>
        </p:spPr>
      </p:pic>
      <p:sp>
        <p:nvSpPr>
          <p:cNvPr id="7" name="标题 6"/>
          <p:cNvSpPr>
            <a:spLocks noGrp="1"/>
          </p:cNvSpPr>
          <p:nvPr>
            <p:ph type="title"/>
            <p:custDataLst>
              <p:tags r:id="rId2"/>
            </p:custDataLst>
          </p:nvPr>
        </p:nvSpPr>
        <p:spPr>
          <a:xfrm>
            <a:off x="107315" y="93980"/>
            <a:ext cx="8508365" cy="461010"/>
          </a:xfrm>
        </p:spPr>
        <p:txBody>
          <a:bodyPr/>
          <a:lstStyle/>
          <a:p>
            <a:pPr algn="l"/>
            <a:r>
              <a:rPr lang="zh-CN" altLang="en-US" sz="2800" dirty="0">
                <a:gradFill>
                  <a:gsLst>
                    <a:gs pos="0">
                      <a:srgbClr val="E30000"/>
                    </a:gs>
                    <a:gs pos="100000">
                      <a:srgbClr val="760303"/>
                    </a:gs>
                  </a:gsLst>
                  <a:lin scaled="0"/>
                </a:gradFill>
              </a:rPr>
              <a:t>数据链路层</a:t>
            </a:r>
          </a:p>
        </p:txBody>
      </p:sp>
      <p:pic>
        <p:nvPicPr>
          <p:cNvPr id="5" name="图片 4"/>
          <p:cNvPicPr>
            <a:picLocks noChangeAspect="1"/>
          </p:cNvPicPr>
          <p:nvPr>
            <p:custDataLst>
              <p:tags r:id="rId3"/>
            </p:custDataLst>
          </p:nvPr>
        </p:nvPicPr>
        <p:blipFill>
          <a:blip r:embed="rId12"/>
          <a:stretch>
            <a:fillRect/>
          </a:stretch>
        </p:blipFill>
        <p:spPr>
          <a:xfrm>
            <a:off x="3203575" y="656590"/>
            <a:ext cx="3129280" cy="2205990"/>
          </a:xfrm>
          <a:prstGeom prst="rect">
            <a:avLst/>
          </a:prstGeom>
        </p:spPr>
      </p:pic>
      <p:pic>
        <p:nvPicPr>
          <p:cNvPr id="6" name="图片 5"/>
          <p:cNvPicPr>
            <a:picLocks noChangeAspect="1"/>
          </p:cNvPicPr>
          <p:nvPr>
            <p:custDataLst>
              <p:tags r:id="rId4"/>
            </p:custDataLst>
          </p:nvPr>
        </p:nvPicPr>
        <p:blipFill>
          <a:blip r:embed="rId13"/>
          <a:stretch>
            <a:fillRect/>
          </a:stretch>
        </p:blipFill>
        <p:spPr>
          <a:xfrm>
            <a:off x="3203575" y="2924810"/>
            <a:ext cx="3129915" cy="1862455"/>
          </a:xfrm>
          <a:prstGeom prst="rect">
            <a:avLst/>
          </a:prstGeom>
        </p:spPr>
      </p:pic>
      <p:pic>
        <p:nvPicPr>
          <p:cNvPr id="8" name="图片 7"/>
          <p:cNvPicPr>
            <a:picLocks noChangeAspect="1"/>
          </p:cNvPicPr>
          <p:nvPr>
            <p:custDataLst>
              <p:tags r:id="rId5"/>
            </p:custDataLst>
          </p:nvPr>
        </p:nvPicPr>
        <p:blipFill>
          <a:blip r:embed="rId14"/>
          <a:stretch>
            <a:fillRect/>
          </a:stretch>
        </p:blipFill>
        <p:spPr>
          <a:xfrm>
            <a:off x="107315" y="3644900"/>
            <a:ext cx="3022600" cy="2766695"/>
          </a:xfrm>
          <a:prstGeom prst="rect">
            <a:avLst/>
          </a:prstGeom>
        </p:spPr>
      </p:pic>
      <p:pic>
        <p:nvPicPr>
          <p:cNvPr id="9" name="图片 8"/>
          <p:cNvPicPr>
            <a:picLocks noChangeAspect="1"/>
          </p:cNvPicPr>
          <p:nvPr>
            <p:custDataLst>
              <p:tags r:id="rId6"/>
            </p:custDataLst>
          </p:nvPr>
        </p:nvPicPr>
        <p:blipFill>
          <a:blip r:embed="rId15"/>
          <a:stretch>
            <a:fillRect/>
          </a:stretch>
        </p:blipFill>
        <p:spPr>
          <a:xfrm>
            <a:off x="6332855" y="656590"/>
            <a:ext cx="2757805" cy="1010285"/>
          </a:xfrm>
          <a:prstGeom prst="rect">
            <a:avLst/>
          </a:prstGeom>
        </p:spPr>
      </p:pic>
      <p:pic>
        <p:nvPicPr>
          <p:cNvPr id="10" name="图片 9"/>
          <p:cNvPicPr>
            <a:picLocks noChangeAspect="1"/>
          </p:cNvPicPr>
          <p:nvPr>
            <p:custDataLst>
              <p:tags r:id="rId7"/>
            </p:custDataLst>
          </p:nvPr>
        </p:nvPicPr>
        <p:blipFill>
          <a:blip r:embed="rId16"/>
          <a:stretch>
            <a:fillRect/>
          </a:stretch>
        </p:blipFill>
        <p:spPr>
          <a:xfrm>
            <a:off x="6332855" y="1666875"/>
            <a:ext cx="2760980" cy="977900"/>
          </a:xfrm>
          <a:prstGeom prst="rect">
            <a:avLst/>
          </a:prstGeom>
        </p:spPr>
      </p:pic>
      <p:pic>
        <p:nvPicPr>
          <p:cNvPr id="11" name="图片 10"/>
          <p:cNvPicPr>
            <a:picLocks noChangeAspect="1"/>
          </p:cNvPicPr>
          <p:nvPr>
            <p:custDataLst>
              <p:tags r:id="rId8"/>
            </p:custDataLst>
          </p:nvPr>
        </p:nvPicPr>
        <p:blipFill>
          <a:blip r:embed="rId17"/>
          <a:stretch>
            <a:fillRect/>
          </a:stretch>
        </p:blipFill>
        <p:spPr>
          <a:xfrm>
            <a:off x="6341110" y="2708910"/>
            <a:ext cx="2783205" cy="988695"/>
          </a:xfrm>
          <a:prstGeom prst="rect">
            <a:avLst/>
          </a:prstGeom>
        </p:spPr>
      </p:pic>
      <p:pic>
        <p:nvPicPr>
          <p:cNvPr id="12" name="图片 11"/>
          <p:cNvPicPr>
            <a:picLocks noChangeAspect="1"/>
          </p:cNvPicPr>
          <p:nvPr>
            <p:custDataLst>
              <p:tags r:id="rId9"/>
            </p:custDataLst>
          </p:nvPr>
        </p:nvPicPr>
        <p:blipFill>
          <a:blip r:embed="rId18"/>
          <a:stretch>
            <a:fillRect/>
          </a:stretch>
        </p:blipFill>
        <p:spPr>
          <a:xfrm>
            <a:off x="6341745" y="3718560"/>
            <a:ext cx="2772410" cy="9442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107315" y="93980"/>
            <a:ext cx="8508365" cy="461010"/>
          </a:xfrm>
        </p:spPr>
        <p:txBody>
          <a:bodyPr/>
          <a:lstStyle/>
          <a:p>
            <a:pPr algn="l"/>
            <a:r>
              <a:rPr lang="zh-CN" altLang="en-US" sz="2800">
                <a:gradFill>
                  <a:gsLst>
                    <a:gs pos="0">
                      <a:srgbClr val="E30000"/>
                    </a:gs>
                    <a:gs pos="100000">
                      <a:srgbClr val="760303"/>
                    </a:gs>
                  </a:gsLst>
                  <a:lin scaled="0"/>
                </a:gradFill>
              </a:rPr>
              <a:t>数据链路层：</a:t>
            </a:r>
            <a:r>
              <a:rPr lang="en-US" altLang="zh-CN" sz="2800">
                <a:gradFill>
                  <a:gsLst>
                    <a:gs pos="0">
                      <a:srgbClr val="E30000"/>
                    </a:gs>
                    <a:gs pos="100000">
                      <a:srgbClr val="760303"/>
                    </a:gs>
                  </a:gsLst>
                  <a:lin scaled="0"/>
                </a:gradFill>
              </a:rPr>
              <a:t>ACK/NACK</a:t>
            </a:r>
          </a:p>
        </p:txBody>
      </p:sp>
      <p:pic>
        <p:nvPicPr>
          <p:cNvPr id="4" name="图片 3"/>
          <p:cNvPicPr>
            <a:picLocks noChangeAspect="1"/>
          </p:cNvPicPr>
          <p:nvPr>
            <p:custDataLst>
              <p:tags r:id="rId2"/>
            </p:custDataLst>
          </p:nvPr>
        </p:nvPicPr>
        <p:blipFill>
          <a:blip r:embed="rId8"/>
          <a:stretch>
            <a:fillRect/>
          </a:stretch>
        </p:blipFill>
        <p:spPr>
          <a:xfrm>
            <a:off x="322024" y="554990"/>
            <a:ext cx="3485809" cy="2808605"/>
          </a:xfrm>
          <a:prstGeom prst="rect">
            <a:avLst/>
          </a:prstGeom>
        </p:spPr>
      </p:pic>
      <p:pic>
        <p:nvPicPr>
          <p:cNvPr id="5" name="图片 4"/>
          <p:cNvPicPr>
            <a:picLocks noChangeAspect="1"/>
          </p:cNvPicPr>
          <p:nvPr>
            <p:custDataLst>
              <p:tags r:id="rId3"/>
            </p:custDataLst>
          </p:nvPr>
        </p:nvPicPr>
        <p:blipFill>
          <a:blip r:embed="rId9"/>
          <a:stretch>
            <a:fillRect/>
          </a:stretch>
        </p:blipFill>
        <p:spPr>
          <a:xfrm>
            <a:off x="349496" y="3363595"/>
            <a:ext cx="3623562" cy="2591937"/>
          </a:xfrm>
          <a:prstGeom prst="rect">
            <a:avLst/>
          </a:prstGeom>
        </p:spPr>
      </p:pic>
      <p:pic>
        <p:nvPicPr>
          <p:cNvPr id="6" name="图片 5"/>
          <p:cNvPicPr>
            <a:picLocks noChangeAspect="1"/>
          </p:cNvPicPr>
          <p:nvPr>
            <p:custDataLst>
              <p:tags r:id="rId4"/>
            </p:custDataLst>
          </p:nvPr>
        </p:nvPicPr>
        <p:blipFill>
          <a:blip r:embed="rId10"/>
          <a:stretch>
            <a:fillRect/>
          </a:stretch>
        </p:blipFill>
        <p:spPr>
          <a:xfrm>
            <a:off x="4361497" y="2170817"/>
            <a:ext cx="2949189" cy="2050271"/>
          </a:xfrm>
          <a:prstGeom prst="rect">
            <a:avLst/>
          </a:prstGeom>
        </p:spPr>
      </p:pic>
      <p:sp>
        <p:nvSpPr>
          <p:cNvPr id="2" name="文本框 1"/>
          <p:cNvSpPr txBox="1"/>
          <p:nvPr>
            <p:custDataLst>
              <p:tags r:id="rId5"/>
            </p:custDataLst>
          </p:nvPr>
        </p:nvSpPr>
        <p:spPr>
          <a:xfrm>
            <a:off x="4139952" y="554990"/>
            <a:ext cx="4366260" cy="1615827"/>
          </a:xfrm>
          <a:prstGeom prst="rect">
            <a:avLst/>
          </a:prstGeom>
          <a:noFill/>
        </p:spPr>
        <p:txBody>
          <a:bodyPr wrap="square" rtlCol="0">
            <a:spAutoFit/>
          </a:bodyPr>
          <a:lstStyle/>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NEXT_TRANSMIT_SEQ: 12b</a:t>
            </a:r>
            <a:r>
              <a:rPr lang="zh-CN" altLang="en-US" sz="1100" b="1" dirty="0">
                <a:gradFill>
                  <a:gsLst>
                    <a:gs pos="0">
                      <a:srgbClr val="E30000"/>
                    </a:gs>
                    <a:gs pos="100000">
                      <a:srgbClr val="760303"/>
                    </a:gs>
                  </a:gsLst>
                  <a:lin scaled="0"/>
                </a:gradFill>
              </a:rPr>
              <a:t>，初始值</a:t>
            </a:r>
            <a:r>
              <a:rPr lang="en-US" altLang="zh-CN" sz="1100" b="1" dirty="0">
                <a:gradFill>
                  <a:gsLst>
                    <a:gs pos="0">
                      <a:srgbClr val="E30000"/>
                    </a:gs>
                    <a:gs pos="100000">
                      <a:srgbClr val="760303"/>
                    </a:gs>
                  </a:gsLst>
                  <a:lin scaled="0"/>
                </a:gradFill>
              </a:rPr>
              <a:t>0</a:t>
            </a:r>
            <a:r>
              <a:rPr lang="zh-CN" altLang="en-US" sz="1100" b="1" dirty="0">
                <a:gradFill>
                  <a:gsLst>
                    <a:gs pos="0">
                      <a:srgbClr val="E30000"/>
                    </a:gs>
                    <a:gs pos="100000">
                      <a:srgbClr val="760303"/>
                    </a:gs>
                  </a:gsLst>
                  <a:lin scaled="0"/>
                </a:gradFill>
              </a:rPr>
              <a:t>，下一个要发送的序号</a:t>
            </a:r>
            <a:endParaRPr lang="en-US" altLang="zh-CN" sz="1100" b="1" dirty="0">
              <a:gradFill>
                <a:gsLst>
                  <a:gs pos="0">
                    <a:srgbClr val="E30000"/>
                  </a:gs>
                  <a:gs pos="100000">
                    <a:srgbClr val="760303"/>
                  </a:gs>
                </a:gsLst>
                <a:lin scaled="0"/>
              </a:gradFill>
            </a:endParaRP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LCRC GEN</a:t>
            </a:r>
            <a:r>
              <a:rPr lang="zh-CN" altLang="en-US" sz="1100" b="1" dirty="0">
                <a:gradFill>
                  <a:gsLst>
                    <a:gs pos="0">
                      <a:srgbClr val="E30000"/>
                    </a:gs>
                    <a:gs pos="100000">
                      <a:srgbClr val="760303"/>
                    </a:gs>
                  </a:gsLst>
                  <a:lin scaled="0"/>
                </a:gradFill>
              </a:rPr>
              <a:t>：产生</a:t>
            </a:r>
            <a:r>
              <a:rPr lang="en-US" altLang="zh-CN" sz="1100" b="1" dirty="0">
                <a:gradFill>
                  <a:gsLst>
                    <a:gs pos="0">
                      <a:srgbClr val="E30000"/>
                    </a:gs>
                    <a:gs pos="100000">
                      <a:srgbClr val="760303"/>
                    </a:gs>
                  </a:gsLst>
                  <a:lin scaled="0"/>
                </a:gradFill>
              </a:rPr>
              <a:t>32b</a:t>
            </a:r>
            <a:r>
              <a:rPr lang="zh-CN" altLang="en-US" sz="1100" b="1" dirty="0">
                <a:gradFill>
                  <a:gsLst>
                    <a:gs pos="0">
                      <a:srgbClr val="E30000"/>
                    </a:gs>
                    <a:gs pos="100000">
                      <a:srgbClr val="760303"/>
                    </a:gs>
                  </a:gsLst>
                  <a:lin scaled="0"/>
                </a:gradFill>
              </a:rPr>
              <a:t>的</a:t>
            </a:r>
            <a:r>
              <a:rPr lang="en-US" altLang="zh-CN" sz="1100" b="1" dirty="0">
                <a:gradFill>
                  <a:gsLst>
                    <a:gs pos="0">
                      <a:srgbClr val="E30000"/>
                    </a:gs>
                    <a:gs pos="100000">
                      <a:srgbClr val="760303"/>
                    </a:gs>
                  </a:gsLst>
                  <a:lin scaled="0"/>
                </a:gradFill>
              </a:rPr>
              <a:t>CRD</a:t>
            </a:r>
            <a:r>
              <a:rPr lang="zh-CN" altLang="en-US" sz="1100" b="1" dirty="0">
                <a:gradFill>
                  <a:gsLst>
                    <a:gs pos="0">
                      <a:srgbClr val="E30000"/>
                    </a:gs>
                    <a:gs pos="100000">
                      <a:srgbClr val="760303"/>
                    </a:gs>
                  </a:gsLst>
                  <a:lin scaled="0"/>
                </a:gradFill>
              </a:rPr>
              <a:t>校验码</a:t>
            </a:r>
            <a:endParaRPr lang="en-US" altLang="zh-CN" sz="1100" b="1" dirty="0">
              <a:gradFill>
                <a:gsLst>
                  <a:gs pos="0">
                    <a:srgbClr val="E30000"/>
                  </a:gs>
                  <a:gs pos="100000">
                    <a:srgbClr val="760303"/>
                  </a:gs>
                </a:gsLst>
                <a:lin scaled="0"/>
              </a:gradFill>
            </a:endParaRP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Replay Buffer:</a:t>
            </a:r>
            <a:r>
              <a:rPr lang="zh-CN" altLang="en-US" sz="1100" b="1" dirty="0">
                <a:gradFill>
                  <a:gsLst>
                    <a:gs pos="0">
                      <a:srgbClr val="E30000"/>
                    </a:gs>
                    <a:gs pos="100000">
                      <a:srgbClr val="760303"/>
                    </a:gs>
                  </a:gsLst>
                  <a:lin scaled="0"/>
                </a:gradFill>
              </a:rPr>
              <a:t>存放未被确认的</a:t>
            </a:r>
            <a:r>
              <a:rPr lang="en-US" altLang="zh-CN" sz="1100" b="1" dirty="0">
                <a:gradFill>
                  <a:gsLst>
                    <a:gs pos="0">
                      <a:srgbClr val="E30000"/>
                    </a:gs>
                    <a:gs pos="100000">
                      <a:srgbClr val="760303"/>
                    </a:gs>
                  </a:gsLst>
                  <a:lin scaled="0"/>
                </a:gradFill>
              </a:rPr>
              <a:t>TLP copy</a:t>
            </a: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REPLAY Timer</a:t>
            </a:r>
            <a:r>
              <a:rPr lang="zh-CN" altLang="en-US" sz="1100" b="1" dirty="0">
                <a:gradFill>
                  <a:gsLst>
                    <a:gs pos="0">
                      <a:srgbClr val="E30000"/>
                    </a:gs>
                    <a:gs pos="100000">
                      <a:srgbClr val="760303"/>
                    </a:gs>
                  </a:gsLst>
                  <a:lin scaled="0"/>
                </a:gradFill>
              </a:rPr>
              <a:t>：</a:t>
            </a:r>
            <a:r>
              <a:rPr lang="en-US" altLang="zh-CN" sz="1100" b="1" dirty="0">
                <a:gradFill>
                  <a:gsLst>
                    <a:gs pos="0">
                      <a:srgbClr val="E30000"/>
                    </a:gs>
                    <a:gs pos="100000">
                      <a:srgbClr val="760303"/>
                    </a:gs>
                  </a:gsLst>
                  <a:lin scaled="0"/>
                </a:gradFill>
              </a:rPr>
              <a:t>1</a:t>
            </a:r>
            <a:r>
              <a:rPr lang="zh-CN" altLang="en-US" sz="1100" b="1" dirty="0">
                <a:gradFill>
                  <a:gsLst>
                    <a:gs pos="0">
                      <a:srgbClr val="E30000"/>
                    </a:gs>
                    <a:gs pos="100000">
                      <a:srgbClr val="760303"/>
                    </a:gs>
                  </a:gsLst>
                  <a:lin scaled="0"/>
                </a:gradFill>
              </a:rPr>
              <a:t>）在</a:t>
            </a:r>
            <a:r>
              <a:rPr lang="en-US" altLang="zh-CN" sz="1100" b="1" dirty="0">
                <a:gradFill>
                  <a:gsLst>
                    <a:gs pos="0">
                      <a:srgbClr val="E30000"/>
                    </a:gs>
                    <a:gs pos="100000">
                      <a:srgbClr val="760303"/>
                    </a:gs>
                  </a:gsLst>
                  <a:lin scaled="0"/>
                </a:gradFill>
              </a:rPr>
              <a:t>timer</a:t>
            </a:r>
            <a:r>
              <a:rPr lang="zh-CN" altLang="en-US" sz="1100" b="1" dirty="0">
                <a:gradFill>
                  <a:gsLst>
                    <a:gs pos="0">
                      <a:srgbClr val="E30000"/>
                    </a:gs>
                    <a:gs pos="100000">
                      <a:srgbClr val="760303"/>
                    </a:gs>
                  </a:gsLst>
                  <a:lin scaled="0"/>
                </a:gradFill>
              </a:rPr>
              <a:t>启动时，发送</a:t>
            </a:r>
            <a:r>
              <a:rPr lang="en-US" altLang="zh-CN" sz="1100" b="1" dirty="0">
                <a:gradFill>
                  <a:gsLst>
                    <a:gs pos="0">
                      <a:srgbClr val="E30000"/>
                    </a:gs>
                    <a:gs pos="100000">
                      <a:srgbClr val="760303"/>
                    </a:gs>
                  </a:gsLst>
                  <a:lin scaled="0"/>
                </a:gradFill>
              </a:rPr>
              <a:t>TLP</a:t>
            </a:r>
            <a:r>
              <a:rPr lang="zh-CN" altLang="en-US" sz="1100" b="1" dirty="0">
                <a:gradFill>
                  <a:gsLst>
                    <a:gs pos="0">
                      <a:srgbClr val="E30000"/>
                    </a:gs>
                    <a:gs pos="100000">
                      <a:srgbClr val="760303"/>
                    </a:gs>
                  </a:gsLst>
                  <a:lin scaled="0"/>
                </a:gradFill>
              </a:rPr>
              <a:t>并不重置</a:t>
            </a:r>
            <a:r>
              <a:rPr lang="en-US" altLang="zh-CN" sz="1100" b="1" dirty="0">
                <a:gradFill>
                  <a:gsLst>
                    <a:gs pos="0">
                      <a:srgbClr val="E30000"/>
                    </a:gs>
                    <a:gs pos="100000">
                      <a:srgbClr val="760303"/>
                    </a:gs>
                  </a:gsLst>
                  <a:lin scaled="0"/>
                </a:gradFill>
              </a:rPr>
              <a:t>timer</a:t>
            </a:r>
            <a:r>
              <a:rPr lang="zh-CN" altLang="en-US" sz="1100" b="1" dirty="0">
                <a:gradFill>
                  <a:gsLst>
                    <a:gs pos="0">
                      <a:srgbClr val="E30000"/>
                    </a:gs>
                    <a:gs pos="100000">
                      <a:srgbClr val="760303"/>
                    </a:gs>
                  </a:gsLst>
                  <a:lin scaled="0"/>
                </a:gradFill>
              </a:rPr>
              <a:t>；</a:t>
            </a:r>
            <a:r>
              <a:rPr lang="en-US" altLang="zh-CN" sz="1100" b="1" dirty="0">
                <a:gradFill>
                  <a:gsLst>
                    <a:gs pos="0">
                      <a:srgbClr val="E30000"/>
                    </a:gs>
                    <a:gs pos="100000">
                      <a:srgbClr val="760303"/>
                    </a:gs>
                  </a:gsLst>
                  <a:lin scaled="0"/>
                </a:gradFill>
              </a:rPr>
              <a:t> 2</a:t>
            </a:r>
            <a:r>
              <a:rPr lang="zh-CN" altLang="en-US" sz="1100" b="1" dirty="0">
                <a:gradFill>
                  <a:gsLst>
                    <a:gs pos="0">
                      <a:srgbClr val="E30000"/>
                    </a:gs>
                    <a:gs pos="100000">
                      <a:srgbClr val="760303"/>
                    </a:gs>
                  </a:gsLst>
                  <a:lin scaled="0"/>
                </a:gradFill>
              </a:rPr>
              <a:t>）收到</a:t>
            </a:r>
            <a:r>
              <a:rPr lang="en-US" altLang="zh-CN" sz="1100" b="1" dirty="0">
                <a:gradFill>
                  <a:gsLst>
                    <a:gs pos="0">
                      <a:srgbClr val="E30000"/>
                    </a:gs>
                    <a:gs pos="100000">
                      <a:srgbClr val="760303"/>
                    </a:gs>
                  </a:gsLst>
                  <a:lin scaled="0"/>
                </a:gradFill>
              </a:rPr>
              <a:t>ACK/NACK</a:t>
            </a:r>
            <a:r>
              <a:rPr lang="zh-CN" altLang="en-US" sz="1100" b="1" dirty="0">
                <a:gradFill>
                  <a:gsLst>
                    <a:gs pos="0">
                      <a:srgbClr val="E30000"/>
                    </a:gs>
                    <a:gs pos="100000">
                      <a:srgbClr val="760303"/>
                    </a:gs>
                  </a:gsLst>
                  <a:lin scaled="0"/>
                </a:gradFill>
              </a:rPr>
              <a:t>时如果</a:t>
            </a:r>
            <a:r>
              <a:rPr lang="en-US" altLang="zh-CN" sz="1100" b="1" dirty="0">
                <a:gradFill>
                  <a:gsLst>
                    <a:gs pos="0">
                      <a:srgbClr val="E30000"/>
                    </a:gs>
                    <a:gs pos="100000">
                      <a:srgbClr val="760303"/>
                    </a:gs>
                  </a:gsLst>
                  <a:lin scaled="0"/>
                </a:gradFill>
              </a:rPr>
              <a:t>replay buffer</a:t>
            </a:r>
            <a:r>
              <a:rPr lang="zh-CN" altLang="en-US" sz="1100" b="1" dirty="0">
                <a:gradFill>
                  <a:gsLst>
                    <a:gs pos="0">
                      <a:srgbClr val="E30000"/>
                    </a:gs>
                    <a:gs pos="100000">
                      <a:srgbClr val="760303"/>
                    </a:gs>
                  </a:gsLst>
                  <a:lin scaled="0"/>
                </a:gradFill>
              </a:rPr>
              <a:t>有数据重置</a:t>
            </a:r>
            <a:r>
              <a:rPr lang="en-US" altLang="zh-CN" sz="1100" b="1" dirty="0">
                <a:gradFill>
                  <a:gsLst>
                    <a:gs pos="0">
                      <a:srgbClr val="E30000"/>
                    </a:gs>
                    <a:gs pos="100000">
                      <a:srgbClr val="760303"/>
                    </a:gs>
                  </a:gsLst>
                  <a:lin scaled="0"/>
                </a:gradFill>
              </a:rPr>
              <a:t>timer</a:t>
            </a:r>
            <a:r>
              <a:rPr lang="zh-CN" altLang="en-US" sz="1100" b="1" dirty="0">
                <a:gradFill>
                  <a:gsLst>
                    <a:gs pos="0">
                      <a:srgbClr val="E30000"/>
                    </a:gs>
                    <a:gs pos="100000">
                      <a:srgbClr val="760303"/>
                    </a:gs>
                  </a:gsLst>
                  <a:lin scaled="0"/>
                </a:gradFill>
              </a:rPr>
              <a:t>，并且</a:t>
            </a:r>
            <a:r>
              <a:rPr lang="en-US" altLang="zh-CN" sz="1100" b="1" dirty="0">
                <a:gradFill>
                  <a:gsLst>
                    <a:gs pos="0">
                      <a:srgbClr val="E30000"/>
                    </a:gs>
                    <a:gs pos="100000">
                      <a:srgbClr val="760303"/>
                    </a:gs>
                  </a:gsLst>
                  <a:lin scaled="0"/>
                </a:gradFill>
              </a:rPr>
              <a:t>REPLAY Timer </a:t>
            </a:r>
            <a:r>
              <a:rPr lang="zh-CN" altLang="en-US" sz="1100" b="1" dirty="0">
                <a:gradFill>
                  <a:gsLst>
                    <a:gs pos="0">
                      <a:srgbClr val="E30000"/>
                    </a:gs>
                    <a:gs pos="100000">
                      <a:srgbClr val="760303"/>
                    </a:gs>
                  </a:gsLst>
                  <a:lin scaled="0"/>
                </a:gradFill>
              </a:rPr>
              <a:t>也清零；</a:t>
            </a:r>
            <a:endParaRPr lang="en-US" altLang="zh-CN" sz="1100" b="1" dirty="0">
              <a:gradFill>
                <a:gsLst>
                  <a:gs pos="0">
                    <a:srgbClr val="E30000"/>
                  </a:gs>
                  <a:gs pos="100000">
                    <a:srgbClr val="760303"/>
                  </a:gs>
                </a:gsLst>
                <a:lin scaled="0"/>
              </a:gradFill>
            </a:endParaRP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REPLAY_NUM: </a:t>
            </a:r>
            <a:r>
              <a:rPr lang="zh-CN" altLang="en-US" sz="1100" b="1" dirty="0">
                <a:gradFill>
                  <a:gsLst>
                    <a:gs pos="0">
                      <a:srgbClr val="E30000"/>
                    </a:gs>
                    <a:gs pos="100000">
                      <a:srgbClr val="760303"/>
                    </a:gs>
                  </a:gsLst>
                  <a:lin scaled="0"/>
                </a:gradFill>
              </a:rPr>
              <a:t>记录超时重传次数</a:t>
            </a:r>
            <a:r>
              <a:rPr lang="en-US" altLang="zh-CN" sz="1100" b="1" dirty="0">
                <a:gradFill>
                  <a:gsLst>
                    <a:gs pos="0">
                      <a:srgbClr val="E30000"/>
                    </a:gs>
                    <a:gs pos="100000">
                      <a:srgbClr val="760303"/>
                    </a:gs>
                  </a:gsLst>
                  <a:lin scaled="0"/>
                </a:gradFill>
              </a:rPr>
              <a:t>00-&gt;01-&gt;10-&gt;11-&gt;00 </a:t>
            </a:r>
            <a:r>
              <a:rPr lang="zh-CN" altLang="en-US" sz="1100" b="1" dirty="0">
                <a:gradFill>
                  <a:gsLst>
                    <a:gs pos="0">
                      <a:srgbClr val="E30000"/>
                    </a:gs>
                    <a:gs pos="100000">
                      <a:srgbClr val="760303"/>
                    </a:gs>
                  </a:gsLst>
                  <a:lin scaled="0"/>
                </a:gradFill>
              </a:rPr>
              <a:t>回滚到</a:t>
            </a:r>
            <a:r>
              <a:rPr lang="en-US" altLang="zh-CN" sz="1100" b="1" dirty="0">
                <a:gradFill>
                  <a:gsLst>
                    <a:gs pos="0">
                      <a:srgbClr val="E30000"/>
                    </a:gs>
                    <a:gs pos="100000">
                      <a:srgbClr val="760303"/>
                    </a:gs>
                  </a:gsLst>
                  <a:lin scaled="0"/>
                </a:gradFill>
              </a:rPr>
              <a:t>0</a:t>
            </a:r>
            <a:r>
              <a:rPr lang="zh-CN" altLang="en-US" sz="1100" b="1" dirty="0">
                <a:gradFill>
                  <a:gsLst>
                    <a:gs pos="0">
                      <a:srgbClr val="E30000"/>
                    </a:gs>
                    <a:gs pos="100000">
                      <a:srgbClr val="760303"/>
                    </a:gs>
                  </a:gsLst>
                  <a:lin scaled="0"/>
                </a:gradFill>
              </a:rPr>
              <a:t>时数据链路层通知物理层重新训练</a:t>
            </a:r>
            <a:endParaRPr lang="en-US" altLang="zh-CN" sz="1100" b="1" dirty="0">
              <a:gradFill>
                <a:gsLst>
                  <a:gs pos="0">
                    <a:srgbClr val="E30000"/>
                  </a:gs>
                  <a:gs pos="100000">
                    <a:srgbClr val="760303"/>
                  </a:gs>
                </a:gsLst>
                <a:lin scaled="0"/>
              </a:gradFill>
            </a:endParaRP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ACK_SEQ</a:t>
            </a:r>
            <a:r>
              <a:rPr lang="zh-CN" altLang="en-US" sz="1100" b="1" dirty="0">
                <a:gradFill>
                  <a:gsLst>
                    <a:gs pos="0">
                      <a:srgbClr val="E30000"/>
                    </a:gs>
                    <a:gs pos="100000">
                      <a:srgbClr val="760303"/>
                    </a:gs>
                  </a:gsLst>
                  <a:lin scaled="0"/>
                </a:gradFill>
              </a:rPr>
              <a:t>：</a:t>
            </a:r>
            <a:r>
              <a:rPr lang="en-US" altLang="zh-CN" sz="1100" b="1" dirty="0">
                <a:gradFill>
                  <a:gsLst>
                    <a:gs pos="0">
                      <a:srgbClr val="E30000"/>
                    </a:gs>
                    <a:gs pos="100000">
                      <a:srgbClr val="760303"/>
                    </a:gs>
                  </a:gsLst>
                  <a:lin scaled="0"/>
                </a:gradFill>
              </a:rPr>
              <a:t>12b</a:t>
            </a:r>
            <a:r>
              <a:rPr lang="zh-CN" altLang="en-US" sz="1100" b="1" dirty="0">
                <a:gradFill>
                  <a:gsLst>
                    <a:gs pos="0">
                      <a:srgbClr val="E30000"/>
                    </a:gs>
                    <a:gs pos="100000">
                      <a:srgbClr val="760303"/>
                    </a:gs>
                  </a:gsLst>
                  <a:lin scaled="0"/>
                </a:gradFill>
              </a:rPr>
              <a:t>，初始值</a:t>
            </a:r>
            <a:r>
              <a:rPr lang="en-US" altLang="zh-CN" sz="1100" b="1" dirty="0">
                <a:gradFill>
                  <a:gsLst>
                    <a:gs pos="0">
                      <a:srgbClr val="E30000"/>
                    </a:gs>
                    <a:gs pos="100000">
                      <a:srgbClr val="760303"/>
                    </a:gs>
                  </a:gsLst>
                  <a:lin scaled="0"/>
                </a:gradFill>
              </a:rPr>
              <a:t>0xfff</a:t>
            </a:r>
            <a:endParaRPr lang="zh-CN" altLang="en-US" sz="1100" b="1" dirty="0">
              <a:gradFill>
                <a:gsLst>
                  <a:gs pos="0">
                    <a:srgbClr val="E30000"/>
                  </a:gs>
                  <a:gs pos="100000">
                    <a:srgbClr val="760303"/>
                  </a:gs>
                </a:gsLst>
                <a:lin scaled="0"/>
              </a:gradFill>
            </a:endParaRPr>
          </a:p>
        </p:txBody>
      </p:sp>
      <p:sp>
        <p:nvSpPr>
          <p:cNvPr id="3" name="文本框 2"/>
          <p:cNvSpPr txBox="1"/>
          <p:nvPr>
            <p:custDataLst>
              <p:tags r:id="rId6"/>
            </p:custDataLst>
          </p:nvPr>
        </p:nvSpPr>
        <p:spPr>
          <a:xfrm>
            <a:off x="4228343" y="4315988"/>
            <a:ext cx="4366260" cy="1107996"/>
          </a:xfrm>
          <a:prstGeom prst="rect">
            <a:avLst/>
          </a:prstGeom>
          <a:noFill/>
        </p:spPr>
        <p:txBody>
          <a:bodyPr wrap="square" rtlCol="0">
            <a:spAutoFit/>
          </a:bodyPr>
          <a:lstStyle/>
          <a:p>
            <a:pPr marL="171450" indent="-171450">
              <a:buFont typeface="Arial" panose="020B0604020202020204" pitchFamily="34" charset="0"/>
              <a:buChar char="•"/>
            </a:pPr>
            <a:r>
              <a:rPr lang="en-US" altLang="zh-CN" sz="1100" b="1">
                <a:gradFill>
                  <a:gsLst>
                    <a:gs pos="0">
                      <a:srgbClr val="E30000"/>
                    </a:gs>
                    <a:gs pos="100000">
                      <a:srgbClr val="760303"/>
                    </a:gs>
                  </a:gsLst>
                  <a:lin scaled="0"/>
                </a:gradFill>
              </a:rPr>
              <a:t>NEXT</a:t>
            </a:r>
            <a:r>
              <a:rPr lang="en-US" altLang="zh-CN" sz="1100" b="1" dirty="0">
                <a:gradFill>
                  <a:gsLst>
                    <a:gs pos="0">
                      <a:srgbClr val="E30000"/>
                    </a:gs>
                    <a:gs pos="100000">
                      <a:srgbClr val="760303"/>
                    </a:gs>
                  </a:gsLst>
                  <a:lin scaled="0"/>
                </a:gradFill>
              </a:rPr>
              <a:t>_RCV_SEQ: 12b</a:t>
            </a:r>
            <a:r>
              <a:rPr lang="zh-CN" altLang="en-US" sz="1100" b="1" dirty="0">
                <a:gradFill>
                  <a:gsLst>
                    <a:gs pos="0">
                      <a:srgbClr val="E30000"/>
                    </a:gs>
                    <a:gs pos="100000">
                      <a:srgbClr val="760303"/>
                    </a:gs>
                  </a:gsLst>
                  <a:lin scaled="0"/>
                </a:gradFill>
              </a:rPr>
              <a:t>，初始值</a:t>
            </a:r>
            <a:r>
              <a:rPr lang="en-US" altLang="zh-CN" sz="1100" b="1" dirty="0">
                <a:gradFill>
                  <a:gsLst>
                    <a:gs pos="0">
                      <a:srgbClr val="E30000"/>
                    </a:gs>
                    <a:gs pos="100000">
                      <a:srgbClr val="760303"/>
                    </a:gs>
                  </a:gsLst>
                  <a:lin scaled="0"/>
                </a:gradFill>
              </a:rPr>
              <a:t>0</a:t>
            </a:r>
            <a:r>
              <a:rPr lang="zh-CN" altLang="en-US" sz="1100" b="1" dirty="0">
                <a:gradFill>
                  <a:gsLst>
                    <a:gs pos="0">
                      <a:srgbClr val="E30000"/>
                    </a:gs>
                    <a:gs pos="100000">
                      <a:srgbClr val="760303"/>
                    </a:gs>
                  </a:gsLst>
                  <a:lin scaled="0"/>
                </a:gradFill>
              </a:rPr>
              <a:t>，期待的下一个序号</a:t>
            </a:r>
            <a:endParaRPr lang="en-US" altLang="zh-CN" sz="1100" b="1" dirty="0">
              <a:gradFill>
                <a:gsLst>
                  <a:gs pos="0">
                    <a:srgbClr val="E30000"/>
                  </a:gs>
                  <a:gs pos="100000">
                    <a:srgbClr val="760303"/>
                  </a:gs>
                </a:gsLst>
                <a:lin scaled="0"/>
              </a:gradFill>
            </a:endParaRP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NAK_SCHEDULED Flag: </a:t>
            </a:r>
            <a:r>
              <a:rPr lang="zh-CN" altLang="en-US" sz="1100" b="1" dirty="0">
                <a:gradFill>
                  <a:gsLst>
                    <a:gs pos="0">
                      <a:srgbClr val="E30000"/>
                    </a:gs>
                    <a:gs pos="100000">
                      <a:srgbClr val="760303"/>
                    </a:gs>
                  </a:gsLst>
                  <a:lin scaled="0"/>
                </a:gradFill>
              </a:rPr>
              <a:t>产生</a:t>
            </a:r>
            <a:r>
              <a:rPr lang="en-US" altLang="zh-CN" sz="1100" b="1" dirty="0">
                <a:gradFill>
                  <a:gsLst>
                    <a:gs pos="0">
                      <a:srgbClr val="E30000"/>
                    </a:gs>
                    <a:gs pos="100000">
                      <a:srgbClr val="760303"/>
                    </a:gs>
                  </a:gsLst>
                  <a:lin scaled="0"/>
                </a:gradFill>
              </a:rPr>
              <a:t>NAK</a:t>
            </a:r>
            <a:r>
              <a:rPr lang="zh-CN" altLang="en-US" sz="1100" b="1" dirty="0">
                <a:gradFill>
                  <a:gsLst>
                    <a:gs pos="0">
                      <a:srgbClr val="E30000"/>
                    </a:gs>
                    <a:gs pos="100000">
                      <a:srgbClr val="760303"/>
                    </a:gs>
                  </a:gsLst>
                  <a:lin scaled="0"/>
                </a:gradFill>
              </a:rPr>
              <a:t>时置位，收到序号匹配的</a:t>
            </a:r>
            <a:r>
              <a:rPr lang="en-US" altLang="zh-CN" sz="1100" b="1" dirty="0">
                <a:gradFill>
                  <a:gsLst>
                    <a:gs pos="0">
                      <a:srgbClr val="E30000"/>
                    </a:gs>
                    <a:gs pos="100000">
                      <a:srgbClr val="760303"/>
                    </a:gs>
                  </a:gsLst>
                  <a:lin scaled="0"/>
                </a:gradFill>
              </a:rPr>
              <a:t>TLP</a:t>
            </a:r>
            <a:r>
              <a:rPr lang="zh-CN" altLang="en-US" sz="1100" b="1" dirty="0">
                <a:gradFill>
                  <a:gsLst>
                    <a:gs pos="0">
                      <a:srgbClr val="E30000"/>
                    </a:gs>
                    <a:gs pos="100000">
                      <a:srgbClr val="760303"/>
                    </a:gs>
                  </a:gsLst>
                  <a:lin scaled="0"/>
                </a:gradFill>
              </a:rPr>
              <a:t>时复位</a:t>
            </a:r>
            <a:endParaRPr lang="en-US" altLang="zh-CN" sz="1100" b="1" dirty="0">
              <a:gradFill>
                <a:gsLst>
                  <a:gs pos="0">
                    <a:srgbClr val="E30000"/>
                  </a:gs>
                  <a:gs pos="100000">
                    <a:srgbClr val="760303"/>
                  </a:gs>
                </a:gsLst>
                <a:lin scaled="0"/>
              </a:gradFill>
            </a:endParaRPr>
          </a:p>
          <a:p>
            <a:pPr marL="171450" indent="-171450">
              <a:buFont typeface="Arial" panose="020B0604020202020204" pitchFamily="34" charset="0"/>
              <a:buChar char="•"/>
            </a:pPr>
            <a:r>
              <a:rPr lang="en-US" altLang="zh-CN" sz="1100" b="1" dirty="0" err="1">
                <a:gradFill>
                  <a:gsLst>
                    <a:gs pos="0">
                      <a:srgbClr val="E30000"/>
                    </a:gs>
                    <a:gs pos="100000">
                      <a:srgbClr val="760303"/>
                    </a:gs>
                  </a:gsLst>
                  <a:lin scaled="0"/>
                </a:gradFill>
              </a:rPr>
              <a:t>AckNak_LATENCY_TIMER</a:t>
            </a:r>
            <a:r>
              <a:rPr lang="zh-CN" altLang="en-US" sz="1100" b="1" dirty="0">
                <a:gradFill>
                  <a:gsLst>
                    <a:gs pos="0">
                      <a:srgbClr val="E30000"/>
                    </a:gs>
                    <a:gs pos="100000">
                      <a:srgbClr val="760303"/>
                    </a:gs>
                  </a:gsLst>
                  <a:lin scaled="0"/>
                </a:gradFill>
              </a:rPr>
              <a:t>：超时后发送一个</a:t>
            </a:r>
            <a:r>
              <a:rPr lang="en-US" altLang="zh-CN" sz="1100" b="1" dirty="0">
                <a:gradFill>
                  <a:gsLst>
                    <a:gs pos="0">
                      <a:srgbClr val="E30000"/>
                    </a:gs>
                    <a:gs pos="100000">
                      <a:srgbClr val="760303"/>
                    </a:gs>
                  </a:gsLst>
                  <a:lin scaled="0"/>
                </a:gradFill>
              </a:rPr>
              <a:t>ACK</a:t>
            </a: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ACK</a:t>
            </a:r>
            <a:r>
              <a:rPr lang="zh-CN" altLang="en-US" sz="1100" b="1" dirty="0">
                <a:gradFill>
                  <a:gsLst>
                    <a:gs pos="0">
                      <a:srgbClr val="E30000"/>
                    </a:gs>
                    <a:gs pos="100000">
                      <a:srgbClr val="760303"/>
                    </a:gs>
                  </a:gsLst>
                  <a:lin scaled="0"/>
                </a:gradFill>
              </a:rPr>
              <a:t>和</a:t>
            </a:r>
            <a:r>
              <a:rPr lang="en-US" altLang="zh-CN" sz="1100" b="1" dirty="0">
                <a:gradFill>
                  <a:gsLst>
                    <a:gs pos="0">
                      <a:srgbClr val="E30000"/>
                    </a:gs>
                    <a:gs pos="100000">
                      <a:srgbClr val="760303"/>
                    </a:gs>
                  </a:gsLst>
                  <a:lin scaled="0"/>
                </a:gradFill>
              </a:rPr>
              <a:t>NAK</a:t>
            </a:r>
            <a:r>
              <a:rPr lang="zh-CN" altLang="en-US" sz="1100" b="1" dirty="0">
                <a:gradFill>
                  <a:gsLst>
                    <a:gs pos="0">
                      <a:srgbClr val="E30000"/>
                    </a:gs>
                    <a:gs pos="100000">
                      <a:srgbClr val="760303"/>
                    </a:gs>
                  </a:gsLst>
                  <a:lin scaled="0"/>
                </a:gradFill>
              </a:rPr>
              <a:t>携带的序号都是确认正确的序号，区别在于</a:t>
            </a:r>
            <a:r>
              <a:rPr lang="en-US" altLang="zh-CN" sz="1100" b="1" dirty="0">
                <a:gradFill>
                  <a:gsLst>
                    <a:gs pos="0">
                      <a:srgbClr val="E30000"/>
                    </a:gs>
                    <a:gs pos="100000">
                      <a:srgbClr val="760303"/>
                    </a:gs>
                  </a:gsLst>
                  <a:lin scaled="0"/>
                </a:gradFill>
              </a:rPr>
              <a:t>NAK</a:t>
            </a:r>
            <a:r>
              <a:rPr lang="zh-CN" altLang="en-US" sz="1100" b="1" dirty="0">
                <a:gradFill>
                  <a:gsLst>
                    <a:gs pos="0">
                      <a:srgbClr val="E30000"/>
                    </a:gs>
                    <a:gs pos="100000">
                      <a:srgbClr val="760303"/>
                    </a:gs>
                  </a:gsLst>
                  <a:lin scaled="0"/>
                </a:gradFill>
              </a:rPr>
              <a:t>序号下一个已证明是错的；</a:t>
            </a:r>
            <a:endParaRPr lang="en-US" altLang="zh-CN" sz="1100" b="1" dirty="0">
              <a:gradFill>
                <a:gsLst>
                  <a:gs pos="0">
                    <a:srgbClr val="E30000"/>
                  </a:gs>
                  <a:gs pos="100000">
                    <a:srgbClr val="760303"/>
                  </a:gs>
                </a:gsLst>
                <a:lin scaled="0"/>
              </a:gradFill>
            </a:endParaRPr>
          </a:p>
        </p:txBody>
      </p:sp>
      <p:pic>
        <p:nvPicPr>
          <p:cNvPr id="9" name="图片 8"/>
          <p:cNvPicPr>
            <a:picLocks noChangeAspect="1"/>
          </p:cNvPicPr>
          <p:nvPr/>
        </p:nvPicPr>
        <p:blipFill>
          <a:blip r:embed="rId11"/>
          <a:stretch>
            <a:fillRect/>
          </a:stretch>
        </p:blipFill>
        <p:spPr>
          <a:xfrm>
            <a:off x="4014978" y="5405038"/>
            <a:ext cx="3394720" cy="863754"/>
          </a:xfrm>
          <a:prstGeom prst="rect">
            <a:avLst/>
          </a:prstGeom>
        </p:spPr>
      </p:pic>
      <p:sp>
        <p:nvSpPr>
          <p:cNvPr id="10" name="文本框 9"/>
          <p:cNvSpPr txBox="1"/>
          <p:nvPr/>
        </p:nvSpPr>
        <p:spPr>
          <a:xfrm>
            <a:off x="5436096" y="6135426"/>
            <a:ext cx="2880320" cy="276999"/>
          </a:xfrm>
          <a:prstGeom prst="rect">
            <a:avLst/>
          </a:prstGeom>
          <a:noFill/>
        </p:spPr>
        <p:txBody>
          <a:bodyPr wrap="square" rtlCol="0" anchor="t">
            <a:spAutoFit/>
          </a:bodyPr>
          <a:lstStyle/>
          <a:p>
            <a:r>
              <a:rPr lang="zh-CN" altLang="en-US" sz="1200" dirty="0">
                <a:highlight>
                  <a:srgbClr val="FFFF00"/>
                </a:highlight>
              </a:rPr>
              <a:t>序号比较规则：是重复的，还是乱序的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10"/>
          <a:stretch>
            <a:fillRect/>
          </a:stretch>
        </p:blipFill>
        <p:spPr>
          <a:xfrm>
            <a:off x="107315" y="548640"/>
            <a:ext cx="3019425" cy="2195830"/>
          </a:xfrm>
          <a:prstGeom prst="rect">
            <a:avLst/>
          </a:prstGeom>
        </p:spPr>
      </p:pic>
      <p:sp>
        <p:nvSpPr>
          <p:cNvPr id="7" name="标题 6"/>
          <p:cNvSpPr>
            <a:spLocks noGrp="1"/>
          </p:cNvSpPr>
          <p:nvPr>
            <p:ph type="title"/>
            <p:custDataLst>
              <p:tags r:id="rId2"/>
            </p:custDataLst>
          </p:nvPr>
        </p:nvSpPr>
        <p:spPr>
          <a:xfrm>
            <a:off x="107315" y="93980"/>
            <a:ext cx="8508365" cy="461010"/>
          </a:xfrm>
        </p:spPr>
        <p:txBody>
          <a:bodyPr/>
          <a:lstStyle/>
          <a:p>
            <a:pPr algn="l"/>
            <a:r>
              <a:rPr lang="zh-CN" altLang="en-US" sz="2800" dirty="0">
                <a:gradFill>
                  <a:gsLst>
                    <a:gs pos="0">
                      <a:srgbClr val="E30000"/>
                    </a:gs>
                    <a:gs pos="100000">
                      <a:srgbClr val="760303"/>
                    </a:gs>
                  </a:gsLst>
                  <a:lin scaled="0"/>
                </a:gradFill>
              </a:rPr>
              <a:t>数据链路层：</a:t>
            </a:r>
            <a:r>
              <a:rPr lang="en-US" altLang="zh-CN" sz="2800" dirty="0">
                <a:gradFill>
                  <a:gsLst>
                    <a:gs pos="0">
                      <a:srgbClr val="E30000"/>
                    </a:gs>
                    <a:gs pos="100000">
                      <a:srgbClr val="760303"/>
                    </a:gs>
                  </a:gsLst>
                  <a:lin scaled="0"/>
                </a:gradFill>
              </a:rPr>
              <a:t>ACK/NACK</a:t>
            </a:r>
            <a:r>
              <a:rPr lang="zh-CN" altLang="en-US" sz="2800" dirty="0">
                <a:gradFill>
                  <a:gsLst>
                    <a:gs pos="0">
                      <a:srgbClr val="E30000"/>
                    </a:gs>
                    <a:gs pos="100000">
                      <a:srgbClr val="760303"/>
                    </a:gs>
                  </a:gsLst>
                  <a:lin scaled="0"/>
                </a:gradFill>
              </a:rPr>
              <a:t>举例</a:t>
            </a:r>
          </a:p>
        </p:txBody>
      </p:sp>
      <p:pic>
        <p:nvPicPr>
          <p:cNvPr id="5" name="图片 4"/>
          <p:cNvPicPr>
            <a:picLocks noChangeAspect="1"/>
          </p:cNvPicPr>
          <p:nvPr>
            <p:custDataLst>
              <p:tags r:id="rId3"/>
            </p:custDataLst>
          </p:nvPr>
        </p:nvPicPr>
        <p:blipFill>
          <a:blip r:embed="rId11"/>
          <a:stretch>
            <a:fillRect/>
          </a:stretch>
        </p:blipFill>
        <p:spPr>
          <a:xfrm>
            <a:off x="107315" y="2708910"/>
            <a:ext cx="3019425" cy="2286000"/>
          </a:xfrm>
          <a:prstGeom prst="rect">
            <a:avLst/>
          </a:prstGeom>
        </p:spPr>
      </p:pic>
      <p:pic>
        <p:nvPicPr>
          <p:cNvPr id="6" name="图片 5"/>
          <p:cNvPicPr>
            <a:picLocks noChangeAspect="1"/>
          </p:cNvPicPr>
          <p:nvPr>
            <p:custDataLst>
              <p:tags r:id="rId4"/>
            </p:custDataLst>
          </p:nvPr>
        </p:nvPicPr>
        <p:blipFill>
          <a:blip r:embed="rId12"/>
          <a:stretch>
            <a:fillRect/>
          </a:stretch>
        </p:blipFill>
        <p:spPr>
          <a:xfrm>
            <a:off x="3203575" y="573405"/>
            <a:ext cx="3020060" cy="2135505"/>
          </a:xfrm>
          <a:prstGeom prst="rect">
            <a:avLst/>
          </a:prstGeom>
        </p:spPr>
      </p:pic>
      <p:pic>
        <p:nvPicPr>
          <p:cNvPr id="8" name="图片 7"/>
          <p:cNvPicPr>
            <a:picLocks noChangeAspect="1"/>
          </p:cNvPicPr>
          <p:nvPr>
            <p:custDataLst>
              <p:tags r:id="rId5"/>
            </p:custDataLst>
          </p:nvPr>
        </p:nvPicPr>
        <p:blipFill>
          <a:blip r:embed="rId13"/>
          <a:stretch>
            <a:fillRect/>
          </a:stretch>
        </p:blipFill>
        <p:spPr>
          <a:xfrm>
            <a:off x="3203575" y="2727325"/>
            <a:ext cx="3020060" cy="2305050"/>
          </a:xfrm>
          <a:prstGeom prst="rect">
            <a:avLst/>
          </a:prstGeom>
        </p:spPr>
      </p:pic>
      <p:pic>
        <p:nvPicPr>
          <p:cNvPr id="9" name="图片 8"/>
          <p:cNvPicPr>
            <a:picLocks noChangeAspect="1"/>
          </p:cNvPicPr>
          <p:nvPr>
            <p:custDataLst>
              <p:tags r:id="rId6"/>
            </p:custDataLst>
          </p:nvPr>
        </p:nvPicPr>
        <p:blipFill>
          <a:blip r:embed="rId14"/>
          <a:stretch>
            <a:fillRect/>
          </a:stretch>
        </p:blipFill>
        <p:spPr>
          <a:xfrm>
            <a:off x="6299835" y="620395"/>
            <a:ext cx="2779395" cy="1776095"/>
          </a:xfrm>
          <a:prstGeom prst="rect">
            <a:avLst/>
          </a:prstGeom>
        </p:spPr>
      </p:pic>
      <p:pic>
        <p:nvPicPr>
          <p:cNvPr id="10" name="图片 9"/>
          <p:cNvPicPr>
            <a:picLocks noChangeAspect="1"/>
          </p:cNvPicPr>
          <p:nvPr>
            <p:custDataLst>
              <p:tags r:id="rId7"/>
            </p:custDataLst>
          </p:nvPr>
        </p:nvPicPr>
        <p:blipFill>
          <a:blip r:embed="rId15"/>
          <a:stretch>
            <a:fillRect/>
          </a:stretch>
        </p:blipFill>
        <p:spPr>
          <a:xfrm>
            <a:off x="6300470" y="2780665"/>
            <a:ext cx="2834640" cy="2176145"/>
          </a:xfrm>
          <a:prstGeom prst="rect">
            <a:avLst/>
          </a:prstGeom>
        </p:spPr>
      </p:pic>
      <p:pic>
        <p:nvPicPr>
          <p:cNvPr id="11" name="图片 10"/>
          <p:cNvPicPr>
            <a:picLocks noChangeAspect="1"/>
          </p:cNvPicPr>
          <p:nvPr>
            <p:custDataLst>
              <p:tags r:id="rId8"/>
            </p:custDataLst>
          </p:nvPr>
        </p:nvPicPr>
        <p:blipFill>
          <a:blip r:embed="rId16"/>
          <a:stretch>
            <a:fillRect/>
          </a:stretch>
        </p:blipFill>
        <p:spPr>
          <a:xfrm>
            <a:off x="107315" y="5050790"/>
            <a:ext cx="4930140" cy="1803400"/>
          </a:xfrm>
          <a:prstGeom prst="rect">
            <a:avLst/>
          </a:prstGeom>
        </p:spPr>
      </p:pic>
      <p:sp>
        <p:nvSpPr>
          <p:cNvPr id="12" name="文本框 11"/>
          <p:cNvSpPr txBox="1"/>
          <p:nvPr/>
        </p:nvSpPr>
        <p:spPr>
          <a:xfrm>
            <a:off x="5075555" y="5156835"/>
            <a:ext cx="3982720" cy="829945"/>
          </a:xfrm>
          <a:prstGeom prst="rect">
            <a:avLst/>
          </a:prstGeom>
          <a:noFill/>
        </p:spPr>
        <p:txBody>
          <a:bodyPr wrap="square" rtlCol="0" anchor="t">
            <a:spAutoFit/>
          </a:bodyPr>
          <a:lstStyle/>
          <a:p>
            <a:r>
              <a:rPr lang="zh-CN" altLang="en-US" sz="1200" dirty="0">
                <a:highlight>
                  <a:srgbClr val="FFFF00"/>
                </a:highlight>
              </a:rPr>
              <a:t>Cut</a:t>
            </a:r>
            <a:r>
              <a:rPr lang="en-US" altLang="zh-CN" sz="1200" dirty="0">
                <a:highlight>
                  <a:srgbClr val="FFFF00"/>
                </a:highlight>
              </a:rPr>
              <a:t>-</a:t>
            </a:r>
            <a:r>
              <a:rPr lang="zh-CN" altLang="en-US" sz="1200" dirty="0">
                <a:highlight>
                  <a:srgbClr val="FFFF00"/>
                </a:highlight>
              </a:rPr>
              <a:t>though mode provides the solution to the forwarding problem described in</a:t>
            </a:r>
            <a:r>
              <a:rPr lang="en-US" altLang="zh-CN" sz="1200" dirty="0">
                <a:highlight>
                  <a:srgbClr val="FFFF00"/>
                </a:highlight>
              </a:rPr>
              <a:t> </a:t>
            </a:r>
            <a:r>
              <a:rPr lang="zh-CN" altLang="en-US" sz="1200" dirty="0">
                <a:highlight>
                  <a:srgbClr val="FFFF00"/>
                </a:highlight>
              </a:rPr>
              <a:t>the previous section: if an error is seen in the incoming packet, the packet that is</a:t>
            </a:r>
            <a:r>
              <a:rPr lang="en-US" altLang="zh-CN" sz="1200" dirty="0">
                <a:highlight>
                  <a:srgbClr val="FFFF00"/>
                </a:highlight>
              </a:rPr>
              <a:t> </a:t>
            </a:r>
            <a:r>
              <a:rPr lang="zh-CN" altLang="en-US" sz="1200" dirty="0">
                <a:highlight>
                  <a:srgbClr val="FFFF00"/>
                </a:highlight>
              </a:rPr>
              <a:t>already on its way out must be ‘nullified’</a:t>
            </a:r>
          </a:p>
        </p:txBody>
      </p:sp>
      <p:sp>
        <p:nvSpPr>
          <p:cNvPr id="13" name="文本框 12"/>
          <p:cNvSpPr txBox="1"/>
          <p:nvPr/>
        </p:nvSpPr>
        <p:spPr>
          <a:xfrm>
            <a:off x="5075555" y="6021070"/>
            <a:ext cx="4087495" cy="645160"/>
          </a:xfrm>
          <a:prstGeom prst="rect">
            <a:avLst/>
          </a:prstGeom>
          <a:noFill/>
        </p:spPr>
        <p:txBody>
          <a:bodyPr wrap="square" rtlCol="0" anchor="t">
            <a:spAutoFit/>
          </a:bodyPr>
          <a:lstStyle/>
          <a:p>
            <a:r>
              <a:rPr lang="zh-CN" altLang="en-US" sz="1200">
                <a:highlight>
                  <a:srgbClr val="FFFF00"/>
                </a:highlight>
              </a:rPr>
              <a:t>On the</a:t>
            </a:r>
            <a:r>
              <a:rPr lang="en-US" altLang="zh-CN" sz="1200">
                <a:highlight>
                  <a:srgbClr val="FFFF00"/>
                </a:highlight>
              </a:rPr>
              <a:t> </a:t>
            </a:r>
            <a:r>
              <a:rPr lang="zh-CN" altLang="en-US" sz="1200">
                <a:highlight>
                  <a:srgbClr val="FFFF00"/>
                </a:highlight>
              </a:rPr>
              <a:t>Switch Egress Port, that means the replay buffer discards the packet and the</a:t>
            </a:r>
            <a:r>
              <a:rPr lang="en-US" altLang="zh-CN" sz="1200">
                <a:highlight>
                  <a:srgbClr val="FFFF00"/>
                </a:highlight>
              </a:rPr>
              <a:t> </a:t>
            </a:r>
            <a:r>
              <a:rPr lang="zh-CN" altLang="en-US" sz="1200">
                <a:highlight>
                  <a:srgbClr val="FFFF00"/>
                </a:highlight>
              </a:rPr>
              <a:t> NEXT_TRANSMIT_SEQ counter is decremented by one (rolled back).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olidFill>
                  <a:srgbClr val="C00000"/>
                </a:solidFill>
              </a:rPr>
              <a:t>TLP</a:t>
            </a:r>
            <a:r>
              <a:rPr lang="zh-CN" altLang="en-US" dirty="0">
                <a:solidFill>
                  <a:srgbClr val="C00000"/>
                </a:solidFill>
              </a:rPr>
              <a:t>格式</a:t>
            </a:r>
            <a:endParaRPr lang="en-US" altLang="zh-CN" dirty="0">
              <a:solidFill>
                <a:srgbClr val="C00000"/>
              </a:solidFill>
            </a:endParaRPr>
          </a:p>
          <a:p>
            <a:r>
              <a:rPr lang="zh-CN" altLang="en-US" dirty="0">
                <a:solidFill>
                  <a:srgbClr val="C00000"/>
                </a:solidFill>
              </a:rPr>
              <a:t>流控</a:t>
            </a:r>
            <a:endParaRPr lang="en-US" altLang="zh-CN" dirty="0">
              <a:solidFill>
                <a:srgbClr val="C00000"/>
              </a:solidFill>
            </a:endParaRPr>
          </a:p>
          <a:p>
            <a:r>
              <a:rPr lang="en-US" altLang="zh-CN" dirty="0">
                <a:solidFill>
                  <a:srgbClr val="C00000"/>
                </a:solidFill>
              </a:rPr>
              <a:t>QOS</a:t>
            </a:r>
          </a:p>
          <a:p>
            <a:r>
              <a:rPr lang="zh-CN" altLang="en-US" dirty="0">
                <a:solidFill>
                  <a:srgbClr val="C00000"/>
                </a:solidFill>
              </a:rPr>
              <a:t>事务的序</a:t>
            </a:r>
          </a:p>
        </p:txBody>
      </p:sp>
      <p:sp>
        <p:nvSpPr>
          <p:cNvPr id="4" name="标题 6"/>
          <p:cNvSpPr>
            <a:spLocks noGrp="1"/>
          </p:cNvSpPr>
          <p:nvPr>
            <p:ph type="title"/>
            <p:custDataLst>
              <p:tags r:id="rId1"/>
            </p:custDataLst>
          </p:nvPr>
        </p:nvSpPr>
        <p:spPr>
          <a:xfrm>
            <a:off x="107504" y="188640"/>
            <a:ext cx="8508365" cy="461010"/>
          </a:xfrm>
        </p:spPr>
        <p:txBody>
          <a:bodyPr/>
          <a:lstStyle/>
          <a:p>
            <a:pPr algn="l"/>
            <a:r>
              <a:rPr lang="zh-CN" altLang="en-US" sz="3600" dirty="0">
                <a:gradFill>
                  <a:gsLst>
                    <a:gs pos="0">
                      <a:srgbClr val="E30000"/>
                    </a:gs>
                    <a:gs pos="100000">
                      <a:srgbClr val="760303"/>
                    </a:gs>
                  </a:gsLst>
                  <a:lin scaled="0"/>
                </a:gradFill>
              </a:rPr>
              <a:t>事务层</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TLP</a:t>
            </a:r>
            <a:r>
              <a:rPr lang="zh-CN" altLang="en-US" sz="2800" dirty="0">
                <a:gradFill>
                  <a:gsLst>
                    <a:gs pos="0">
                      <a:srgbClr val="E30000"/>
                    </a:gs>
                    <a:gs pos="100000">
                      <a:srgbClr val="760303"/>
                    </a:gs>
                  </a:gsLst>
                  <a:lin scaled="0"/>
                </a:gradFill>
              </a:rPr>
              <a:t>前缀</a:t>
            </a:r>
          </a:p>
        </p:txBody>
      </p:sp>
      <p:pic>
        <p:nvPicPr>
          <p:cNvPr id="4" name="图片 3"/>
          <p:cNvPicPr>
            <a:picLocks noChangeAspect="1"/>
          </p:cNvPicPr>
          <p:nvPr/>
        </p:nvPicPr>
        <p:blipFill>
          <a:blip r:embed="rId3"/>
          <a:stretch>
            <a:fillRect/>
          </a:stretch>
        </p:blipFill>
        <p:spPr>
          <a:xfrm>
            <a:off x="323528" y="1052736"/>
            <a:ext cx="7704856" cy="1157850"/>
          </a:xfrm>
          <a:prstGeom prst="rect">
            <a:avLst/>
          </a:prstGeom>
        </p:spPr>
      </p:pic>
      <p:sp>
        <p:nvSpPr>
          <p:cNvPr id="7" name="文本框 6"/>
          <p:cNvSpPr txBox="1"/>
          <p:nvPr/>
        </p:nvSpPr>
        <p:spPr>
          <a:xfrm>
            <a:off x="797101" y="2492896"/>
            <a:ext cx="7128792" cy="1200329"/>
          </a:xfrm>
          <a:prstGeom prst="rect">
            <a:avLst/>
          </a:prstGeom>
          <a:noFill/>
        </p:spPr>
        <p:txBody>
          <a:bodyPr wrap="square">
            <a:spAutoFit/>
          </a:bodyPr>
          <a:lstStyle/>
          <a:p>
            <a:r>
              <a:rPr lang="en-US" altLang="zh-CN" b="0" i="0" dirty="0">
                <a:solidFill>
                  <a:srgbClr val="191B1F"/>
                </a:solidFill>
                <a:effectLst/>
                <a:latin typeface="-apple-system"/>
              </a:rPr>
              <a:t>TLP Prefix</a:t>
            </a:r>
            <a:r>
              <a:rPr lang="zh-CN" altLang="en-US" b="0" i="0" dirty="0">
                <a:solidFill>
                  <a:srgbClr val="191B1F"/>
                </a:solidFill>
                <a:effectLst/>
                <a:latin typeface="-apple-system"/>
              </a:rPr>
              <a:t>与</a:t>
            </a:r>
            <a:r>
              <a:rPr lang="en-US" altLang="zh-CN" b="0" i="0" dirty="0">
                <a:solidFill>
                  <a:srgbClr val="191B1F"/>
                </a:solidFill>
                <a:effectLst/>
                <a:latin typeface="-apple-system"/>
              </a:rPr>
              <a:t>Header</a:t>
            </a:r>
            <a:r>
              <a:rPr lang="zh-CN" altLang="en-US" b="0" i="0" dirty="0">
                <a:solidFill>
                  <a:srgbClr val="191B1F"/>
                </a:solidFill>
                <a:effectLst/>
                <a:latin typeface="-apple-system"/>
              </a:rPr>
              <a:t>一样有</a:t>
            </a:r>
            <a:r>
              <a:rPr lang="en-US" altLang="zh-CN" b="0" i="0" dirty="0" err="1">
                <a:solidFill>
                  <a:srgbClr val="191B1F"/>
                </a:solidFill>
                <a:effectLst/>
                <a:latin typeface="-apple-system"/>
              </a:rPr>
              <a:t>Fmt</a:t>
            </a:r>
            <a:r>
              <a:rPr lang="zh-CN" altLang="en-US" b="0" i="0" dirty="0">
                <a:solidFill>
                  <a:srgbClr val="191B1F"/>
                </a:solidFill>
                <a:effectLst/>
                <a:latin typeface="-apple-system"/>
              </a:rPr>
              <a:t>和</a:t>
            </a:r>
            <a:r>
              <a:rPr lang="en-US" altLang="zh-CN" b="0" i="0" dirty="0">
                <a:solidFill>
                  <a:srgbClr val="191B1F"/>
                </a:solidFill>
                <a:effectLst/>
                <a:latin typeface="-apple-system"/>
              </a:rPr>
              <a:t>Type</a:t>
            </a:r>
            <a:r>
              <a:rPr lang="zh-CN" altLang="en-US" b="0" i="0" dirty="0">
                <a:solidFill>
                  <a:srgbClr val="191B1F"/>
                </a:solidFill>
                <a:effectLst/>
                <a:latin typeface="-apple-system"/>
              </a:rPr>
              <a:t>两个字段，从而可以通过选择增加</a:t>
            </a:r>
            <a:r>
              <a:rPr lang="en-US" altLang="zh-CN" b="0" i="0" dirty="0">
                <a:solidFill>
                  <a:srgbClr val="191B1F"/>
                </a:solidFill>
                <a:effectLst/>
                <a:latin typeface="-apple-system"/>
              </a:rPr>
              <a:t>prefix</a:t>
            </a:r>
            <a:r>
              <a:rPr lang="zh-CN" altLang="en-US" b="0" i="0" dirty="0">
                <a:solidFill>
                  <a:srgbClr val="191B1F"/>
                </a:solidFill>
                <a:effectLst/>
                <a:latin typeface="-apple-system"/>
              </a:rPr>
              <a:t>数据段。</a:t>
            </a:r>
            <a:r>
              <a:rPr lang="en-US" altLang="zh-CN" b="0" i="0" dirty="0">
                <a:solidFill>
                  <a:srgbClr val="191B1F"/>
                </a:solidFill>
                <a:effectLst/>
                <a:latin typeface="-apple-system"/>
              </a:rPr>
              <a:t>TLP Prefix</a:t>
            </a:r>
            <a:r>
              <a:rPr lang="zh-CN" altLang="en-US" b="0" i="0" dirty="0">
                <a:solidFill>
                  <a:srgbClr val="191B1F"/>
                </a:solidFill>
                <a:effectLst/>
                <a:latin typeface="-apple-system"/>
              </a:rPr>
              <a:t>由</a:t>
            </a:r>
            <a:r>
              <a:rPr lang="en-US" altLang="zh-CN" b="0" i="0" dirty="0">
                <a:solidFill>
                  <a:srgbClr val="191B1F"/>
                </a:solidFill>
                <a:effectLst/>
                <a:latin typeface="-apple-system"/>
              </a:rPr>
              <a:t>PCIe V2.1</a:t>
            </a:r>
            <a:r>
              <a:rPr lang="zh-CN" altLang="en-US" b="0" i="0" dirty="0">
                <a:solidFill>
                  <a:srgbClr val="191B1F"/>
                </a:solidFill>
                <a:effectLst/>
                <a:latin typeface="-apple-system"/>
              </a:rPr>
              <a:t>引入，实现方法为通过在</a:t>
            </a:r>
            <a:r>
              <a:rPr lang="en-US" altLang="zh-CN" b="0" i="0" dirty="0">
                <a:solidFill>
                  <a:srgbClr val="191B1F"/>
                </a:solidFill>
                <a:effectLst/>
                <a:latin typeface="-apple-system"/>
              </a:rPr>
              <a:t>TLP Header</a:t>
            </a:r>
            <a:r>
              <a:rPr lang="zh-CN" altLang="en-US" b="0" i="0" dirty="0">
                <a:solidFill>
                  <a:srgbClr val="191B1F"/>
                </a:solidFill>
                <a:effectLst/>
                <a:latin typeface="-apple-system"/>
              </a:rPr>
              <a:t>之前附加</a:t>
            </a:r>
            <a:r>
              <a:rPr lang="en-US" altLang="zh-CN" b="0" i="0" dirty="0">
                <a:solidFill>
                  <a:srgbClr val="191B1F"/>
                </a:solidFill>
                <a:effectLst/>
                <a:latin typeface="-apple-system"/>
              </a:rPr>
              <a:t>1</a:t>
            </a:r>
            <a:r>
              <a:rPr lang="zh-CN" altLang="en-US" b="0" i="0" dirty="0">
                <a:solidFill>
                  <a:srgbClr val="191B1F"/>
                </a:solidFill>
                <a:effectLst/>
                <a:latin typeface="-apple-system"/>
              </a:rPr>
              <a:t>或多个</a:t>
            </a:r>
            <a:r>
              <a:rPr lang="en-US" altLang="zh-CN" b="0" i="0" dirty="0">
                <a:solidFill>
                  <a:srgbClr val="191B1F"/>
                </a:solidFill>
                <a:effectLst/>
                <a:latin typeface="-apple-system"/>
              </a:rPr>
              <a:t>DW</a:t>
            </a:r>
            <a:r>
              <a:rPr lang="zh-CN" altLang="en-US" b="0" i="0" dirty="0">
                <a:solidFill>
                  <a:srgbClr val="191B1F"/>
                </a:solidFill>
                <a:effectLst/>
                <a:latin typeface="-apple-system"/>
              </a:rPr>
              <a:t>的前缀数据来使</a:t>
            </a:r>
            <a:r>
              <a:rPr lang="en-US" altLang="zh-CN" b="0" i="0" dirty="0">
                <a:solidFill>
                  <a:srgbClr val="191B1F"/>
                </a:solidFill>
                <a:effectLst/>
                <a:latin typeface="-apple-system"/>
              </a:rPr>
              <a:t>TLP</a:t>
            </a:r>
            <a:r>
              <a:rPr lang="zh-CN" altLang="en-US" b="0" i="0" dirty="0">
                <a:solidFill>
                  <a:srgbClr val="191B1F"/>
                </a:solidFill>
                <a:effectLst/>
                <a:latin typeface="-apple-system"/>
              </a:rPr>
              <a:t>携带更多额外的信息，从而实现</a:t>
            </a:r>
            <a:r>
              <a:rPr lang="en-US" altLang="zh-CN" b="0" i="0" dirty="0">
                <a:solidFill>
                  <a:srgbClr val="191B1F"/>
                </a:solidFill>
                <a:effectLst/>
                <a:latin typeface="-apple-system"/>
              </a:rPr>
              <a:t>TLP PH</a:t>
            </a:r>
            <a:r>
              <a:rPr lang="zh-CN" altLang="en-US" b="0" i="0" dirty="0">
                <a:solidFill>
                  <a:srgbClr val="191B1F"/>
                </a:solidFill>
                <a:effectLst/>
                <a:latin typeface="-apple-system"/>
              </a:rPr>
              <a:t>、</a:t>
            </a:r>
            <a:r>
              <a:rPr lang="en-US" altLang="zh-CN" b="0" i="0" dirty="0">
                <a:solidFill>
                  <a:srgbClr val="191B1F"/>
                </a:solidFill>
                <a:effectLst/>
                <a:latin typeface="-apple-system"/>
              </a:rPr>
              <a:t>PASID</a:t>
            </a:r>
            <a:r>
              <a:rPr lang="zh-CN" altLang="en-US" b="0" i="0" dirty="0">
                <a:solidFill>
                  <a:srgbClr val="191B1F"/>
                </a:solidFill>
                <a:effectLst/>
                <a:latin typeface="-apple-system"/>
              </a:rPr>
              <a:t>、</a:t>
            </a:r>
            <a:r>
              <a:rPr lang="en-US" altLang="zh-CN" b="0" i="0" dirty="0">
                <a:solidFill>
                  <a:srgbClr val="191B1F"/>
                </a:solidFill>
                <a:effectLst/>
                <a:latin typeface="-apple-system"/>
              </a:rPr>
              <a:t>MR-IOV</a:t>
            </a:r>
            <a:r>
              <a:rPr lang="zh-CN" altLang="en-US" b="0" i="0" dirty="0">
                <a:solidFill>
                  <a:srgbClr val="191B1F"/>
                </a:solidFill>
                <a:effectLst/>
                <a:latin typeface="-apple-system"/>
              </a:rPr>
              <a:t>及其他</a:t>
            </a:r>
            <a:r>
              <a:rPr lang="en-US" altLang="zh-CN" b="0" i="0" dirty="0" err="1">
                <a:solidFill>
                  <a:srgbClr val="191B1F"/>
                </a:solidFill>
                <a:effectLst/>
                <a:latin typeface="-apple-system"/>
              </a:rPr>
              <a:t>verndor</a:t>
            </a:r>
            <a:r>
              <a:rPr lang="zh-CN" altLang="en-US" b="0" i="0" dirty="0">
                <a:solidFill>
                  <a:srgbClr val="191B1F"/>
                </a:solidFill>
                <a:effectLst/>
                <a:latin typeface="-apple-system"/>
              </a:rPr>
              <a:t>自定义的功能。</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TLP</a:t>
            </a:r>
            <a:r>
              <a:rPr lang="zh-CN" altLang="en-US" sz="2800" dirty="0">
                <a:gradFill>
                  <a:gsLst>
                    <a:gs pos="0">
                      <a:srgbClr val="E30000"/>
                    </a:gs>
                    <a:gs pos="100000">
                      <a:srgbClr val="760303"/>
                    </a:gs>
                  </a:gsLst>
                  <a:lin scaled="0"/>
                </a:gradFill>
              </a:rPr>
              <a:t>格式</a:t>
            </a:r>
          </a:p>
        </p:txBody>
      </p:sp>
      <p:pic>
        <p:nvPicPr>
          <p:cNvPr id="6" name="图片 5"/>
          <p:cNvPicPr>
            <a:picLocks noChangeAspect="1"/>
          </p:cNvPicPr>
          <p:nvPr/>
        </p:nvPicPr>
        <p:blipFill>
          <a:blip r:embed="rId3"/>
          <a:stretch>
            <a:fillRect/>
          </a:stretch>
        </p:blipFill>
        <p:spPr>
          <a:xfrm>
            <a:off x="47718" y="667216"/>
            <a:ext cx="3867544" cy="2371994"/>
          </a:xfrm>
          <a:prstGeom prst="rect">
            <a:avLst/>
          </a:prstGeom>
        </p:spPr>
      </p:pic>
      <p:pic>
        <p:nvPicPr>
          <p:cNvPr id="8" name="图片 7"/>
          <p:cNvPicPr>
            <a:picLocks noChangeAspect="1"/>
          </p:cNvPicPr>
          <p:nvPr/>
        </p:nvPicPr>
        <p:blipFill>
          <a:blip r:embed="rId4"/>
          <a:stretch>
            <a:fillRect/>
          </a:stretch>
        </p:blipFill>
        <p:spPr>
          <a:xfrm>
            <a:off x="431986" y="3039206"/>
            <a:ext cx="2897181" cy="3429000"/>
          </a:xfrm>
          <a:prstGeom prst="rect">
            <a:avLst/>
          </a:prstGeom>
        </p:spPr>
      </p:pic>
      <p:pic>
        <p:nvPicPr>
          <p:cNvPr id="10" name="图片 9"/>
          <p:cNvPicPr>
            <a:picLocks noChangeAspect="1"/>
          </p:cNvPicPr>
          <p:nvPr/>
        </p:nvPicPr>
        <p:blipFill>
          <a:blip r:embed="rId5"/>
          <a:stretch>
            <a:fillRect/>
          </a:stretch>
        </p:blipFill>
        <p:spPr>
          <a:xfrm>
            <a:off x="3892304" y="289764"/>
            <a:ext cx="2821424" cy="2703739"/>
          </a:xfrm>
          <a:prstGeom prst="rect">
            <a:avLst/>
          </a:prstGeom>
        </p:spPr>
      </p:pic>
      <p:pic>
        <p:nvPicPr>
          <p:cNvPr id="12" name="图片 11"/>
          <p:cNvPicPr>
            <a:picLocks noChangeAspect="1"/>
          </p:cNvPicPr>
          <p:nvPr/>
        </p:nvPicPr>
        <p:blipFill>
          <a:blip r:embed="rId6"/>
          <a:stretch>
            <a:fillRect/>
          </a:stretch>
        </p:blipFill>
        <p:spPr>
          <a:xfrm>
            <a:off x="3418646" y="3139236"/>
            <a:ext cx="3295082" cy="3429000"/>
          </a:xfrm>
          <a:prstGeom prst="rect">
            <a:avLst/>
          </a:prstGeom>
        </p:spPr>
      </p:pic>
      <p:pic>
        <p:nvPicPr>
          <p:cNvPr id="14" name="图片 13"/>
          <p:cNvPicPr>
            <a:picLocks noChangeAspect="1"/>
          </p:cNvPicPr>
          <p:nvPr/>
        </p:nvPicPr>
        <p:blipFill>
          <a:blip r:embed="rId7"/>
          <a:stretch>
            <a:fillRect/>
          </a:stretch>
        </p:blipFill>
        <p:spPr>
          <a:xfrm>
            <a:off x="6767662" y="1478393"/>
            <a:ext cx="2376351" cy="3429000"/>
          </a:xfrm>
          <a:prstGeom prst="rect">
            <a:avLst/>
          </a:prstGeom>
        </p:spPr>
      </p:pic>
      <p:pic>
        <p:nvPicPr>
          <p:cNvPr id="16" name="图片 15"/>
          <p:cNvPicPr>
            <a:picLocks noChangeAspect="1"/>
          </p:cNvPicPr>
          <p:nvPr/>
        </p:nvPicPr>
        <p:blipFill>
          <a:blip r:embed="rId8"/>
          <a:stretch>
            <a:fillRect/>
          </a:stretch>
        </p:blipFill>
        <p:spPr>
          <a:xfrm>
            <a:off x="6804248" y="5085184"/>
            <a:ext cx="2263270" cy="9361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TLP</a:t>
            </a:r>
            <a:r>
              <a:rPr lang="zh-CN" altLang="en-US" sz="2800" dirty="0">
                <a:gradFill>
                  <a:gsLst>
                    <a:gs pos="0">
                      <a:srgbClr val="E30000"/>
                    </a:gs>
                    <a:gs pos="100000">
                      <a:srgbClr val="760303"/>
                    </a:gs>
                  </a:gsLst>
                  <a:lin scaled="0"/>
                </a:gradFill>
              </a:rPr>
              <a:t>格式</a:t>
            </a:r>
            <a:r>
              <a:rPr lang="en-US" altLang="zh-CN" sz="2800" dirty="0">
                <a:gradFill>
                  <a:gsLst>
                    <a:gs pos="0">
                      <a:srgbClr val="E30000"/>
                    </a:gs>
                    <a:gs pos="100000">
                      <a:srgbClr val="760303"/>
                    </a:gs>
                  </a:gsLst>
                  <a:lin scaled="0"/>
                </a:gradFill>
              </a:rPr>
              <a:t>-Byte Enable</a:t>
            </a:r>
            <a:endParaRPr lang="zh-CN" altLang="en-US" sz="2800" dirty="0">
              <a:gradFill>
                <a:gsLst>
                  <a:gs pos="0">
                    <a:srgbClr val="E30000"/>
                  </a:gs>
                  <a:gs pos="100000">
                    <a:srgbClr val="760303"/>
                  </a:gs>
                </a:gsLst>
                <a:lin scaled="0"/>
              </a:gradFill>
            </a:endParaRPr>
          </a:p>
        </p:txBody>
      </p:sp>
      <p:pic>
        <p:nvPicPr>
          <p:cNvPr id="6" name="图片 5"/>
          <p:cNvPicPr>
            <a:picLocks noChangeAspect="1"/>
          </p:cNvPicPr>
          <p:nvPr/>
        </p:nvPicPr>
        <p:blipFill>
          <a:blip r:embed="rId3"/>
          <a:stretch>
            <a:fillRect/>
          </a:stretch>
        </p:blipFill>
        <p:spPr>
          <a:xfrm>
            <a:off x="611560" y="908720"/>
            <a:ext cx="4565699" cy="32393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TLP</a:t>
            </a:r>
            <a:r>
              <a:rPr lang="zh-CN" altLang="en-US" sz="2800" dirty="0">
                <a:gradFill>
                  <a:gsLst>
                    <a:gs pos="0">
                      <a:srgbClr val="E30000"/>
                    </a:gs>
                    <a:gs pos="100000">
                      <a:srgbClr val="760303"/>
                    </a:gs>
                  </a:gsLst>
                  <a:lin scaled="0"/>
                </a:gradFill>
              </a:rPr>
              <a:t>格式</a:t>
            </a:r>
            <a:r>
              <a:rPr lang="en-US" altLang="zh-CN" sz="2800" dirty="0">
                <a:gradFill>
                  <a:gsLst>
                    <a:gs pos="0">
                      <a:srgbClr val="E30000"/>
                    </a:gs>
                    <a:gs pos="100000">
                      <a:srgbClr val="760303"/>
                    </a:gs>
                  </a:gsLst>
                  <a:lin scaled="0"/>
                </a:gradFill>
              </a:rPr>
              <a:t>-</a:t>
            </a:r>
            <a:r>
              <a:rPr lang="zh-CN" altLang="en-US" sz="2800" dirty="0">
                <a:gradFill>
                  <a:gsLst>
                    <a:gs pos="0">
                      <a:srgbClr val="E30000"/>
                    </a:gs>
                    <a:gs pos="100000">
                      <a:srgbClr val="760303"/>
                    </a:gs>
                  </a:gsLst>
                  <a:lin scaled="0"/>
                </a:gradFill>
              </a:rPr>
              <a:t>各种请求格式</a:t>
            </a:r>
          </a:p>
        </p:txBody>
      </p:sp>
      <p:pic>
        <p:nvPicPr>
          <p:cNvPr id="6" name="图片 5"/>
          <p:cNvPicPr>
            <a:picLocks noChangeAspect="1"/>
          </p:cNvPicPr>
          <p:nvPr/>
        </p:nvPicPr>
        <p:blipFill>
          <a:blip r:embed="rId3"/>
          <a:stretch>
            <a:fillRect/>
          </a:stretch>
        </p:blipFill>
        <p:spPr>
          <a:xfrm>
            <a:off x="509303" y="3429000"/>
            <a:ext cx="3558641" cy="3178849"/>
          </a:xfrm>
          <a:prstGeom prst="rect">
            <a:avLst/>
          </a:prstGeom>
        </p:spPr>
      </p:pic>
      <p:pic>
        <p:nvPicPr>
          <p:cNvPr id="8" name="图片 7"/>
          <p:cNvPicPr>
            <a:picLocks noChangeAspect="1"/>
          </p:cNvPicPr>
          <p:nvPr/>
        </p:nvPicPr>
        <p:blipFill>
          <a:blip r:embed="rId4"/>
          <a:stretch>
            <a:fillRect/>
          </a:stretch>
        </p:blipFill>
        <p:spPr>
          <a:xfrm>
            <a:off x="4719528" y="3652259"/>
            <a:ext cx="3595480" cy="2944142"/>
          </a:xfrm>
          <a:prstGeom prst="rect">
            <a:avLst/>
          </a:prstGeom>
        </p:spPr>
      </p:pic>
      <p:pic>
        <p:nvPicPr>
          <p:cNvPr id="13" name="图片 12"/>
          <p:cNvPicPr>
            <a:picLocks noChangeAspect="1"/>
          </p:cNvPicPr>
          <p:nvPr/>
        </p:nvPicPr>
        <p:blipFill>
          <a:blip r:embed="rId5"/>
          <a:stretch>
            <a:fillRect/>
          </a:stretch>
        </p:blipFill>
        <p:spPr>
          <a:xfrm>
            <a:off x="4719528" y="641089"/>
            <a:ext cx="3295892" cy="2944143"/>
          </a:xfrm>
          <a:prstGeom prst="rect">
            <a:avLst/>
          </a:prstGeom>
        </p:spPr>
      </p:pic>
      <p:pic>
        <p:nvPicPr>
          <p:cNvPr id="14" name="图片 13"/>
          <p:cNvPicPr>
            <a:picLocks noChangeAspect="1"/>
          </p:cNvPicPr>
          <p:nvPr/>
        </p:nvPicPr>
        <p:blipFill>
          <a:blip r:embed="rId6"/>
          <a:stretch>
            <a:fillRect/>
          </a:stretch>
        </p:blipFill>
        <p:spPr>
          <a:xfrm>
            <a:off x="509303" y="570246"/>
            <a:ext cx="3586219" cy="27299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251520" y="692696"/>
            <a:ext cx="3955801" cy="2066058"/>
          </a:xfrm>
          <a:prstGeom prst="rect">
            <a:avLst/>
          </a:prstGeom>
        </p:spPr>
      </p:pic>
      <p:pic>
        <p:nvPicPr>
          <p:cNvPr id="5" name="图片 4"/>
          <p:cNvPicPr>
            <a:picLocks noChangeAspect="1"/>
          </p:cNvPicPr>
          <p:nvPr/>
        </p:nvPicPr>
        <p:blipFill>
          <a:blip r:embed="rId4"/>
          <a:stretch>
            <a:fillRect/>
          </a:stretch>
        </p:blipFill>
        <p:spPr>
          <a:xfrm>
            <a:off x="4348537" y="908720"/>
            <a:ext cx="4034606" cy="1409784"/>
          </a:xfrm>
          <a:prstGeom prst="rect">
            <a:avLst/>
          </a:prstGeom>
        </p:spPr>
      </p:pic>
      <p:sp>
        <p:nvSpPr>
          <p:cNvPr id="6"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TLP</a:t>
            </a:r>
            <a:r>
              <a:rPr lang="zh-CN" altLang="en-US" sz="2800" dirty="0">
                <a:gradFill>
                  <a:gsLst>
                    <a:gs pos="0">
                      <a:srgbClr val="E30000"/>
                    </a:gs>
                    <a:gs pos="100000">
                      <a:srgbClr val="760303"/>
                    </a:gs>
                  </a:gsLst>
                  <a:lin scaled="0"/>
                </a:gradFill>
              </a:rPr>
              <a:t>格式</a:t>
            </a:r>
            <a:r>
              <a:rPr lang="en-US" altLang="zh-CN" sz="2800" dirty="0">
                <a:gradFill>
                  <a:gsLst>
                    <a:gs pos="0">
                      <a:srgbClr val="E30000"/>
                    </a:gs>
                    <a:gs pos="100000">
                      <a:srgbClr val="760303"/>
                    </a:gs>
                  </a:gsLst>
                  <a:lin scaled="0"/>
                </a:gradFill>
              </a:rPr>
              <a:t>-Message</a:t>
            </a:r>
            <a:endParaRPr lang="zh-CN" altLang="en-US" sz="2800" dirty="0">
              <a:gradFill>
                <a:gsLst>
                  <a:gs pos="0">
                    <a:srgbClr val="E30000"/>
                  </a:gs>
                  <a:gs pos="100000">
                    <a:srgbClr val="760303"/>
                  </a:gs>
                </a:gsLst>
                <a:lin scaled="0"/>
              </a:gradFill>
            </a:endParaRPr>
          </a:p>
        </p:txBody>
      </p:sp>
      <p:pic>
        <p:nvPicPr>
          <p:cNvPr id="8" name="图片 7"/>
          <p:cNvPicPr>
            <a:picLocks noChangeAspect="1"/>
          </p:cNvPicPr>
          <p:nvPr/>
        </p:nvPicPr>
        <p:blipFill>
          <a:blip r:embed="rId5"/>
          <a:stretch>
            <a:fillRect/>
          </a:stretch>
        </p:blipFill>
        <p:spPr>
          <a:xfrm>
            <a:off x="323528" y="2870532"/>
            <a:ext cx="3633904" cy="2102787"/>
          </a:xfrm>
          <a:prstGeom prst="rect">
            <a:avLst/>
          </a:prstGeom>
        </p:spPr>
      </p:pic>
      <p:pic>
        <p:nvPicPr>
          <p:cNvPr id="10" name="图片 9"/>
          <p:cNvPicPr>
            <a:picLocks noChangeAspect="1"/>
          </p:cNvPicPr>
          <p:nvPr/>
        </p:nvPicPr>
        <p:blipFill>
          <a:blip r:embed="rId6"/>
          <a:stretch>
            <a:fillRect/>
          </a:stretch>
        </p:blipFill>
        <p:spPr>
          <a:xfrm>
            <a:off x="303344" y="4965946"/>
            <a:ext cx="3640768" cy="1199358"/>
          </a:xfrm>
          <a:prstGeom prst="rect">
            <a:avLst/>
          </a:prstGeom>
        </p:spPr>
      </p:pic>
      <p:pic>
        <p:nvPicPr>
          <p:cNvPr id="12" name="图片 11"/>
          <p:cNvPicPr>
            <a:picLocks noChangeAspect="1"/>
          </p:cNvPicPr>
          <p:nvPr/>
        </p:nvPicPr>
        <p:blipFill>
          <a:blip r:embed="rId7"/>
          <a:stretch>
            <a:fillRect/>
          </a:stretch>
        </p:blipFill>
        <p:spPr>
          <a:xfrm>
            <a:off x="4282218" y="2758754"/>
            <a:ext cx="4130997" cy="1362397"/>
          </a:xfrm>
          <a:prstGeom prst="rect">
            <a:avLst/>
          </a:prstGeom>
        </p:spPr>
      </p:pic>
      <p:pic>
        <p:nvPicPr>
          <p:cNvPr id="14" name="图片 13"/>
          <p:cNvPicPr>
            <a:picLocks noChangeAspect="1"/>
          </p:cNvPicPr>
          <p:nvPr/>
        </p:nvPicPr>
        <p:blipFill>
          <a:blip r:embed="rId8"/>
          <a:stretch>
            <a:fillRect/>
          </a:stretch>
        </p:blipFill>
        <p:spPr>
          <a:xfrm>
            <a:off x="4262754" y="4221088"/>
            <a:ext cx="3487688" cy="1559115"/>
          </a:xfrm>
          <a:prstGeom prst="rect">
            <a:avLst/>
          </a:prstGeom>
        </p:spPr>
      </p:pic>
      <p:pic>
        <p:nvPicPr>
          <p:cNvPr id="16" name="图片 15"/>
          <p:cNvPicPr>
            <a:picLocks noChangeAspect="1"/>
          </p:cNvPicPr>
          <p:nvPr/>
        </p:nvPicPr>
        <p:blipFill>
          <a:blip r:embed="rId9"/>
          <a:stretch>
            <a:fillRect/>
          </a:stretch>
        </p:blipFill>
        <p:spPr>
          <a:xfrm>
            <a:off x="4331737" y="5780203"/>
            <a:ext cx="4006602" cy="67923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367157" y="1124744"/>
            <a:ext cx="3815336" cy="2664296"/>
          </a:xfrm>
          <a:prstGeom prst="rect">
            <a:avLst/>
          </a:prstGeom>
        </p:spPr>
      </p:pic>
      <p:pic>
        <p:nvPicPr>
          <p:cNvPr id="7" name="图片 6"/>
          <p:cNvPicPr>
            <a:picLocks noChangeAspect="1"/>
          </p:cNvPicPr>
          <p:nvPr/>
        </p:nvPicPr>
        <p:blipFill>
          <a:blip r:embed="rId4"/>
          <a:stretch>
            <a:fillRect/>
          </a:stretch>
        </p:blipFill>
        <p:spPr>
          <a:xfrm>
            <a:off x="395536" y="4509120"/>
            <a:ext cx="3899040" cy="1872208"/>
          </a:xfrm>
          <a:prstGeom prst="rect">
            <a:avLst/>
          </a:prstGeom>
        </p:spPr>
      </p:pic>
      <p:pic>
        <p:nvPicPr>
          <p:cNvPr id="9" name="图片 8"/>
          <p:cNvPicPr>
            <a:picLocks noChangeAspect="1"/>
          </p:cNvPicPr>
          <p:nvPr/>
        </p:nvPicPr>
        <p:blipFill>
          <a:blip r:embed="rId5"/>
          <a:stretch>
            <a:fillRect/>
          </a:stretch>
        </p:blipFill>
        <p:spPr>
          <a:xfrm>
            <a:off x="4961508" y="811688"/>
            <a:ext cx="3930972" cy="2386506"/>
          </a:xfrm>
          <a:prstGeom prst="rect">
            <a:avLst/>
          </a:prstGeom>
        </p:spPr>
      </p:pic>
      <p:pic>
        <p:nvPicPr>
          <p:cNvPr id="11" name="图片 10"/>
          <p:cNvPicPr>
            <a:picLocks noChangeAspect="1"/>
          </p:cNvPicPr>
          <p:nvPr/>
        </p:nvPicPr>
        <p:blipFill>
          <a:blip r:embed="rId6"/>
          <a:stretch>
            <a:fillRect/>
          </a:stretch>
        </p:blipFill>
        <p:spPr>
          <a:xfrm>
            <a:off x="4825554" y="3470087"/>
            <a:ext cx="4318446" cy="718973"/>
          </a:xfrm>
          <a:prstGeom prst="rect">
            <a:avLst/>
          </a:prstGeom>
        </p:spPr>
      </p:pic>
      <p:pic>
        <p:nvPicPr>
          <p:cNvPr id="13" name="图片 12"/>
          <p:cNvPicPr>
            <a:picLocks noChangeAspect="1"/>
          </p:cNvPicPr>
          <p:nvPr/>
        </p:nvPicPr>
        <p:blipFill>
          <a:blip r:embed="rId7"/>
          <a:stretch>
            <a:fillRect/>
          </a:stretch>
        </p:blipFill>
        <p:spPr>
          <a:xfrm>
            <a:off x="5436096" y="4460953"/>
            <a:ext cx="3543634" cy="2180097"/>
          </a:xfrm>
          <a:prstGeom prst="rect">
            <a:avLst/>
          </a:prstGeom>
        </p:spPr>
      </p:pic>
      <p:sp>
        <p:nvSpPr>
          <p:cNvPr id="14" name="标题 6"/>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rPr>
              <a:t>TLP</a:t>
            </a:r>
            <a:r>
              <a:rPr lang="zh-CN" altLang="en-US" sz="2800" dirty="0">
                <a:gradFill>
                  <a:gsLst>
                    <a:gs pos="0">
                      <a:srgbClr val="E30000"/>
                    </a:gs>
                    <a:gs pos="100000">
                      <a:srgbClr val="760303"/>
                    </a:gs>
                  </a:gsLst>
                  <a:lin scaled="0"/>
                </a:gradFill>
              </a:rPr>
              <a:t>格式</a:t>
            </a:r>
            <a:r>
              <a:rPr lang="en-US" altLang="zh-CN" sz="2800" dirty="0">
                <a:gradFill>
                  <a:gsLst>
                    <a:gs pos="0">
                      <a:srgbClr val="E30000"/>
                    </a:gs>
                    <a:gs pos="100000">
                      <a:srgbClr val="760303"/>
                    </a:gs>
                  </a:gsLst>
                  <a:lin scaled="0"/>
                </a:gradFill>
              </a:rPr>
              <a:t>-Message</a:t>
            </a:r>
            <a:endParaRPr lang="zh-CN" altLang="en-US" sz="2800" dirty="0">
              <a:gradFill>
                <a:gsLst>
                  <a:gs pos="0">
                    <a:srgbClr val="E30000"/>
                  </a:gs>
                  <a:gs pos="100000">
                    <a:srgbClr val="760303"/>
                  </a:gs>
                </a:gsLst>
                <a:lin scaled="0"/>
              </a:gra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22580" y="5852795"/>
            <a:ext cx="5287645" cy="645160"/>
          </a:xfrm>
          <a:prstGeom prst="rect">
            <a:avLst/>
          </a:prstGeom>
          <a:noFill/>
        </p:spPr>
        <p:txBody>
          <a:bodyPr wrap="square" rtlCol="0">
            <a:spAutoFit/>
          </a:bodyPr>
          <a:lstStyle/>
          <a:p>
            <a:r>
              <a:rPr lang="en-US" altLang="zh-CN" sz="1200" b="1" dirty="0">
                <a:gradFill>
                  <a:gsLst>
                    <a:gs pos="0">
                      <a:srgbClr val="E30000"/>
                    </a:gs>
                    <a:gs pos="100000">
                      <a:srgbClr val="760303"/>
                    </a:gs>
                  </a:gsLst>
                  <a:lin scaled="0"/>
                </a:gradFill>
              </a:rPr>
              <a:t>1. TC-&gt;VC</a:t>
            </a:r>
            <a:r>
              <a:rPr lang="zh-CN" altLang="en-US" sz="1200" b="1" dirty="0">
                <a:gradFill>
                  <a:gsLst>
                    <a:gs pos="0">
                      <a:srgbClr val="E30000"/>
                    </a:gs>
                    <a:gs pos="100000">
                      <a:srgbClr val="760303"/>
                    </a:gs>
                  </a:gsLst>
                  <a:lin scaled="0"/>
                </a:gradFill>
              </a:rPr>
              <a:t>的映射在每个</a:t>
            </a:r>
            <a:r>
              <a:rPr lang="en-US" altLang="zh-CN" sz="1200" b="1" dirty="0">
                <a:gradFill>
                  <a:gsLst>
                    <a:gs pos="0">
                      <a:srgbClr val="E30000"/>
                    </a:gs>
                    <a:gs pos="100000">
                      <a:srgbClr val="760303"/>
                    </a:gs>
                  </a:gsLst>
                  <a:lin scaled="0"/>
                </a:gradFill>
              </a:rPr>
              <a:t>LINK</a:t>
            </a:r>
            <a:r>
              <a:rPr lang="zh-CN" altLang="en-US" sz="1200" b="1" dirty="0">
                <a:gradFill>
                  <a:gsLst>
                    <a:gs pos="0">
                      <a:srgbClr val="E30000"/>
                    </a:gs>
                    <a:gs pos="100000">
                      <a:srgbClr val="760303"/>
                    </a:gs>
                  </a:gsLst>
                  <a:lin scaled="0"/>
                </a:gradFill>
              </a:rPr>
              <a:t>独立：每个</a:t>
            </a:r>
            <a:r>
              <a:rPr lang="en-US" altLang="zh-CN" sz="1200" b="1" dirty="0">
                <a:gradFill>
                  <a:gsLst>
                    <a:gs pos="0">
                      <a:srgbClr val="E30000"/>
                    </a:gs>
                    <a:gs pos="100000">
                      <a:srgbClr val="760303"/>
                    </a:gs>
                  </a:gsLst>
                  <a:lin scaled="0"/>
                </a:gradFill>
              </a:rPr>
              <a:t>LINK</a:t>
            </a:r>
            <a:r>
              <a:rPr lang="zh-CN" altLang="en-US" sz="1200" b="1" dirty="0">
                <a:gradFill>
                  <a:gsLst>
                    <a:gs pos="0">
                      <a:srgbClr val="E30000"/>
                    </a:gs>
                    <a:gs pos="100000">
                      <a:srgbClr val="760303"/>
                    </a:gs>
                  </a:gsLst>
                  <a:lin scaled="0"/>
                </a:gradFill>
              </a:rPr>
              <a:t>的</a:t>
            </a:r>
            <a:r>
              <a:rPr lang="en-US" altLang="zh-CN" sz="1200" b="1" dirty="0">
                <a:gradFill>
                  <a:gsLst>
                    <a:gs pos="0">
                      <a:srgbClr val="E30000"/>
                    </a:gs>
                    <a:gs pos="100000">
                      <a:srgbClr val="760303"/>
                    </a:gs>
                  </a:gsLst>
                  <a:lin scaled="0"/>
                </a:gradFill>
              </a:rPr>
              <a:t>VC</a:t>
            </a:r>
            <a:r>
              <a:rPr lang="zh-CN" altLang="en-US" sz="1200" b="1" dirty="0">
                <a:gradFill>
                  <a:gsLst>
                    <a:gs pos="0">
                      <a:srgbClr val="E30000"/>
                    </a:gs>
                    <a:gs pos="100000">
                      <a:srgbClr val="760303"/>
                    </a:gs>
                  </a:gsLst>
                  <a:lin scaled="0"/>
                </a:gradFill>
              </a:rPr>
              <a:t>可以不同</a:t>
            </a:r>
          </a:p>
          <a:p>
            <a:r>
              <a:rPr lang="en-US" altLang="zh-CN" sz="1200" b="1" dirty="0">
                <a:gradFill>
                  <a:gsLst>
                    <a:gs pos="0">
                      <a:srgbClr val="E30000"/>
                    </a:gs>
                    <a:gs pos="100000">
                      <a:srgbClr val="760303"/>
                    </a:gs>
                  </a:gsLst>
                  <a:lin scaled="0"/>
                </a:gradFill>
              </a:rPr>
              <a:t>2. VC</a:t>
            </a:r>
            <a:r>
              <a:rPr lang="zh-CN" altLang="en-US" sz="1200" b="1" dirty="0">
                <a:gradFill>
                  <a:gsLst>
                    <a:gs pos="0">
                      <a:srgbClr val="E30000"/>
                    </a:gs>
                    <a:gs pos="100000">
                      <a:srgbClr val="760303"/>
                    </a:gs>
                  </a:gsLst>
                  <a:lin scaled="0"/>
                </a:gradFill>
              </a:rPr>
              <a:t>理解为在一个出接口分配的</a:t>
            </a:r>
            <a:r>
              <a:rPr lang="en-US" altLang="zh-CN" sz="1200" b="1" dirty="0">
                <a:gradFill>
                  <a:gsLst>
                    <a:gs pos="0">
                      <a:srgbClr val="E30000"/>
                    </a:gs>
                    <a:gs pos="100000">
                      <a:srgbClr val="760303"/>
                    </a:gs>
                  </a:gsLst>
                  <a:lin scaled="0"/>
                </a:gradFill>
              </a:rPr>
              <a:t>buffer</a:t>
            </a:r>
          </a:p>
          <a:p>
            <a:r>
              <a:rPr lang="en-US" altLang="zh-CN" sz="1200" b="1" dirty="0">
                <a:gradFill>
                  <a:gsLst>
                    <a:gs pos="0">
                      <a:srgbClr val="E30000"/>
                    </a:gs>
                    <a:gs pos="100000">
                      <a:srgbClr val="760303"/>
                    </a:gs>
                  </a:gsLst>
                  <a:lin scaled="0"/>
                </a:gradFill>
              </a:rPr>
              <a:t>3. </a:t>
            </a:r>
            <a:r>
              <a:rPr lang="zh-CN" altLang="en-US" sz="1200" b="1" dirty="0">
                <a:gradFill>
                  <a:gsLst>
                    <a:gs pos="0">
                      <a:srgbClr val="E30000"/>
                    </a:gs>
                    <a:gs pos="100000">
                      <a:srgbClr val="760303"/>
                    </a:gs>
                  </a:gsLst>
                  <a:lin scaled="0"/>
                </a:gradFill>
              </a:rPr>
              <a:t>多</a:t>
            </a:r>
            <a:r>
              <a:rPr lang="en-US" altLang="zh-CN" sz="1200" b="1" dirty="0">
                <a:gradFill>
                  <a:gsLst>
                    <a:gs pos="0">
                      <a:srgbClr val="E30000"/>
                    </a:gs>
                    <a:gs pos="100000">
                      <a:srgbClr val="760303"/>
                    </a:gs>
                  </a:gsLst>
                  <a:lin scaled="0"/>
                </a:gradFill>
              </a:rPr>
              <a:t>VC</a:t>
            </a:r>
            <a:r>
              <a:rPr lang="zh-CN" altLang="en-US" sz="1200" b="1" dirty="0">
                <a:gradFill>
                  <a:gsLst>
                    <a:gs pos="0">
                      <a:srgbClr val="E30000"/>
                    </a:gs>
                    <a:gs pos="100000">
                      <a:srgbClr val="760303"/>
                    </a:gs>
                  </a:gsLst>
                  <a:lin scaled="0"/>
                </a:gradFill>
              </a:rPr>
              <a:t>时，端口</a:t>
            </a:r>
            <a:r>
              <a:rPr lang="en-US" altLang="zh-CN" sz="1200" b="1" dirty="0">
                <a:gradFill>
                  <a:gsLst>
                    <a:gs pos="0">
                      <a:srgbClr val="E30000"/>
                    </a:gs>
                    <a:gs pos="100000">
                      <a:srgbClr val="760303"/>
                    </a:gs>
                  </a:gsLst>
                  <a:lin scaled="0"/>
                </a:gradFill>
              </a:rPr>
              <a:t>TX</a:t>
            </a:r>
            <a:r>
              <a:rPr lang="zh-CN" altLang="en-US" sz="1200" b="1" dirty="0">
                <a:gradFill>
                  <a:gsLst>
                    <a:gs pos="0">
                      <a:srgbClr val="E30000"/>
                    </a:gs>
                    <a:gs pos="100000">
                      <a:srgbClr val="760303"/>
                    </a:gs>
                  </a:gsLst>
                  <a:lin scaled="0"/>
                </a:gradFill>
              </a:rPr>
              <a:t>必然有调度</a:t>
            </a:r>
          </a:p>
        </p:txBody>
      </p:sp>
      <p:pic>
        <p:nvPicPr>
          <p:cNvPr id="5" name="图片 4"/>
          <p:cNvPicPr>
            <a:picLocks noChangeAspect="1"/>
          </p:cNvPicPr>
          <p:nvPr>
            <p:custDataLst>
              <p:tags r:id="rId2"/>
            </p:custDataLst>
          </p:nvPr>
        </p:nvPicPr>
        <p:blipFill>
          <a:blip r:embed="rId10"/>
          <a:stretch>
            <a:fillRect/>
          </a:stretch>
        </p:blipFill>
        <p:spPr>
          <a:xfrm>
            <a:off x="610870" y="548640"/>
            <a:ext cx="4306570" cy="5254625"/>
          </a:xfrm>
          <a:prstGeom prst="rect">
            <a:avLst/>
          </a:prstGeom>
        </p:spPr>
      </p:pic>
      <p:pic>
        <p:nvPicPr>
          <p:cNvPr id="6" name="图片 5"/>
          <p:cNvPicPr>
            <a:picLocks noChangeAspect="1"/>
          </p:cNvPicPr>
          <p:nvPr>
            <p:custDataLst>
              <p:tags r:id="rId3"/>
            </p:custDataLst>
          </p:nvPr>
        </p:nvPicPr>
        <p:blipFill>
          <a:blip r:embed="rId11"/>
          <a:stretch>
            <a:fillRect/>
          </a:stretch>
        </p:blipFill>
        <p:spPr>
          <a:xfrm>
            <a:off x="5146675" y="3283585"/>
            <a:ext cx="3232785" cy="2569210"/>
          </a:xfrm>
          <a:prstGeom prst="rect">
            <a:avLst/>
          </a:prstGeom>
        </p:spPr>
      </p:pic>
      <p:sp>
        <p:nvSpPr>
          <p:cNvPr id="7" name="标题 6"/>
          <p:cNvSpPr>
            <a:spLocks noGrp="1"/>
          </p:cNvSpPr>
          <p:nvPr>
            <p:ph type="title"/>
            <p:custDataLst>
              <p:tags r:id="rId4"/>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rPr>
              <a:t>QOS</a:t>
            </a:r>
            <a:r>
              <a:rPr lang="zh-CN" altLang="en-US" sz="2800">
                <a:gradFill>
                  <a:gsLst>
                    <a:gs pos="0">
                      <a:srgbClr val="E30000"/>
                    </a:gs>
                    <a:gs pos="100000">
                      <a:srgbClr val="760303"/>
                    </a:gs>
                  </a:gsLst>
                  <a:lin scaled="0"/>
                </a:gradFill>
              </a:rPr>
              <a:t>：</a:t>
            </a:r>
            <a:r>
              <a:rPr lang="en-US" altLang="zh-CN" sz="2800">
                <a:gradFill>
                  <a:gsLst>
                    <a:gs pos="0">
                      <a:srgbClr val="E30000"/>
                    </a:gs>
                    <a:gs pos="100000">
                      <a:srgbClr val="760303"/>
                    </a:gs>
                  </a:gsLst>
                  <a:lin scaled="0"/>
                </a:gradFill>
              </a:rPr>
              <a:t>VC</a:t>
            </a:r>
            <a:r>
              <a:rPr lang="zh-CN" altLang="en-US" sz="2800">
                <a:gradFill>
                  <a:gsLst>
                    <a:gs pos="0">
                      <a:srgbClr val="E30000"/>
                    </a:gs>
                    <a:gs pos="100000">
                      <a:srgbClr val="760303"/>
                    </a:gs>
                  </a:gsLst>
                  <a:lin scaled="0"/>
                </a:gradFill>
              </a:rPr>
              <a:t>概念</a:t>
            </a:r>
          </a:p>
        </p:txBody>
      </p:sp>
      <p:pic>
        <p:nvPicPr>
          <p:cNvPr id="8" name="图片 7"/>
          <p:cNvPicPr>
            <a:picLocks noChangeAspect="1"/>
          </p:cNvPicPr>
          <p:nvPr>
            <p:custDataLst>
              <p:tags r:id="rId5"/>
            </p:custDataLst>
          </p:nvPr>
        </p:nvPicPr>
        <p:blipFill>
          <a:blip r:embed="rId12"/>
          <a:stretch>
            <a:fillRect/>
          </a:stretch>
        </p:blipFill>
        <p:spPr>
          <a:xfrm>
            <a:off x="5219065" y="620395"/>
            <a:ext cx="3109595" cy="2597785"/>
          </a:xfrm>
          <a:prstGeom prst="rect">
            <a:avLst/>
          </a:prstGeom>
        </p:spPr>
      </p:pic>
      <p:sp>
        <p:nvSpPr>
          <p:cNvPr id="9" name="文本框 8"/>
          <p:cNvSpPr txBox="1"/>
          <p:nvPr>
            <p:custDataLst>
              <p:tags r:id="rId6"/>
            </p:custDataLst>
          </p:nvPr>
        </p:nvSpPr>
        <p:spPr>
          <a:xfrm>
            <a:off x="179705" y="2204720"/>
            <a:ext cx="1518285" cy="275590"/>
          </a:xfrm>
          <a:prstGeom prst="rect">
            <a:avLst/>
          </a:prstGeom>
          <a:noFill/>
        </p:spPr>
        <p:txBody>
          <a:bodyPr wrap="square" rtlCol="0">
            <a:spAutoFit/>
          </a:bodyPr>
          <a:lstStyle/>
          <a:p>
            <a:r>
              <a:rPr lang="en-US" sz="1200" b="1">
                <a:gradFill>
                  <a:gsLst>
                    <a:gs pos="0">
                      <a:srgbClr val="E30000"/>
                    </a:gs>
                    <a:gs pos="100000">
                      <a:srgbClr val="760303"/>
                    </a:gs>
                  </a:gsLst>
                  <a:lin scaled="0"/>
                </a:gradFill>
              </a:rPr>
              <a:t>VC 0</a:t>
            </a:r>
            <a:r>
              <a:rPr lang="zh-CN" altLang="en-US" sz="1200" b="1">
                <a:gradFill>
                  <a:gsLst>
                    <a:gs pos="0">
                      <a:srgbClr val="E30000"/>
                    </a:gs>
                    <a:gs pos="100000">
                      <a:srgbClr val="760303"/>
                    </a:gs>
                  </a:gsLst>
                  <a:lin scaled="0"/>
                </a:gradFill>
              </a:rPr>
              <a:t>配置信息</a:t>
            </a:r>
          </a:p>
        </p:txBody>
      </p:sp>
      <p:sp>
        <p:nvSpPr>
          <p:cNvPr id="10" name="文本框 9"/>
          <p:cNvSpPr txBox="1"/>
          <p:nvPr>
            <p:custDataLst>
              <p:tags r:id="rId7"/>
            </p:custDataLst>
          </p:nvPr>
        </p:nvSpPr>
        <p:spPr>
          <a:xfrm>
            <a:off x="179705" y="2996565"/>
            <a:ext cx="1518285" cy="275590"/>
          </a:xfrm>
          <a:prstGeom prst="rect">
            <a:avLst/>
          </a:prstGeom>
          <a:noFill/>
        </p:spPr>
        <p:txBody>
          <a:bodyPr wrap="square" rtlCol="0">
            <a:spAutoFit/>
          </a:bodyPr>
          <a:lstStyle/>
          <a:p>
            <a:r>
              <a:rPr lang="en-US" sz="1200" b="1">
                <a:gradFill>
                  <a:gsLst>
                    <a:gs pos="0">
                      <a:srgbClr val="E30000"/>
                    </a:gs>
                    <a:gs pos="100000">
                      <a:srgbClr val="760303"/>
                    </a:gs>
                  </a:gsLst>
                  <a:lin scaled="0"/>
                </a:gradFill>
              </a:rPr>
              <a:t>VC 3</a:t>
            </a:r>
            <a:r>
              <a:rPr lang="zh-CN" altLang="en-US" sz="1200" b="1">
                <a:gradFill>
                  <a:gsLst>
                    <a:gs pos="0">
                      <a:srgbClr val="E30000"/>
                    </a:gs>
                    <a:gs pos="100000">
                      <a:srgbClr val="760303"/>
                    </a:gs>
                  </a:gsLst>
                  <a:lin scaled="0"/>
                </a:gradFill>
              </a:rPr>
              <a:t>配置信息</a:t>
            </a:r>
          </a:p>
        </p:txBody>
      </p:sp>
      <p:sp>
        <p:nvSpPr>
          <p:cNvPr id="11" name="文本框 10"/>
          <p:cNvSpPr txBox="1"/>
          <p:nvPr>
            <p:custDataLst>
              <p:tags r:id="rId8"/>
            </p:custDataLst>
          </p:nvPr>
        </p:nvSpPr>
        <p:spPr>
          <a:xfrm>
            <a:off x="5436235" y="6093460"/>
            <a:ext cx="2820670" cy="337185"/>
          </a:xfrm>
          <a:prstGeom prst="rect">
            <a:avLst/>
          </a:prstGeom>
          <a:solidFill>
            <a:srgbClr val="FFFF00"/>
          </a:solidFill>
        </p:spPr>
        <p:txBody>
          <a:bodyPr wrap="square" rtlCol="0">
            <a:spAutoFit/>
          </a:bodyPr>
          <a:lstStyle/>
          <a:p>
            <a:r>
              <a:rPr lang="zh-CN" sz="1600" b="1">
                <a:gradFill>
                  <a:gsLst>
                    <a:gs pos="0">
                      <a:srgbClr val="E30000"/>
                    </a:gs>
                    <a:gs pos="100000">
                      <a:srgbClr val="760303"/>
                    </a:gs>
                  </a:gsLst>
                  <a:lin scaled="0"/>
                </a:gradFill>
              </a:rPr>
              <a:t>每个接口有以上一套寄存器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17"/>
          <a:stretch>
            <a:fillRect/>
          </a:stretch>
        </p:blipFill>
        <p:spPr>
          <a:xfrm>
            <a:off x="175193" y="599694"/>
            <a:ext cx="4882515" cy="5215890"/>
          </a:xfrm>
          <a:prstGeom prst="rect">
            <a:avLst/>
          </a:prstGeom>
        </p:spPr>
      </p:pic>
      <p:sp>
        <p:nvSpPr>
          <p:cNvPr id="3" name="文本框 2"/>
          <p:cNvSpPr txBox="1"/>
          <p:nvPr/>
        </p:nvSpPr>
        <p:spPr>
          <a:xfrm>
            <a:off x="394970" y="5516880"/>
            <a:ext cx="1050925" cy="229870"/>
          </a:xfrm>
          <a:prstGeom prst="rect">
            <a:avLst/>
          </a:prstGeom>
          <a:noFill/>
        </p:spPr>
        <p:txBody>
          <a:bodyPr wrap="square" rtlCol="0">
            <a:spAutoFit/>
          </a:bodyPr>
          <a:lstStyle/>
          <a:p>
            <a:r>
              <a:rPr lang="zh-CN" altLang="en-US" sz="900" b="1">
                <a:gradFill>
                  <a:gsLst>
                    <a:gs pos="0">
                      <a:srgbClr val="E30000"/>
                    </a:gs>
                    <a:gs pos="100000">
                      <a:srgbClr val="760303"/>
                    </a:gs>
                  </a:gsLst>
                  <a:lin scaled="0"/>
                </a:gradFill>
              </a:rPr>
              <a:t>额外的</a:t>
            </a:r>
            <a:r>
              <a:rPr lang="en-US" altLang="zh-CN" sz="900" b="1">
                <a:gradFill>
                  <a:gsLst>
                    <a:gs pos="0">
                      <a:srgbClr val="E30000"/>
                    </a:gs>
                    <a:gs pos="100000">
                      <a:srgbClr val="760303"/>
                    </a:gs>
                  </a:gsLst>
                  <a:lin scaled="0"/>
                </a:gradFill>
              </a:rPr>
              <a:t>VC</a:t>
            </a:r>
            <a:r>
              <a:rPr lang="zh-CN" altLang="en-US" sz="900" b="1">
                <a:gradFill>
                  <a:gsLst>
                    <a:gs pos="0">
                      <a:srgbClr val="E30000"/>
                    </a:gs>
                    <a:gs pos="100000">
                      <a:srgbClr val="760303"/>
                    </a:gs>
                  </a:gsLst>
                  <a:lin scaled="0"/>
                </a:gradFill>
              </a:rPr>
              <a:t>个数</a:t>
            </a:r>
          </a:p>
        </p:txBody>
      </p:sp>
      <p:sp>
        <p:nvSpPr>
          <p:cNvPr id="4" name="文本框 3"/>
          <p:cNvSpPr txBox="1"/>
          <p:nvPr>
            <p:custDataLst>
              <p:tags r:id="rId2"/>
            </p:custDataLst>
          </p:nvPr>
        </p:nvSpPr>
        <p:spPr>
          <a:xfrm>
            <a:off x="179705" y="5044440"/>
            <a:ext cx="1799590" cy="229870"/>
          </a:xfrm>
          <a:prstGeom prst="rect">
            <a:avLst/>
          </a:prstGeom>
          <a:noFill/>
        </p:spPr>
        <p:txBody>
          <a:bodyPr wrap="square" rtlCol="0">
            <a:spAutoFit/>
          </a:bodyPr>
          <a:lstStyle/>
          <a:p>
            <a:r>
              <a:rPr lang="en-US" sz="900" b="1">
                <a:gradFill>
                  <a:gsLst>
                    <a:gs pos="0">
                      <a:srgbClr val="E30000"/>
                    </a:gs>
                    <a:gs pos="100000">
                      <a:srgbClr val="760303"/>
                    </a:gs>
                  </a:gsLst>
                  <a:lin scaled="0"/>
                </a:gradFill>
              </a:rPr>
              <a:t>VC0~x</a:t>
            </a:r>
            <a:r>
              <a:rPr lang="zh-CN" altLang="en-US" sz="900" b="1">
                <a:gradFill>
                  <a:gsLst>
                    <a:gs pos="0">
                      <a:srgbClr val="E30000"/>
                    </a:gs>
                    <a:gs pos="100000">
                      <a:srgbClr val="760303"/>
                    </a:gs>
                  </a:gsLst>
                  <a:lin scaled="0"/>
                </a:gradFill>
              </a:rPr>
              <a:t>采用另一个仲裁方法</a:t>
            </a:r>
          </a:p>
        </p:txBody>
      </p:sp>
      <p:pic>
        <p:nvPicPr>
          <p:cNvPr id="6" name="图片 5"/>
          <p:cNvPicPr>
            <a:picLocks noChangeAspect="1"/>
          </p:cNvPicPr>
          <p:nvPr>
            <p:custDataLst>
              <p:tags r:id="rId3"/>
            </p:custDataLst>
          </p:nvPr>
        </p:nvPicPr>
        <p:blipFill>
          <a:blip r:embed="rId18"/>
          <a:stretch>
            <a:fillRect/>
          </a:stretch>
        </p:blipFill>
        <p:spPr>
          <a:xfrm>
            <a:off x="5147945" y="692785"/>
            <a:ext cx="3696335" cy="3408680"/>
          </a:xfrm>
          <a:prstGeom prst="rect">
            <a:avLst/>
          </a:prstGeom>
        </p:spPr>
      </p:pic>
      <p:sp>
        <p:nvSpPr>
          <p:cNvPr id="8" name="标题 7"/>
          <p:cNvSpPr>
            <a:spLocks noGrp="1"/>
          </p:cNvSpPr>
          <p:nvPr>
            <p:ph type="title"/>
            <p:custDataLst>
              <p:tags r:id="rId4"/>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sym typeface="+mn-ea"/>
              </a:rPr>
              <a:t>QOS</a:t>
            </a:r>
            <a:r>
              <a:rPr lang="zh-CN" altLang="en-US" sz="2800">
                <a:gradFill>
                  <a:gsLst>
                    <a:gs pos="0">
                      <a:srgbClr val="E30000"/>
                    </a:gs>
                    <a:gs pos="100000">
                      <a:srgbClr val="760303"/>
                    </a:gs>
                  </a:gsLst>
                  <a:lin scaled="0"/>
                </a:gradFill>
                <a:sym typeface="+mn-ea"/>
              </a:rPr>
              <a:t>：</a:t>
            </a:r>
            <a:r>
              <a:rPr lang="en-US" altLang="zh-CN" sz="2800">
                <a:gradFill>
                  <a:gsLst>
                    <a:gs pos="0">
                      <a:srgbClr val="E30000"/>
                    </a:gs>
                    <a:gs pos="100000">
                      <a:srgbClr val="760303"/>
                    </a:gs>
                  </a:gsLst>
                  <a:lin scaled="0"/>
                </a:gradFill>
              </a:rPr>
              <a:t>VC</a:t>
            </a:r>
            <a:r>
              <a:rPr lang="zh-CN" altLang="en-US" sz="2800">
                <a:gradFill>
                  <a:gsLst>
                    <a:gs pos="0">
                      <a:srgbClr val="E30000"/>
                    </a:gs>
                    <a:gs pos="100000">
                      <a:srgbClr val="760303"/>
                    </a:gs>
                  </a:gsLst>
                  <a:lin scaled="0"/>
                </a:gradFill>
              </a:rPr>
              <a:t>仲裁</a:t>
            </a:r>
          </a:p>
        </p:txBody>
      </p:sp>
      <p:sp>
        <p:nvSpPr>
          <p:cNvPr id="9" name="文本框 8"/>
          <p:cNvSpPr txBox="1"/>
          <p:nvPr>
            <p:custDataLst>
              <p:tags r:id="rId5"/>
            </p:custDataLst>
          </p:nvPr>
        </p:nvSpPr>
        <p:spPr>
          <a:xfrm>
            <a:off x="323850" y="6021070"/>
            <a:ext cx="4349750" cy="460375"/>
          </a:xfrm>
          <a:prstGeom prst="rect">
            <a:avLst/>
          </a:prstGeom>
          <a:noFill/>
        </p:spPr>
        <p:txBody>
          <a:bodyPr wrap="square" rtlCol="0">
            <a:spAutoFit/>
          </a:bodyPr>
          <a:lstStyle/>
          <a:p>
            <a:r>
              <a:rPr lang="en-US" altLang="zh-CN" sz="1200" b="1" dirty="0">
                <a:gradFill>
                  <a:gsLst>
                    <a:gs pos="0">
                      <a:srgbClr val="E30000"/>
                    </a:gs>
                    <a:gs pos="100000">
                      <a:srgbClr val="760303"/>
                    </a:gs>
                  </a:gsLst>
                  <a:lin scaled="0"/>
                </a:gradFill>
              </a:rPr>
              <a:t>1. VC</a:t>
            </a:r>
            <a:r>
              <a:rPr lang="zh-CN" altLang="en-US" sz="1200" b="1" dirty="0">
                <a:gradFill>
                  <a:gsLst>
                    <a:gs pos="0">
                      <a:srgbClr val="E30000"/>
                    </a:gs>
                    <a:gs pos="100000">
                      <a:srgbClr val="760303"/>
                    </a:gs>
                  </a:gsLst>
                  <a:lin scaled="0"/>
                </a:gradFill>
              </a:rPr>
              <a:t>之间</a:t>
            </a:r>
            <a:r>
              <a:rPr lang="zh-CN" sz="1200" b="1" dirty="0">
                <a:gradFill>
                  <a:gsLst>
                    <a:gs pos="0">
                      <a:srgbClr val="E30000"/>
                    </a:gs>
                    <a:gs pos="100000">
                      <a:srgbClr val="760303"/>
                    </a:gs>
                  </a:gsLst>
                  <a:lin scaled="0"/>
                </a:gradFill>
              </a:rPr>
              <a:t>缺省采用全</a:t>
            </a:r>
            <a:r>
              <a:rPr lang="en-US" altLang="zh-CN" sz="1200" b="1" dirty="0">
                <a:gradFill>
                  <a:gsLst>
                    <a:gs pos="0">
                      <a:srgbClr val="E30000"/>
                    </a:gs>
                    <a:gs pos="100000">
                      <a:srgbClr val="760303"/>
                    </a:gs>
                  </a:gsLst>
                  <a:lin scaled="0"/>
                </a:gradFill>
              </a:rPr>
              <a:t>SP</a:t>
            </a:r>
            <a:endParaRPr lang="zh-CN" altLang="en-US" sz="1200" b="1" dirty="0">
              <a:gradFill>
                <a:gsLst>
                  <a:gs pos="0">
                    <a:srgbClr val="E30000"/>
                  </a:gs>
                  <a:gs pos="100000">
                    <a:srgbClr val="760303"/>
                  </a:gs>
                </a:gsLst>
                <a:lin scaled="0"/>
              </a:gradFill>
            </a:endParaRPr>
          </a:p>
          <a:p>
            <a:r>
              <a:rPr lang="en-US" altLang="zh-CN" sz="1200" b="1" dirty="0">
                <a:gradFill>
                  <a:gsLst>
                    <a:gs pos="0">
                      <a:srgbClr val="E30000"/>
                    </a:gs>
                    <a:gs pos="100000">
                      <a:srgbClr val="760303"/>
                    </a:gs>
                  </a:gsLst>
                  <a:lin scaled="0"/>
                </a:gradFill>
              </a:rPr>
              <a:t>2. </a:t>
            </a:r>
            <a:r>
              <a:rPr lang="zh-CN" sz="1200" b="1" dirty="0">
                <a:gradFill>
                  <a:gsLst>
                    <a:gs pos="0">
                      <a:srgbClr val="E30000"/>
                    </a:gs>
                    <a:gs pos="100000">
                      <a:srgbClr val="760303"/>
                    </a:gs>
                  </a:gsLst>
                  <a:lin scaled="0"/>
                </a:gradFill>
              </a:rPr>
              <a:t>可以指定</a:t>
            </a:r>
            <a:r>
              <a:rPr lang="en-US" altLang="zh-CN" sz="1200" b="1" dirty="0">
                <a:gradFill>
                  <a:gsLst>
                    <a:gs pos="0">
                      <a:srgbClr val="E30000"/>
                    </a:gs>
                    <a:gs pos="100000">
                      <a:srgbClr val="760303"/>
                    </a:gs>
                  </a:gsLst>
                  <a:lin scaled="0"/>
                </a:gradFill>
              </a:rPr>
              <a:t>LPE VC count</a:t>
            </a:r>
            <a:r>
              <a:rPr lang="zh-CN" altLang="en-US" sz="1200" b="1" dirty="0">
                <a:gradFill>
                  <a:gsLst>
                    <a:gs pos="0">
                      <a:srgbClr val="E30000"/>
                    </a:gs>
                    <a:gs pos="100000">
                      <a:srgbClr val="760303"/>
                    </a:gs>
                  </a:gsLst>
                  <a:lin scaled="0"/>
                </a:gradFill>
              </a:rPr>
              <a:t>实现</a:t>
            </a:r>
            <a:r>
              <a:rPr lang="en-US" altLang="zh-CN" sz="1200" b="1" dirty="0">
                <a:gradFill>
                  <a:gsLst>
                    <a:gs pos="0">
                      <a:srgbClr val="E30000"/>
                    </a:gs>
                    <a:gs pos="100000">
                      <a:srgbClr val="760303"/>
                    </a:gs>
                  </a:gsLst>
                  <a:lin scaled="0"/>
                </a:gradFill>
              </a:rPr>
              <a:t>SP+WRR</a:t>
            </a:r>
            <a:endParaRPr lang="zh-CN" altLang="en-US" sz="1200" b="1" dirty="0">
              <a:gradFill>
                <a:gsLst>
                  <a:gs pos="0">
                    <a:srgbClr val="E30000"/>
                  </a:gs>
                  <a:gs pos="100000">
                    <a:srgbClr val="760303"/>
                  </a:gs>
                </a:gsLst>
                <a:lin scaled="0"/>
              </a:gradFill>
            </a:endParaRPr>
          </a:p>
        </p:txBody>
      </p:sp>
      <p:cxnSp>
        <p:nvCxnSpPr>
          <p:cNvPr id="10" name="直接箭头连接符 9"/>
          <p:cNvCxnSpPr/>
          <p:nvPr/>
        </p:nvCxnSpPr>
        <p:spPr>
          <a:xfrm flipV="1">
            <a:off x="3682365" y="1340485"/>
            <a:ext cx="1681480" cy="463550"/>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6"/>
            </p:custDataLst>
          </p:nvPr>
        </p:nvCxnSpPr>
        <p:spPr>
          <a:xfrm>
            <a:off x="3707765" y="2019935"/>
            <a:ext cx="3240405" cy="1336675"/>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custDataLst>
              <p:tags r:id="rId7"/>
            </p:custDataLst>
          </p:nvPr>
        </p:nvSpPr>
        <p:spPr>
          <a:xfrm>
            <a:off x="4211955" y="1559560"/>
            <a:ext cx="1872615" cy="460375"/>
          </a:xfrm>
          <a:prstGeom prst="rect">
            <a:avLst/>
          </a:prstGeom>
          <a:noFill/>
        </p:spPr>
        <p:txBody>
          <a:bodyPr wrap="square" rtlCol="0">
            <a:spAutoFit/>
          </a:bodyPr>
          <a:lstStyle/>
          <a:p>
            <a:r>
              <a:rPr lang="zh-CN" sz="1200" b="1">
                <a:gradFill>
                  <a:gsLst>
                    <a:gs pos="0">
                      <a:srgbClr val="E30000"/>
                    </a:gs>
                    <a:gs pos="100000">
                      <a:srgbClr val="760303"/>
                    </a:gs>
                  </a:gsLst>
                  <a:lin scaled="0"/>
                </a:gradFill>
              </a:rPr>
              <a:t>定义低优先级仲裁方法（高优先级始终</a:t>
            </a:r>
            <a:r>
              <a:rPr lang="en-US" altLang="zh-CN" sz="1200" b="1">
                <a:gradFill>
                  <a:gsLst>
                    <a:gs pos="0">
                      <a:srgbClr val="E30000"/>
                    </a:gs>
                    <a:gs pos="100000">
                      <a:srgbClr val="760303"/>
                    </a:gs>
                  </a:gsLst>
                  <a:lin scaled="0"/>
                </a:gradFill>
              </a:rPr>
              <a:t>SP</a:t>
            </a:r>
            <a:r>
              <a:rPr lang="zh-CN" sz="1200" b="1">
                <a:gradFill>
                  <a:gsLst>
                    <a:gs pos="0">
                      <a:srgbClr val="E30000"/>
                    </a:gs>
                    <a:gs pos="100000">
                      <a:srgbClr val="760303"/>
                    </a:gs>
                  </a:gsLst>
                  <a:lin scaled="0"/>
                </a:gradFill>
              </a:rPr>
              <a:t>）</a:t>
            </a:r>
          </a:p>
        </p:txBody>
      </p:sp>
      <p:sp>
        <p:nvSpPr>
          <p:cNvPr id="14" name="文本框 13"/>
          <p:cNvSpPr txBox="1"/>
          <p:nvPr>
            <p:custDataLst>
              <p:tags r:id="rId8"/>
            </p:custDataLst>
          </p:nvPr>
        </p:nvSpPr>
        <p:spPr>
          <a:xfrm>
            <a:off x="4211955" y="2204720"/>
            <a:ext cx="1872615" cy="460375"/>
          </a:xfrm>
          <a:prstGeom prst="rect">
            <a:avLst/>
          </a:prstGeom>
          <a:noFill/>
        </p:spPr>
        <p:txBody>
          <a:bodyPr wrap="square" rtlCol="0">
            <a:spAutoFit/>
          </a:bodyPr>
          <a:lstStyle/>
          <a:p>
            <a:r>
              <a:rPr lang="zh-CN" sz="1200" b="1">
                <a:gradFill>
                  <a:gsLst>
                    <a:gs pos="0">
                      <a:srgbClr val="E30000"/>
                    </a:gs>
                    <a:gs pos="100000">
                      <a:srgbClr val="760303"/>
                    </a:gs>
                  </a:gsLst>
                  <a:lin scaled="0"/>
                </a:gradFill>
              </a:rPr>
              <a:t>定义低优先级仲裁方法（高优先级始终</a:t>
            </a:r>
            <a:r>
              <a:rPr lang="en-US" altLang="zh-CN" sz="1200" b="1">
                <a:gradFill>
                  <a:gsLst>
                    <a:gs pos="0">
                      <a:srgbClr val="E30000"/>
                    </a:gs>
                    <a:gs pos="100000">
                      <a:srgbClr val="760303"/>
                    </a:gs>
                  </a:gsLst>
                  <a:lin scaled="0"/>
                </a:gradFill>
              </a:rPr>
              <a:t>SP</a:t>
            </a:r>
            <a:r>
              <a:rPr lang="zh-CN" sz="1200" b="1">
                <a:gradFill>
                  <a:gsLst>
                    <a:gs pos="0">
                      <a:srgbClr val="E30000"/>
                    </a:gs>
                    <a:gs pos="100000">
                      <a:srgbClr val="760303"/>
                    </a:gs>
                  </a:gsLst>
                  <a:lin scaled="0"/>
                </a:gradFill>
              </a:rPr>
              <a:t>）</a:t>
            </a:r>
          </a:p>
        </p:txBody>
      </p:sp>
      <p:pic>
        <p:nvPicPr>
          <p:cNvPr id="15" name="图片 14"/>
          <p:cNvPicPr>
            <a:picLocks noChangeAspect="1"/>
          </p:cNvPicPr>
          <p:nvPr>
            <p:custDataLst>
              <p:tags r:id="rId9"/>
            </p:custDataLst>
          </p:nvPr>
        </p:nvPicPr>
        <p:blipFill>
          <a:blip r:embed="rId19"/>
          <a:stretch>
            <a:fillRect/>
          </a:stretch>
        </p:blipFill>
        <p:spPr>
          <a:xfrm>
            <a:off x="5292090" y="4370070"/>
            <a:ext cx="2146935" cy="913765"/>
          </a:xfrm>
          <a:prstGeom prst="rect">
            <a:avLst/>
          </a:prstGeom>
        </p:spPr>
      </p:pic>
      <p:cxnSp>
        <p:nvCxnSpPr>
          <p:cNvPr id="16" name="直接箭头连接符 15"/>
          <p:cNvCxnSpPr/>
          <p:nvPr>
            <p:custDataLst>
              <p:tags r:id="rId10"/>
            </p:custDataLst>
          </p:nvPr>
        </p:nvCxnSpPr>
        <p:spPr>
          <a:xfrm>
            <a:off x="2051685" y="2060575"/>
            <a:ext cx="3408045" cy="2705100"/>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7" name="文本框 16"/>
          <p:cNvSpPr txBox="1"/>
          <p:nvPr>
            <p:custDataLst>
              <p:tags r:id="rId11"/>
            </p:custDataLst>
          </p:nvPr>
        </p:nvSpPr>
        <p:spPr>
          <a:xfrm>
            <a:off x="7379970" y="4696460"/>
            <a:ext cx="1452245" cy="645160"/>
          </a:xfrm>
          <a:prstGeom prst="rect">
            <a:avLst/>
          </a:prstGeom>
          <a:noFill/>
        </p:spPr>
        <p:txBody>
          <a:bodyPr wrap="square" rtlCol="0">
            <a:spAutoFit/>
          </a:bodyPr>
          <a:lstStyle/>
          <a:p>
            <a:r>
              <a:rPr lang="zh-CN" sz="1200" b="1">
                <a:gradFill>
                  <a:gsLst>
                    <a:gs pos="0">
                      <a:srgbClr val="E30000"/>
                    </a:gs>
                    <a:gs pos="100000">
                      <a:srgbClr val="760303"/>
                    </a:gs>
                  </a:gsLst>
                  <a:lin scaled="0"/>
                </a:gradFill>
              </a:rPr>
              <a:t>硬件应用新的仲裁后，</a:t>
            </a:r>
            <a:r>
              <a:rPr lang="en-US" altLang="zh-CN" sz="1200" b="1">
                <a:gradFill>
                  <a:gsLst>
                    <a:gs pos="0">
                      <a:srgbClr val="E30000"/>
                    </a:gs>
                    <a:gs pos="100000">
                      <a:srgbClr val="760303"/>
                    </a:gs>
                  </a:gsLst>
                  <a:lin scaled="0"/>
                </a:gradFill>
              </a:rPr>
              <a:t>clear</a:t>
            </a:r>
            <a:r>
              <a:rPr lang="zh-CN" altLang="en-US" sz="1200" b="1">
                <a:gradFill>
                  <a:gsLst>
                    <a:gs pos="0">
                      <a:srgbClr val="E30000"/>
                    </a:gs>
                    <a:gs pos="100000">
                      <a:srgbClr val="760303"/>
                    </a:gs>
                  </a:gsLst>
                  <a:lin scaled="0"/>
                </a:gradFill>
              </a:rPr>
              <a:t>以示加载仲裁表结束</a:t>
            </a:r>
            <a:endParaRPr lang="en-US" altLang="zh-CN" sz="1200" b="1">
              <a:gradFill>
                <a:gsLst>
                  <a:gs pos="0">
                    <a:srgbClr val="E30000"/>
                  </a:gs>
                  <a:gs pos="100000">
                    <a:srgbClr val="760303"/>
                  </a:gs>
                </a:gsLst>
                <a:lin scaled="0"/>
              </a:gradFill>
            </a:endParaRPr>
          </a:p>
        </p:txBody>
      </p:sp>
      <p:sp>
        <p:nvSpPr>
          <p:cNvPr id="18" name="文本框 17"/>
          <p:cNvSpPr txBox="1"/>
          <p:nvPr>
            <p:custDataLst>
              <p:tags r:id="rId12"/>
            </p:custDataLst>
          </p:nvPr>
        </p:nvSpPr>
        <p:spPr>
          <a:xfrm>
            <a:off x="7178040" y="3860800"/>
            <a:ext cx="1856740" cy="460375"/>
          </a:xfrm>
          <a:prstGeom prst="rect">
            <a:avLst/>
          </a:prstGeom>
          <a:noFill/>
        </p:spPr>
        <p:txBody>
          <a:bodyPr wrap="square" rtlCol="0">
            <a:spAutoFit/>
          </a:bodyPr>
          <a:lstStyle/>
          <a:p>
            <a:r>
              <a:rPr lang="zh-CN" sz="1200" b="1">
                <a:gradFill>
                  <a:gsLst>
                    <a:gs pos="0">
                      <a:srgbClr val="E30000"/>
                    </a:gs>
                    <a:gs pos="100000">
                      <a:srgbClr val="760303"/>
                    </a:gs>
                  </a:gsLst>
                  <a:lin scaled="0"/>
                </a:gradFill>
              </a:rPr>
              <a:t>软件写</a:t>
            </a:r>
            <a:r>
              <a:rPr lang="en-US" altLang="zh-CN" sz="1200" b="1">
                <a:gradFill>
                  <a:gsLst>
                    <a:gs pos="0">
                      <a:srgbClr val="E30000"/>
                    </a:gs>
                    <a:gs pos="100000">
                      <a:srgbClr val="760303"/>
                    </a:gs>
                  </a:gsLst>
                  <a:lin scaled="0"/>
                </a:gradFill>
              </a:rPr>
              <a:t>1</a:t>
            </a:r>
            <a:r>
              <a:rPr lang="zh-CN" altLang="en-US" sz="1200" b="1">
                <a:gradFill>
                  <a:gsLst>
                    <a:gs pos="0">
                      <a:srgbClr val="E30000"/>
                    </a:gs>
                    <a:gs pos="100000">
                      <a:srgbClr val="760303"/>
                    </a:gs>
                  </a:gsLst>
                  <a:lin scaled="0"/>
                </a:gradFill>
              </a:rPr>
              <a:t>，然后硬件检测到后设置</a:t>
            </a:r>
            <a:r>
              <a:rPr lang="en-US" altLang="zh-CN" sz="1200" b="1">
                <a:gradFill>
                  <a:gsLst>
                    <a:gs pos="0">
                      <a:srgbClr val="E30000"/>
                    </a:gs>
                    <a:gs pos="100000">
                      <a:srgbClr val="760303"/>
                    </a:gs>
                  </a:gsLst>
                  <a:lin scaled="0"/>
                </a:gradFill>
              </a:rPr>
              <a:t>Status</a:t>
            </a:r>
            <a:r>
              <a:rPr lang="zh-CN" altLang="en-US" sz="1200" b="1">
                <a:gradFill>
                  <a:gsLst>
                    <a:gs pos="0">
                      <a:srgbClr val="E30000"/>
                    </a:gs>
                    <a:gs pos="100000">
                      <a:srgbClr val="760303"/>
                    </a:gs>
                  </a:gsLst>
                  <a:lin scaled="0"/>
                </a:gradFill>
              </a:rPr>
              <a:t>位。</a:t>
            </a:r>
          </a:p>
        </p:txBody>
      </p:sp>
      <p:sp>
        <p:nvSpPr>
          <p:cNvPr id="20" name="文本框 19"/>
          <p:cNvSpPr txBox="1"/>
          <p:nvPr>
            <p:custDataLst>
              <p:tags r:id="rId13"/>
            </p:custDataLst>
          </p:nvPr>
        </p:nvSpPr>
        <p:spPr>
          <a:xfrm>
            <a:off x="71755" y="4545965"/>
            <a:ext cx="1124585" cy="229870"/>
          </a:xfrm>
          <a:prstGeom prst="rect">
            <a:avLst/>
          </a:prstGeom>
          <a:noFill/>
        </p:spPr>
        <p:txBody>
          <a:bodyPr wrap="square" rtlCol="0">
            <a:spAutoFit/>
          </a:bodyPr>
          <a:lstStyle/>
          <a:p>
            <a:r>
              <a:rPr lang="zh-CN" sz="900" b="1">
                <a:gradFill>
                  <a:gsLst>
                    <a:gs pos="0">
                      <a:srgbClr val="E30000"/>
                    </a:gs>
                    <a:gs pos="100000">
                      <a:srgbClr val="760303"/>
                    </a:gs>
                  </a:gsLst>
                  <a:lin scaled="0"/>
                </a:gradFill>
                <a:highlight>
                  <a:srgbClr val="FFFF00"/>
                </a:highlight>
              </a:rPr>
              <a:t>端口仲裁表大小</a:t>
            </a:r>
          </a:p>
        </p:txBody>
      </p:sp>
      <p:sp>
        <p:nvSpPr>
          <p:cNvPr id="22" name="文本框 21"/>
          <p:cNvSpPr txBox="1"/>
          <p:nvPr>
            <p:custDataLst>
              <p:tags r:id="rId14"/>
            </p:custDataLst>
          </p:nvPr>
        </p:nvSpPr>
        <p:spPr>
          <a:xfrm>
            <a:off x="8385810" y="2639060"/>
            <a:ext cx="948055" cy="460375"/>
          </a:xfrm>
          <a:prstGeom prst="rect">
            <a:avLst/>
          </a:prstGeom>
          <a:noFill/>
        </p:spPr>
        <p:txBody>
          <a:bodyPr wrap="square" rtlCol="0">
            <a:spAutoFit/>
          </a:bodyPr>
          <a:lstStyle/>
          <a:p>
            <a:r>
              <a:rPr lang="en-US" sz="800" b="1">
                <a:gradFill>
                  <a:gsLst>
                    <a:gs pos="0">
                      <a:srgbClr val="E30000"/>
                    </a:gs>
                    <a:gs pos="100000">
                      <a:srgbClr val="760303"/>
                    </a:gs>
                  </a:gsLst>
                  <a:lin scaled="0"/>
                </a:gradFill>
              </a:rPr>
              <a:t>001</a:t>
            </a:r>
            <a:r>
              <a:rPr lang="zh-CN" altLang="en-US" sz="800" b="1">
                <a:gradFill>
                  <a:gsLst>
                    <a:gs pos="0">
                      <a:srgbClr val="E30000"/>
                    </a:gs>
                    <a:gs pos="100000">
                      <a:srgbClr val="760303"/>
                    </a:gs>
                  </a:gsLst>
                  <a:lin scaled="0"/>
                </a:gradFill>
              </a:rPr>
              <a:t>：</a:t>
            </a:r>
            <a:r>
              <a:rPr lang="en-US" altLang="zh-CN" sz="800" b="1">
                <a:gradFill>
                  <a:gsLst>
                    <a:gs pos="0">
                      <a:srgbClr val="E30000"/>
                    </a:gs>
                    <a:gs pos="100000">
                      <a:srgbClr val="760303"/>
                    </a:gs>
                  </a:gsLst>
                  <a:lin scaled="0"/>
                </a:gradFill>
              </a:rPr>
              <a:t>WRR</a:t>
            </a:r>
            <a:r>
              <a:rPr lang="en-US" sz="800" b="1">
                <a:gradFill>
                  <a:gsLst>
                    <a:gs pos="0">
                      <a:srgbClr val="E30000"/>
                    </a:gs>
                    <a:gs pos="100000">
                      <a:srgbClr val="760303"/>
                    </a:gs>
                  </a:gsLst>
                  <a:lin scaled="0"/>
                </a:gradFill>
              </a:rPr>
              <a:t>32</a:t>
            </a:r>
          </a:p>
          <a:p>
            <a:r>
              <a:rPr lang="en-US" altLang="zh-CN" sz="800" b="1">
                <a:gradFill>
                  <a:gsLst>
                    <a:gs pos="0">
                      <a:srgbClr val="E30000"/>
                    </a:gs>
                    <a:gs pos="100000">
                      <a:srgbClr val="760303"/>
                    </a:gs>
                  </a:gsLst>
                  <a:lin scaled="0"/>
                </a:gradFill>
              </a:rPr>
              <a:t>010</a:t>
            </a:r>
            <a:r>
              <a:rPr lang="zh-CN" altLang="en-US" sz="800" b="1">
                <a:gradFill>
                  <a:gsLst>
                    <a:gs pos="0">
                      <a:srgbClr val="E30000"/>
                    </a:gs>
                    <a:gs pos="100000">
                      <a:srgbClr val="760303"/>
                    </a:gs>
                  </a:gsLst>
                  <a:lin scaled="0"/>
                </a:gradFill>
              </a:rPr>
              <a:t>：</a:t>
            </a:r>
            <a:r>
              <a:rPr lang="en-US" altLang="zh-CN" sz="800" b="1">
                <a:gradFill>
                  <a:gsLst>
                    <a:gs pos="0">
                      <a:srgbClr val="E30000"/>
                    </a:gs>
                    <a:gs pos="100000">
                      <a:srgbClr val="760303"/>
                    </a:gs>
                  </a:gsLst>
                  <a:lin scaled="0"/>
                </a:gradFill>
                <a:sym typeface="+mn-ea"/>
              </a:rPr>
              <a:t>WRR</a:t>
            </a:r>
            <a:r>
              <a:rPr lang="en-US" altLang="zh-CN" sz="800" b="1">
                <a:gradFill>
                  <a:gsLst>
                    <a:gs pos="0">
                      <a:srgbClr val="E30000"/>
                    </a:gs>
                    <a:gs pos="100000">
                      <a:srgbClr val="760303"/>
                    </a:gs>
                  </a:gsLst>
                  <a:lin scaled="0"/>
                </a:gradFill>
              </a:rPr>
              <a:t>64</a:t>
            </a:r>
          </a:p>
          <a:p>
            <a:r>
              <a:rPr lang="en-US" altLang="zh-CN" sz="800" b="1">
                <a:gradFill>
                  <a:gsLst>
                    <a:gs pos="0">
                      <a:srgbClr val="E30000"/>
                    </a:gs>
                    <a:gs pos="100000">
                      <a:srgbClr val="760303"/>
                    </a:gs>
                  </a:gsLst>
                  <a:lin scaled="0"/>
                </a:gradFill>
              </a:rPr>
              <a:t>011</a:t>
            </a:r>
            <a:r>
              <a:rPr lang="zh-CN" altLang="en-US" sz="800" b="1">
                <a:gradFill>
                  <a:gsLst>
                    <a:gs pos="0">
                      <a:srgbClr val="E30000"/>
                    </a:gs>
                    <a:gs pos="100000">
                      <a:srgbClr val="760303"/>
                    </a:gs>
                  </a:gsLst>
                  <a:lin scaled="0"/>
                </a:gradFill>
              </a:rPr>
              <a:t>：</a:t>
            </a:r>
            <a:r>
              <a:rPr lang="en-US" altLang="zh-CN" sz="800" b="1">
                <a:gradFill>
                  <a:gsLst>
                    <a:gs pos="0">
                      <a:srgbClr val="E30000"/>
                    </a:gs>
                    <a:gs pos="100000">
                      <a:srgbClr val="760303"/>
                    </a:gs>
                  </a:gsLst>
                  <a:lin scaled="0"/>
                </a:gradFill>
                <a:sym typeface="+mn-ea"/>
              </a:rPr>
              <a:t>WRR</a:t>
            </a:r>
            <a:r>
              <a:rPr lang="en-US" altLang="zh-CN" sz="800" b="1">
                <a:gradFill>
                  <a:gsLst>
                    <a:gs pos="0">
                      <a:srgbClr val="E30000"/>
                    </a:gs>
                    <a:gs pos="100000">
                      <a:srgbClr val="760303"/>
                    </a:gs>
                  </a:gsLst>
                  <a:lin scaled="0"/>
                </a:gradFill>
              </a:rPr>
              <a:t>128</a:t>
            </a:r>
          </a:p>
        </p:txBody>
      </p:sp>
      <p:cxnSp>
        <p:nvCxnSpPr>
          <p:cNvPr id="23" name="直接箭头连接符 22"/>
          <p:cNvCxnSpPr/>
          <p:nvPr>
            <p:custDataLst>
              <p:tags r:id="rId15"/>
            </p:custDataLst>
          </p:nvPr>
        </p:nvCxnSpPr>
        <p:spPr>
          <a:xfrm flipV="1">
            <a:off x="8316595" y="2493010"/>
            <a:ext cx="0" cy="791210"/>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5220335" y="5805170"/>
            <a:ext cx="2917825" cy="1014730"/>
          </a:xfrm>
          <a:prstGeom prst="rect">
            <a:avLst/>
          </a:prstGeom>
          <a:noFill/>
        </p:spPr>
        <p:txBody>
          <a:bodyPr wrap="square" rtlCol="0" anchor="t">
            <a:spAutoFit/>
          </a:bodyPr>
          <a:lstStyle/>
          <a:p>
            <a:r>
              <a:rPr lang="zh-CN" altLang="en-US" sz="1200">
                <a:highlight>
                  <a:srgbClr val="FFFF00"/>
                </a:highlight>
              </a:rPr>
              <a:t>• 00b — 1 bit (selects between 2 ports)</a:t>
            </a:r>
          </a:p>
          <a:p>
            <a:r>
              <a:rPr lang="zh-CN" altLang="en-US" sz="1200">
                <a:highlight>
                  <a:srgbClr val="FFFF00"/>
                </a:highlight>
              </a:rPr>
              <a:t>• 01b — 2 bits (4 ports)</a:t>
            </a:r>
          </a:p>
          <a:p>
            <a:r>
              <a:rPr lang="zh-CN" altLang="en-US" sz="1200">
                <a:highlight>
                  <a:srgbClr val="FFFF00"/>
                </a:highlight>
              </a:rPr>
              <a:t>• 10b — 4 bits (16 ports)</a:t>
            </a:r>
          </a:p>
          <a:p>
            <a:r>
              <a:rPr lang="zh-CN" altLang="en-US" sz="1200">
                <a:highlight>
                  <a:srgbClr val="FFFF00"/>
                </a:highlight>
              </a:rPr>
              <a:t>• 11b — 8 bits (256 ports)</a:t>
            </a:r>
          </a:p>
          <a:p>
            <a:r>
              <a:rPr lang="zh-CN" altLang="en-US" sz="1200">
                <a:highlight>
                  <a:srgbClr val="FFFF00"/>
                </a:highlight>
              </a:rPr>
              <a:t>详见</a:t>
            </a:r>
            <a:r>
              <a:rPr lang="en-US" altLang="zh-CN" sz="1200">
                <a:highlight>
                  <a:srgbClr val="FFFF00"/>
                </a:highlight>
              </a:rPr>
              <a:t>P5~port</a:t>
            </a:r>
            <a:r>
              <a:rPr lang="zh-CN" altLang="en-US" sz="1200">
                <a:highlight>
                  <a:srgbClr val="FFFF00"/>
                </a:highlight>
              </a:rPr>
              <a:t>仲裁表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custDataLst>
              <p:tags r:id="rId1"/>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sym typeface="+mn-ea"/>
              </a:rPr>
              <a:t>QOS</a:t>
            </a:r>
            <a:r>
              <a:rPr lang="zh-CN" altLang="en-US" sz="2800">
                <a:gradFill>
                  <a:gsLst>
                    <a:gs pos="0">
                      <a:srgbClr val="E30000"/>
                    </a:gs>
                    <a:gs pos="100000">
                      <a:srgbClr val="760303"/>
                    </a:gs>
                  </a:gsLst>
                  <a:lin scaled="0"/>
                </a:gradFill>
                <a:sym typeface="+mn-ea"/>
              </a:rPr>
              <a:t>：</a:t>
            </a:r>
            <a:r>
              <a:rPr lang="en-US" altLang="zh-CN" sz="2800">
                <a:gradFill>
                  <a:gsLst>
                    <a:gs pos="0">
                      <a:srgbClr val="E30000"/>
                    </a:gs>
                    <a:gs pos="100000">
                      <a:srgbClr val="760303"/>
                    </a:gs>
                  </a:gsLst>
                  <a:lin scaled="0"/>
                </a:gradFill>
              </a:rPr>
              <a:t>VC</a:t>
            </a:r>
            <a:r>
              <a:rPr lang="zh-CN" altLang="en-US" sz="2800">
                <a:gradFill>
                  <a:gsLst>
                    <a:gs pos="0">
                      <a:srgbClr val="E30000"/>
                    </a:gs>
                    <a:gs pos="100000">
                      <a:srgbClr val="760303"/>
                    </a:gs>
                  </a:gsLst>
                  <a:lin scaled="0"/>
                </a:gradFill>
              </a:rPr>
              <a:t>仲裁表</a:t>
            </a:r>
          </a:p>
        </p:txBody>
      </p:sp>
      <p:pic>
        <p:nvPicPr>
          <p:cNvPr id="4" name="图片 3"/>
          <p:cNvPicPr>
            <a:picLocks noChangeAspect="1"/>
          </p:cNvPicPr>
          <p:nvPr>
            <p:custDataLst>
              <p:tags r:id="rId2"/>
            </p:custDataLst>
          </p:nvPr>
        </p:nvPicPr>
        <p:blipFill>
          <a:blip r:embed="rId6"/>
          <a:stretch>
            <a:fillRect/>
          </a:stretch>
        </p:blipFill>
        <p:spPr>
          <a:xfrm>
            <a:off x="323215" y="764540"/>
            <a:ext cx="3938905" cy="4841875"/>
          </a:xfrm>
          <a:prstGeom prst="rect">
            <a:avLst/>
          </a:prstGeom>
        </p:spPr>
      </p:pic>
      <p:sp>
        <p:nvSpPr>
          <p:cNvPr id="9" name="文本框 8"/>
          <p:cNvSpPr txBox="1"/>
          <p:nvPr>
            <p:custDataLst>
              <p:tags r:id="rId3"/>
            </p:custDataLst>
          </p:nvPr>
        </p:nvSpPr>
        <p:spPr>
          <a:xfrm>
            <a:off x="323850" y="6021070"/>
            <a:ext cx="4349750" cy="275590"/>
          </a:xfrm>
          <a:prstGeom prst="rect">
            <a:avLst/>
          </a:prstGeom>
          <a:noFill/>
        </p:spPr>
        <p:txBody>
          <a:bodyPr wrap="square" rtlCol="0">
            <a:spAutoFit/>
          </a:bodyPr>
          <a:lstStyle/>
          <a:p>
            <a:r>
              <a:rPr lang="en-US" altLang="zh-CN" sz="1200" b="1">
                <a:gradFill>
                  <a:gsLst>
                    <a:gs pos="0">
                      <a:srgbClr val="E30000"/>
                    </a:gs>
                    <a:gs pos="100000">
                      <a:srgbClr val="760303"/>
                    </a:gs>
                  </a:gsLst>
                  <a:lin scaled="0"/>
                </a:gradFill>
              </a:rPr>
              <a:t>1. </a:t>
            </a:r>
            <a:r>
              <a:rPr lang="en-US" sz="1200" b="1">
                <a:gradFill>
                  <a:gsLst>
                    <a:gs pos="0">
                      <a:srgbClr val="E30000"/>
                    </a:gs>
                    <a:gs pos="100000">
                      <a:srgbClr val="760303"/>
                    </a:gs>
                  </a:gsLst>
                  <a:lin scaled="0"/>
                </a:gradFill>
              </a:rPr>
              <a:t>VC</a:t>
            </a:r>
            <a:r>
              <a:rPr lang="zh-CN" altLang="en-US" sz="1200" b="1">
                <a:gradFill>
                  <a:gsLst>
                    <a:gs pos="0">
                      <a:srgbClr val="E30000"/>
                    </a:gs>
                    <a:gs pos="100000">
                      <a:srgbClr val="760303"/>
                    </a:gs>
                  </a:gsLst>
                  <a:lin scaled="0"/>
                </a:gradFill>
              </a:rPr>
              <a:t>仲裁表的</a:t>
            </a:r>
            <a:r>
              <a:rPr lang="en-US" altLang="zh-CN" sz="1200" b="1">
                <a:gradFill>
                  <a:gsLst>
                    <a:gs pos="0">
                      <a:srgbClr val="E30000"/>
                    </a:gs>
                    <a:gs pos="100000">
                      <a:srgbClr val="760303"/>
                    </a:gs>
                  </a:gsLst>
                  <a:lin scaled="0"/>
                </a:gradFill>
              </a:rPr>
              <a:t>Offset</a:t>
            </a:r>
            <a:r>
              <a:rPr lang="zh-CN" altLang="en-US" sz="1200" b="1">
                <a:gradFill>
                  <a:gsLst>
                    <a:gs pos="0">
                      <a:srgbClr val="E30000"/>
                    </a:gs>
                    <a:gs pos="100000">
                      <a:srgbClr val="760303"/>
                    </a:gs>
                  </a:gsLst>
                  <a:lin scaled="0"/>
                </a:gradFill>
              </a:rPr>
              <a:t>：从当前能力头部开始计算</a:t>
            </a:r>
          </a:p>
        </p:txBody>
      </p:sp>
      <p:pic>
        <p:nvPicPr>
          <p:cNvPr id="5" name="图片 4"/>
          <p:cNvPicPr>
            <a:picLocks noChangeAspect="1"/>
          </p:cNvPicPr>
          <p:nvPr>
            <p:custDataLst>
              <p:tags r:id="rId4"/>
            </p:custDataLst>
          </p:nvPr>
        </p:nvPicPr>
        <p:blipFill>
          <a:blip r:embed="rId7"/>
          <a:stretch>
            <a:fillRect/>
          </a:stretch>
        </p:blipFill>
        <p:spPr>
          <a:xfrm>
            <a:off x="4500245" y="836295"/>
            <a:ext cx="4372610" cy="34905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11"/>
          <a:stretch>
            <a:fillRect/>
          </a:stretch>
        </p:blipFill>
        <p:spPr>
          <a:xfrm>
            <a:off x="179070" y="476250"/>
            <a:ext cx="4197350" cy="2729230"/>
          </a:xfrm>
          <a:prstGeom prst="rect">
            <a:avLst/>
          </a:prstGeom>
        </p:spPr>
      </p:pic>
      <p:sp>
        <p:nvSpPr>
          <p:cNvPr id="8" name="标题 7"/>
          <p:cNvSpPr>
            <a:spLocks noGrp="1"/>
          </p:cNvSpPr>
          <p:nvPr>
            <p:ph type="title"/>
            <p:custDataLst>
              <p:tags r:id="rId2"/>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sym typeface="+mn-ea"/>
              </a:rPr>
              <a:t>QOS</a:t>
            </a:r>
            <a:r>
              <a:rPr lang="zh-CN" altLang="en-US" sz="2800">
                <a:gradFill>
                  <a:gsLst>
                    <a:gs pos="0">
                      <a:srgbClr val="E30000"/>
                    </a:gs>
                    <a:gs pos="100000">
                      <a:srgbClr val="760303"/>
                    </a:gs>
                  </a:gsLst>
                  <a:lin scaled="0"/>
                </a:gradFill>
                <a:sym typeface="+mn-ea"/>
              </a:rPr>
              <a:t>：</a:t>
            </a:r>
            <a:r>
              <a:rPr lang="en-US" altLang="zh-CN" sz="2800">
                <a:gradFill>
                  <a:gsLst>
                    <a:gs pos="0">
                      <a:srgbClr val="E30000"/>
                    </a:gs>
                    <a:gs pos="100000">
                      <a:srgbClr val="760303"/>
                    </a:gs>
                  </a:gsLst>
                  <a:lin scaled="0"/>
                </a:gradFill>
              </a:rPr>
              <a:t>Port</a:t>
            </a:r>
            <a:r>
              <a:rPr lang="zh-CN" altLang="en-US" sz="2800">
                <a:gradFill>
                  <a:gsLst>
                    <a:gs pos="0">
                      <a:srgbClr val="E30000"/>
                    </a:gs>
                    <a:gs pos="100000">
                      <a:srgbClr val="760303"/>
                    </a:gs>
                  </a:gsLst>
                  <a:lin scaled="0"/>
                </a:gradFill>
              </a:rPr>
              <a:t>仲裁</a:t>
            </a:r>
          </a:p>
        </p:txBody>
      </p:sp>
      <p:sp>
        <p:nvSpPr>
          <p:cNvPr id="5" name="文本框 4"/>
          <p:cNvSpPr txBox="1"/>
          <p:nvPr/>
        </p:nvSpPr>
        <p:spPr>
          <a:xfrm>
            <a:off x="179705" y="3213100"/>
            <a:ext cx="4832350" cy="553085"/>
          </a:xfrm>
          <a:prstGeom prst="rect">
            <a:avLst/>
          </a:prstGeom>
          <a:noFill/>
        </p:spPr>
        <p:txBody>
          <a:bodyPr wrap="square" rtlCol="0" anchor="t">
            <a:spAutoFit/>
          </a:bodyPr>
          <a:lstStyle/>
          <a:p>
            <a:r>
              <a:rPr lang="zh-CN" altLang="en-US" sz="1000">
                <a:gradFill>
                  <a:gsLst>
                    <a:gs pos="0">
                      <a:srgbClr val="E30000"/>
                    </a:gs>
                    <a:gs pos="100000">
                      <a:srgbClr val="760303"/>
                    </a:gs>
                  </a:gsLst>
                  <a:lin scaled="0"/>
                </a:gradFill>
              </a:rPr>
              <a:t>• Egress ports of switches</a:t>
            </a:r>
          </a:p>
          <a:p>
            <a:r>
              <a:rPr lang="zh-CN" altLang="en-US" sz="1000">
                <a:gradFill>
                  <a:gsLst>
                    <a:gs pos="0">
                      <a:srgbClr val="E30000"/>
                    </a:gs>
                    <a:gs pos="100000">
                      <a:srgbClr val="760303"/>
                    </a:gs>
                  </a:gsLst>
                  <a:lin scaled="0"/>
                </a:gradFill>
              </a:rPr>
              <a:t>• Root Complex ports when peer‐to‐peer transactions are supported</a:t>
            </a:r>
          </a:p>
          <a:p>
            <a:r>
              <a:rPr lang="zh-CN" altLang="en-US" sz="1000">
                <a:gradFill>
                  <a:gsLst>
                    <a:gs pos="0">
                      <a:srgbClr val="E30000"/>
                    </a:gs>
                    <a:gs pos="100000">
                      <a:srgbClr val="760303"/>
                    </a:gs>
                  </a:gsLst>
                  <a:lin scaled="0"/>
                </a:gradFill>
              </a:rPr>
              <a:t>• Root Complex egress ports that lead to targets such as main memory</a:t>
            </a:r>
          </a:p>
        </p:txBody>
      </p:sp>
      <p:pic>
        <p:nvPicPr>
          <p:cNvPr id="6" name="图片 5"/>
          <p:cNvPicPr>
            <a:picLocks noChangeAspect="1"/>
          </p:cNvPicPr>
          <p:nvPr>
            <p:custDataLst>
              <p:tags r:id="rId3"/>
            </p:custDataLst>
          </p:nvPr>
        </p:nvPicPr>
        <p:blipFill>
          <a:blip r:embed="rId12"/>
          <a:stretch>
            <a:fillRect/>
          </a:stretch>
        </p:blipFill>
        <p:spPr>
          <a:xfrm>
            <a:off x="4572000" y="476250"/>
            <a:ext cx="3310255" cy="2720975"/>
          </a:xfrm>
          <a:prstGeom prst="rect">
            <a:avLst/>
          </a:prstGeom>
        </p:spPr>
      </p:pic>
      <p:pic>
        <p:nvPicPr>
          <p:cNvPr id="7" name="图片 6"/>
          <p:cNvPicPr>
            <a:picLocks noChangeAspect="1"/>
          </p:cNvPicPr>
          <p:nvPr>
            <p:custDataLst>
              <p:tags r:id="rId4"/>
            </p:custDataLst>
          </p:nvPr>
        </p:nvPicPr>
        <p:blipFill>
          <a:blip r:embed="rId13"/>
          <a:stretch>
            <a:fillRect/>
          </a:stretch>
        </p:blipFill>
        <p:spPr>
          <a:xfrm>
            <a:off x="179070" y="3716655"/>
            <a:ext cx="4037330" cy="3026410"/>
          </a:xfrm>
          <a:prstGeom prst="rect">
            <a:avLst/>
          </a:prstGeom>
        </p:spPr>
      </p:pic>
      <p:sp>
        <p:nvSpPr>
          <p:cNvPr id="9" name="文本框 8"/>
          <p:cNvSpPr txBox="1"/>
          <p:nvPr>
            <p:custDataLst>
              <p:tags r:id="rId5"/>
            </p:custDataLst>
          </p:nvPr>
        </p:nvSpPr>
        <p:spPr>
          <a:xfrm>
            <a:off x="2339975" y="5445125"/>
            <a:ext cx="1050925" cy="229870"/>
          </a:xfrm>
          <a:prstGeom prst="rect">
            <a:avLst/>
          </a:prstGeom>
          <a:noFill/>
        </p:spPr>
        <p:txBody>
          <a:bodyPr wrap="square" rtlCol="0">
            <a:spAutoFit/>
          </a:bodyPr>
          <a:lstStyle/>
          <a:p>
            <a:r>
              <a:rPr lang="en-US" sz="900" b="1">
                <a:gradFill>
                  <a:gsLst>
                    <a:gs pos="0">
                      <a:srgbClr val="E30000"/>
                    </a:gs>
                    <a:gs pos="100000">
                      <a:srgbClr val="760303"/>
                    </a:gs>
                  </a:gsLst>
                  <a:lin scaled="0"/>
                </a:gradFill>
              </a:rPr>
              <a:t>Src_port</a:t>
            </a:r>
          </a:p>
        </p:txBody>
      </p:sp>
      <p:pic>
        <p:nvPicPr>
          <p:cNvPr id="10" name="图片 9"/>
          <p:cNvPicPr>
            <a:picLocks noChangeAspect="1"/>
          </p:cNvPicPr>
          <p:nvPr>
            <p:custDataLst>
              <p:tags r:id="rId6"/>
            </p:custDataLst>
          </p:nvPr>
        </p:nvPicPr>
        <p:blipFill>
          <a:blip r:embed="rId14"/>
          <a:stretch>
            <a:fillRect/>
          </a:stretch>
        </p:blipFill>
        <p:spPr>
          <a:xfrm>
            <a:off x="4572000" y="3282950"/>
            <a:ext cx="3082290" cy="3460115"/>
          </a:xfrm>
          <a:prstGeom prst="rect">
            <a:avLst/>
          </a:prstGeom>
        </p:spPr>
      </p:pic>
      <p:cxnSp>
        <p:nvCxnSpPr>
          <p:cNvPr id="23" name="直接箭头连接符 22"/>
          <p:cNvCxnSpPr/>
          <p:nvPr>
            <p:custDataLst>
              <p:tags r:id="rId7"/>
            </p:custDataLst>
          </p:nvPr>
        </p:nvCxnSpPr>
        <p:spPr>
          <a:xfrm flipV="1">
            <a:off x="5940425" y="5445125"/>
            <a:ext cx="0" cy="431165"/>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custDataLst>
              <p:tags r:id="rId8"/>
            </p:custDataLst>
          </p:nvPr>
        </p:nvCxnSpPr>
        <p:spPr>
          <a:xfrm flipH="1">
            <a:off x="5292090" y="4076700"/>
            <a:ext cx="360045" cy="792480"/>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2" name="文本框 11"/>
          <p:cNvSpPr txBox="1"/>
          <p:nvPr>
            <p:custDataLst>
              <p:tags r:id="rId9"/>
            </p:custDataLst>
          </p:nvPr>
        </p:nvSpPr>
        <p:spPr>
          <a:xfrm>
            <a:off x="7668260" y="4796790"/>
            <a:ext cx="1231265" cy="553085"/>
          </a:xfrm>
          <a:prstGeom prst="rect">
            <a:avLst/>
          </a:prstGeom>
          <a:noFill/>
        </p:spPr>
        <p:txBody>
          <a:bodyPr wrap="square" rtlCol="0" anchor="t">
            <a:spAutoFit/>
          </a:bodyPr>
          <a:lstStyle/>
          <a:p>
            <a:r>
              <a:rPr lang="en-US" altLang="zh-CN" sz="1000">
                <a:gradFill>
                  <a:gsLst>
                    <a:gs pos="0">
                      <a:srgbClr val="E30000"/>
                    </a:gs>
                    <a:gs pos="100000">
                      <a:srgbClr val="760303"/>
                    </a:gs>
                  </a:gsLst>
                  <a:lin scaled="0"/>
                </a:gradFill>
              </a:rPr>
              <a:t>TBWRR</a:t>
            </a:r>
            <a:r>
              <a:rPr lang="zh-CN" altLang="en-US" sz="1000">
                <a:gradFill>
                  <a:gsLst>
                    <a:gs pos="0">
                      <a:srgbClr val="E30000"/>
                    </a:gs>
                    <a:gs pos="100000">
                      <a:srgbClr val="760303"/>
                    </a:gs>
                  </a:gsLst>
                  <a:lin scaled="0"/>
                </a:gradFill>
              </a:rPr>
              <a:t>：</a:t>
            </a:r>
            <a:endParaRPr lang="zh-CN" sz="1000">
              <a:gradFill>
                <a:gsLst>
                  <a:gs pos="0">
                    <a:srgbClr val="E30000"/>
                  </a:gs>
                  <a:gs pos="100000">
                    <a:srgbClr val="760303"/>
                  </a:gs>
                </a:gsLst>
                <a:lin scaled="0"/>
              </a:gradFill>
            </a:endParaRPr>
          </a:p>
          <a:p>
            <a:r>
              <a:rPr lang="zh-CN" sz="1000">
                <a:gradFill>
                  <a:gsLst>
                    <a:gs pos="0">
                      <a:srgbClr val="E30000"/>
                    </a:gs>
                    <a:gs pos="100000">
                      <a:srgbClr val="760303"/>
                    </a:gs>
                  </a:gsLst>
                  <a:lin scaled="0"/>
                </a:gradFill>
              </a:rPr>
              <a:t>经过一定的时间才进入下一个</a:t>
            </a:r>
            <a:r>
              <a:rPr lang="en-US" altLang="zh-CN" sz="1000">
                <a:gradFill>
                  <a:gsLst>
                    <a:gs pos="0">
                      <a:srgbClr val="E30000"/>
                    </a:gs>
                    <a:gs pos="100000">
                      <a:srgbClr val="760303"/>
                    </a:gs>
                  </a:gsLst>
                  <a:lin scaled="0"/>
                </a:gradFill>
              </a:rPr>
              <a:t>phase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8"/>
          <a:stretch>
            <a:fillRect/>
          </a:stretch>
        </p:blipFill>
        <p:spPr>
          <a:xfrm>
            <a:off x="4067810" y="554990"/>
            <a:ext cx="4776470" cy="5838190"/>
          </a:xfrm>
          <a:prstGeom prst="rect">
            <a:avLst/>
          </a:prstGeom>
        </p:spPr>
      </p:pic>
      <p:pic>
        <p:nvPicPr>
          <p:cNvPr id="6" name="图片 5"/>
          <p:cNvPicPr>
            <a:picLocks noChangeAspect="1"/>
          </p:cNvPicPr>
          <p:nvPr>
            <p:custDataLst>
              <p:tags r:id="rId2"/>
            </p:custDataLst>
          </p:nvPr>
        </p:nvPicPr>
        <p:blipFill>
          <a:blip r:embed="rId9"/>
          <a:stretch>
            <a:fillRect/>
          </a:stretch>
        </p:blipFill>
        <p:spPr>
          <a:xfrm>
            <a:off x="316230" y="764540"/>
            <a:ext cx="3310255" cy="2720975"/>
          </a:xfrm>
          <a:prstGeom prst="rect">
            <a:avLst/>
          </a:prstGeom>
        </p:spPr>
      </p:pic>
      <p:sp>
        <p:nvSpPr>
          <p:cNvPr id="8" name="标题 7"/>
          <p:cNvSpPr>
            <a:spLocks noGrp="1"/>
          </p:cNvSpPr>
          <p:nvPr>
            <p:ph type="title"/>
            <p:custDataLst>
              <p:tags r:id="rId3"/>
            </p:custDataLst>
          </p:nvPr>
        </p:nvSpPr>
        <p:spPr>
          <a:xfrm>
            <a:off x="107315" y="93980"/>
            <a:ext cx="8508365" cy="461010"/>
          </a:xfrm>
        </p:spPr>
        <p:txBody>
          <a:bodyPr/>
          <a:lstStyle/>
          <a:p>
            <a:pPr algn="l"/>
            <a:r>
              <a:rPr lang="en-US" altLang="zh-CN" sz="2800">
                <a:gradFill>
                  <a:gsLst>
                    <a:gs pos="0">
                      <a:srgbClr val="E30000"/>
                    </a:gs>
                    <a:gs pos="100000">
                      <a:srgbClr val="760303"/>
                    </a:gs>
                  </a:gsLst>
                  <a:lin scaled="0"/>
                </a:gradFill>
                <a:sym typeface="+mn-ea"/>
              </a:rPr>
              <a:t>QOS</a:t>
            </a:r>
            <a:r>
              <a:rPr lang="zh-CN" altLang="en-US" sz="2800">
                <a:gradFill>
                  <a:gsLst>
                    <a:gs pos="0">
                      <a:srgbClr val="E30000"/>
                    </a:gs>
                    <a:gs pos="100000">
                      <a:srgbClr val="760303"/>
                    </a:gs>
                  </a:gsLst>
                  <a:lin scaled="0"/>
                </a:gradFill>
                <a:sym typeface="+mn-ea"/>
              </a:rPr>
              <a:t>：</a:t>
            </a:r>
            <a:r>
              <a:rPr lang="en-US" altLang="zh-CN" sz="2800">
                <a:gradFill>
                  <a:gsLst>
                    <a:gs pos="0">
                      <a:srgbClr val="E30000"/>
                    </a:gs>
                    <a:gs pos="100000">
                      <a:srgbClr val="760303"/>
                    </a:gs>
                  </a:gsLst>
                  <a:lin scaled="0"/>
                </a:gradFill>
              </a:rPr>
              <a:t>Port</a:t>
            </a:r>
            <a:r>
              <a:rPr lang="zh-CN" altLang="en-US" sz="2800">
                <a:gradFill>
                  <a:gsLst>
                    <a:gs pos="0">
                      <a:srgbClr val="E30000"/>
                    </a:gs>
                    <a:gs pos="100000">
                      <a:srgbClr val="760303"/>
                    </a:gs>
                  </a:gsLst>
                  <a:lin scaled="0"/>
                </a:gradFill>
              </a:rPr>
              <a:t>仲裁表</a:t>
            </a:r>
          </a:p>
        </p:txBody>
      </p:sp>
      <p:pic>
        <p:nvPicPr>
          <p:cNvPr id="10" name="图片 9"/>
          <p:cNvPicPr>
            <a:picLocks noChangeAspect="1"/>
          </p:cNvPicPr>
          <p:nvPr>
            <p:custDataLst>
              <p:tags r:id="rId4"/>
            </p:custDataLst>
          </p:nvPr>
        </p:nvPicPr>
        <p:blipFill>
          <a:blip r:embed="rId10"/>
          <a:stretch>
            <a:fillRect/>
          </a:stretch>
        </p:blipFill>
        <p:spPr>
          <a:xfrm>
            <a:off x="323215" y="3500755"/>
            <a:ext cx="2734945" cy="3070860"/>
          </a:xfrm>
          <a:prstGeom prst="rect">
            <a:avLst/>
          </a:prstGeom>
        </p:spPr>
      </p:pic>
      <p:cxnSp>
        <p:nvCxnSpPr>
          <p:cNvPr id="11" name="直接箭头连接符 10"/>
          <p:cNvCxnSpPr/>
          <p:nvPr>
            <p:custDataLst>
              <p:tags r:id="rId5"/>
            </p:custDataLst>
          </p:nvPr>
        </p:nvCxnSpPr>
        <p:spPr>
          <a:xfrm flipV="1">
            <a:off x="2843530" y="2060575"/>
            <a:ext cx="1656080" cy="2592705"/>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5" name="文本框 4"/>
          <p:cNvSpPr txBox="1"/>
          <p:nvPr>
            <p:custDataLst>
              <p:tags r:id="rId6"/>
            </p:custDataLst>
          </p:nvPr>
        </p:nvSpPr>
        <p:spPr>
          <a:xfrm>
            <a:off x="2987675" y="4076700"/>
            <a:ext cx="1656715" cy="398780"/>
          </a:xfrm>
          <a:prstGeom prst="rect">
            <a:avLst/>
          </a:prstGeom>
          <a:noFill/>
        </p:spPr>
        <p:txBody>
          <a:bodyPr wrap="square" rtlCol="0" anchor="t">
            <a:spAutoFit/>
          </a:bodyPr>
          <a:lstStyle/>
          <a:p>
            <a:r>
              <a:rPr lang="zh-CN" altLang="en-US" sz="1000">
                <a:gradFill>
                  <a:gsLst>
                    <a:gs pos="0">
                      <a:srgbClr val="E30000"/>
                    </a:gs>
                    <a:gs pos="100000">
                      <a:srgbClr val="760303"/>
                    </a:gs>
                  </a:gsLst>
                  <a:lin scaled="0"/>
                </a:gradFill>
              </a:rPr>
              <a:t>• </a:t>
            </a:r>
            <a:r>
              <a:rPr lang="en-US" altLang="zh-CN" sz="1000">
                <a:gradFill>
                  <a:gsLst>
                    <a:gs pos="0">
                      <a:srgbClr val="E30000"/>
                    </a:gs>
                    <a:gs pos="100000">
                      <a:srgbClr val="760303"/>
                    </a:gs>
                  </a:gsLst>
                  <a:lin scaled="0"/>
                </a:gradFill>
              </a:rPr>
              <a:t>Phase</a:t>
            </a:r>
            <a:r>
              <a:rPr lang="zh-CN" altLang="en-US" sz="1000">
                <a:gradFill>
                  <a:gsLst>
                    <a:gs pos="0">
                      <a:srgbClr val="E30000"/>
                    </a:gs>
                    <a:gs pos="100000">
                      <a:srgbClr val="760303"/>
                    </a:gs>
                  </a:gsLst>
                  <a:lin scaled="0"/>
                </a:gradFill>
              </a:rPr>
              <a:t>个数</a:t>
            </a:r>
            <a:r>
              <a:rPr lang="en-US" altLang="zh-CN" sz="1000">
                <a:gradFill>
                  <a:gsLst>
                    <a:gs pos="0">
                      <a:srgbClr val="E30000"/>
                    </a:gs>
                    <a:gs pos="100000">
                      <a:srgbClr val="760303"/>
                    </a:gs>
                  </a:gsLst>
                  <a:lin scaled="0"/>
                </a:gradFill>
              </a:rPr>
              <a:t> X Entry</a:t>
            </a:r>
            <a:r>
              <a:rPr lang="zh-CN" altLang="en-US" sz="1000">
                <a:gradFill>
                  <a:gsLst>
                    <a:gs pos="0">
                      <a:srgbClr val="E30000"/>
                    </a:gs>
                    <a:gs pos="100000">
                      <a:srgbClr val="760303"/>
                    </a:gs>
                  </a:gsLst>
                  <a:lin scaled="0"/>
                </a:gradFill>
              </a:rPr>
              <a:t>位数决定这个表大小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11"/>
          <a:stretch>
            <a:fillRect/>
          </a:stretch>
        </p:blipFill>
        <p:spPr>
          <a:xfrm>
            <a:off x="156210" y="404495"/>
            <a:ext cx="4077335" cy="2711450"/>
          </a:xfrm>
          <a:prstGeom prst="rect">
            <a:avLst/>
          </a:prstGeom>
        </p:spPr>
      </p:pic>
      <p:sp>
        <p:nvSpPr>
          <p:cNvPr id="8" name="标题 7"/>
          <p:cNvSpPr>
            <a:spLocks noGrp="1"/>
          </p:cNvSpPr>
          <p:nvPr>
            <p:ph type="title"/>
            <p:custDataLst>
              <p:tags r:id="rId2"/>
            </p:custDataLst>
          </p:nvPr>
        </p:nvSpPr>
        <p:spPr>
          <a:xfrm>
            <a:off x="107315" y="93980"/>
            <a:ext cx="8508365" cy="461010"/>
          </a:xfrm>
        </p:spPr>
        <p:txBody>
          <a:bodyPr/>
          <a:lstStyle/>
          <a:p>
            <a:pPr algn="l"/>
            <a:r>
              <a:rPr lang="zh-CN" altLang="en-US" sz="2800">
                <a:gradFill>
                  <a:gsLst>
                    <a:gs pos="0">
                      <a:srgbClr val="E30000"/>
                    </a:gs>
                    <a:gs pos="100000">
                      <a:srgbClr val="760303"/>
                    </a:gs>
                  </a:gsLst>
                  <a:lin scaled="0"/>
                </a:gradFill>
                <a:sym typeface="+mn-ea"/>
              </a:rPr>
              <a:t>中断</a:t>
            </a:r>
            <a:r>
              <a:rPr lang="en-US" altLang="zh-CN" sz="2800">
                <a:gradFill>
                  <a:gsLst>
                    <a:gs pos="0">
                      <a:srgbClr val="E30000"/>
                    </a:gs>
                    <a:gs pos="100000">
                      <a:srgbClr val="760303"/>
                    </a:gs>
                  </a:gsLst>
                  <a:lin scaled="0"/>
                </a:gradFill>
                <a:sym typeface="+mn-ea"/>
              </a:rPr>
              <a:t>-Legacy</a:t>
            </a:r>
            <a:r>
              <a:rPr lang="zh-CN" altLang="en-US" sz="2800">
                <a:gradFill>
                  <a:gsLst>
                    <a:gs pos="0">
                      <a:srgbClr val="E30000"/>
                    </a:gs>
                    <a:gs pos="100000">
                      <a:srgbClr val="760303"/>
                    </a:gs>
                  </a:gsLst>
                  <a:lin scaled="0"/>
                </a:gradFill>
                <a:sym typeface="+mn-ea"/>
              </a:rPr>
              <a:t>模式</a:t>
            </a:r>
          </a:p>
        </p:txBody>
      </p:sp>
      <p:pic>
        <p:nvPicPr>
          <p:cNvPr id="6" name="图片 5"/>
          <p:cNvPicPr>
            <a:picLocks noChangeAspect="1"/>
          </p:cNvPicPr>
          <p:nvPr>
            <p:custDataLst>
              <p:tags r:id="rId3"/>
            </p:custDataLst>
          </p:nvPr>
        </p:nvPicPr>
        <p:blipFill>
          <a:blip r:embed="rId12"/>
          <a:stretch>
            <a:fillRect/>
          </a:stretch>
        </p:blipFill>
        <p:spPr>
          <a:xfrm>
            <a:off x="4859655" y="188595"/>
            <a:ext cx="3740150" cy="3148330"/>
          </a:xfrm>
          <a:prstGeom prst="rect">
            <a:avLst/>
          </a:prstGeom>
        </p:spPr>
      </p:pic>
      <p:pic>
        <p:nvPicPr>
          <p:cNvPr id="7" name="图片 6"/>
          <p:cNvPicPr>
            <a:picLocks noChangeAspect="1"/>
          </p:cNvPicPr>
          <p:nvPr>
            <p:custDataLst>
              <p:tags r:id="rId4"/>
            </p:custDataLst>
          </p:nvPr>
        </p:nvPicPr>
        <p:blipFill>
          <a:blip r:embed="rId13"/>
          <a:stretch>
            <a:fillRect/>
          </a:stretch>
        </p:blipFill>
        <p:spPr>
          <a:xfrm>
            <a:off x="179705" y="3115945"/>
            <a:ext cx="4125595" cy="3288030"/>
          </a:xfrm>
          <a:prstGeom prst="rect">
            <a:avLst/>
          </a:prstGeom>
        </p:spPr>
      </p:pic>
      <p:sp>
        <p:nvSpPr>
          <p:cNvPr id="13" name="文本框 12"/>
          <p:cNvSpPr txBox="1"/>
          <p:nvPr>
            <p:custDataLst>
              <p:tags r:id="rId5"/>
            </p:custDataLst>
          </p:nvPr>
        </p:nvSpPr>
        <p:spPr>
          <a:xfrm>
            <a:off x="828040" y="6453505"/>
            <a:ext cx="5777865" cy="368300"/>
          </a:xfrm>
          <a:prstGeom prst="rect">
            <a:avLst/>
          </a:prstGeom>
          <a:noFill/>
        </p:spPr>
        <p:txBody>
          <a:bodyPr wrap="square" rtlCol="0" anchor="t">
            <a:spAutoFit/>
          </a:bodyPr>
          <a:lstStyle/>
          <a:p>
            <a:r>
              <a:rPr lang="en-US" altLang="zh-CN">
                <a:highlight>
                  <a:srgbClr val="00FF00"/>
                </a:highlight>
              </a:rPr>
              <a:t>IRQ</a:t>
            </a:r>
            <a:r>
              <a:rPr lang="zh-CN" altLang="en-US">
                <a:highlight>
                  <a:srgbClr val="00FF00"/>
                </a:highlight>
              </a:rPr>
              <a:t>线不够</a:t>
            </a:r>
            <a:r>
              <a:rPr lang="en-US" altLang="zh-CN">
                <a:highlight>
                  <a:srgbClr val="00FF00"/>
                </a:highlight>
              </a:rPr>
              <a:t>--&gt; </a:t>
            </a:r>
            <a:r>
              <a:rPr lang="zh-CN" altLang="en-US">
                <a:highlight>
                  <a:srgbClr val="00FF00"/>
                </a:highlight>
              </a:rPr>
              <a:t>让设备各自发送中断消息</a:t>
            </a:r>
          </a:p>
        </p:txBody>
      </p:sp>
      <p:pic>
        <p:nvPicPr>
          <p:cNvPr id="10" name="图片 9"/>
          <p:cNvPicPr>
            <a:picLocks noChangeAspect="1"/>
          </p:cNvPicPr>
          <p:nvPr>
            <p:custDataLst>
              <p:tags r:id="rId6"/>
            </p:custDataLst>
          </p:nvPr>
        </p:nvPicPr>
        <p:blipFill>
          <a:blip r:embed="rId14"/>
          <a:stretch>
            <a:fillRect/>
          </a:stretch>
        </p:blipFill>
        <p:spPr>
          <a:xfrm>
            <a:off x="4860290" y="3284855"/>
            <a:ext cx="3738880" cy="3221990"/>
          </a:xfrm>
          <a:prstGeom prst="rect">
            <a:avLst/>
          </a:prstGeom>
        </p:spPr>
      </p:pic>
      <p:sp>
        <p:nvSpPr>
          <p:cNvPr id="11" name="文本框 10"/>
          <p:cNvSpPr txBox="1"/>
          <p:nvPr>
            <p:custDataLst>
              <p:tags r:id="rId7"/>
            </p:custDataLst>
          </p:nvPr>
        </p:nvSpPr>
        <p:spPr>
          <a:xfrm>
            <a:off x="2916555" y="3429000"/>
            <a:ext cx="1428750" cy="368300"/>
          </a:xfrm>
          <a:prstGeom prst="rect">
            <a:avLst/>
          </a:prstGeom>
          <a:noFill/>
        </p:spPr>
        <p:txBody>
          <a:bodyPr wrap="square" rtlCol="0" anchor="t">
            <a:spAutoFit/>
          </a:bodyPr>
          <a:lstStyle/>
          <a:p>
            <a:r>
              <a:rPr lang="zh-CN">
                <a:highlight>
                  <a:srgbClr val="00FF00"/>
                </a:highlight>
              </a:rPr>
              <a:t>中断级联</a:t>
            </a:r>
          </a:p>
        </p:txBody>
      </p:sp>
      <p:sp>
        <p:nvSpPr>
          <p:cNvPr id="12" name="文本框 11"/>
          <p:cNvSpPr txBox="1"/>
          <p:nvPr>
            <p:custDataLst>
              <p:tags r:id="rId8"/>
            </p:custDataLst>
          </p:nvPr>
        </p:nvSpPr>
        <p:spPr>
          <a:xfrm>
            <a:off x="7668260" y="404495"/>
            <a:ext cx="1757680" cy="368300"/>
          </a:xfrm>
          <a:prstGeom prst="rect">
            <a:avLst/>
          </a:prstGeom>
          <a:noFill/>
        </p:spPr>
        <p:txBody>
          <a:bodyPr wrap="square" rtlCol="0" anchor="t">
            <a:spAutoFit/>
          </a:bodyPr>
          <a:lstStyle/>
          <a:p>
            <a:r>
              <a:rPr lang="zh-CN">
                <a:highlight>
                  <a:srgbClr val="00FF00"/>
                </a:highlight>
              </a:rPr>
              <a:t>中断处理流程</a:t>
            </a:r>
          </a:p>
        </p:txBody>
      </p:sp>
      <p:sp>
        <p:nvSpPr>
          <p:cNvPr id="14" name="文本框 13"/>
          <p:cNvSpPr txBox="1"/>
          <p:nvPr>
            <p:custDataLst>
              <p:tags r:id="rId9"/>
            </p:custDataLst>
          </p:nvPr>
        </p:nvSpPr>
        <p:spPr>
          <a:xfrm>
            <a:off x="7164705" y="3573145"/>
            <a:ext cx="1757680" cy="368300"/>
          </a:xfrm>
          <a:prstGeom prst="rect">
            <a:avLst/>
          </a:prstGeom>
          <a:noFill/>
        </p:spPr>
        <p:txBody>
          <a:bodyPr wrap="square" rtlCol="0" anchor="t">
            <a:spAutoFit/>
          </a:bodyPr>
          <a:lstStyle/>
          <a:p>
            <a:r>
              <a:rPr lang="en-US" altLang="zh-CN">
                <a:highlight>
                  <a:srgbClr val="00FF00"/>
                </a:highlight>
              </a:rPr>
              <a:t>AIPC for SMP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custDataLst>
              <p:tags r:id="rId1"/>
            </p:custDataLst>
          </p:nvPr>
        </p:nvSpPr>
        <p:spPr>
          <a:xfrm>
            <a:off x="107315" y="93980"/>
            <a:ext cx="8508365" cy="461010"/>
          </a:xfrm>
        </p:spPr>
        <p:txBody>
          <a:bodyPr/>
          <a:lstStyle/>
          <a:p>
            <a:pPr algn="l"/>
            <a:r>
              <a:rPr lang="zh-CN" altLang="en-US" sz="2800">
                <a:gradFill>
                  <a:gsLst>
                    <a:gs pos="0">
                      <a:srgbClr val="E30000"/>
                    </a:gs>
                    <a:gs pos="100000">
                      <a:srgbClr val="760303"/>
                    </a:gs>
                  </a:gsLst>
                  <a:lin scaled="0"/>
                </a:gradFill>
                <a:sym typeface="+mn-ea"/>
              </a:rPr>
              <a:t>中断</a:t>
            </a:r>
            <a:r>
              <a:rPr lang="en-US" altLang="zh-CN" sz="2800">
                <a:gradFill>
                  <a:gsLst>
                    <a:gs pos="0">
                      <a:srgbClr val="E30000"/>
                    </a:gs>
                    <a:gs pos="100000">
                      <a:srgbClr val="760303"/>
                    </a:gs>
                  </a:gsLst>
                  <a:lin scaled="0"/>
                </a:gradFill>
                <a:sym typeface="+mn-ea"/>
              </a:rPr>
              <a:t>-PCI</a:t>
            </a:r>
            <a:r>
              <a:rPr lang="zh-CN" altLang="en-US" sz="2800">
                <a:gradFill>
                  <a:gsLst>
                    <a:gs pos="0">
                      <a:srgbClr val="E30000"/>
                    </a:gs>
                    <a:gs pos="100000">
                      <a:srgbClr val="760303"/>
                    </a:gs>
                  </a:gsLst>
                  <a:lin scaled="0"/>
                </a:gradFill>
                <a:sym typeface="+mn-ea"/>
              </a:rPr>
              <a:t>消息</a:t>
            </a:r>
          </a:p>
        </p:txBody>
      </p:sp>
      <p:pic>
        <p:nvPicPr>
          <p:cNvPr id="4" name="图片 3"/>
          <p:cNvPicPr>
            <a:picLocks noChangeAspect="1"/>
          </p:cNvPicPr>
          <p:nvPr>
            <p:custDataLst>
              <p:tags r:id="rId2"/>
            </p:custDataLst>
          </p:nvPr>
        </p:nvPicPr>
        <p:blipFill>
          <a:blip r:embed="rId8"/>
          <a:stretch>
            <a:fillRect/>
          </a:stretch>
        </p:blipFill>
        <p:spPr>
          <a:xfrm>
            <a:off x="179705" y="476885"/>
            <a:ext cx="3672840" cy="2894965"/>
          </a:xfrm>
          <a:prstGeom prst="rect">
            <a:avLst/>
          </a:prstGeom>
        </p:spPr>
      </p:pic>
      <p:sp>
        <p:nvSpPr>
          <p:cNvPr id="13" name="文本框 12"/>
          <p:cNvSpPr txBox="1"/>
          <p:nvPr>
            <p:custDataLst>
              <p:tags r:id="rId3"/>
            </p:custDataLst>
          </p:nvPr>
        </p:nvSpPr>
        <p:spPr>
          <a:xfrm>
            <a:off x="107950" y="3356610"/>
            <a:ext cx="3856355" cy="521970"/>
          </a:xfrm>
          <a:prstGeom prst="rect">
            <a:avLst/>
          </a:prstGeom>
          <a:noFill/>
        </p:spPr>
        <p:txBody>
          <a:bodyPr wrap="square" rtlCol="0" anchor="t">
            <a:spAutoFit/>
          </a:bodyPr>
          <a:lstStyle/>
          <a:p>
            <a:r>
              <a:rPr lang="en-US" altLang="zh-CN" sz="1400">
                <a:highlight>
                  <a:srgbClr val="00FF00"/>
                </a:highlight>
              </a:rPr>
              <a:t>PCI</a:t>
            </a:r>
            <a:r>
              <a:rPr lang="zh-CN" altLang="en-US" sz="1400">
                <a:highlight>
                  <a:srgbClr val="00FF00"/>
                </a:highlight>
              </a:rPr>
              <a:t>设备不支持</a:t>
            </a:r>
            <a:r>
              <a:rPr lang="en-US" altLang="zh-CN" sz="1400">
                <a:highlight>
                  <a:srgbClr val="00FF00"/>
                </a:highlight>
              </a:rPr>
              <a:t>MSI</a:t>
            </a:r>
            <a:r>
              <a:rPr lang="zh-CN" altLang="en-US" sz="1400">
                <a:highlight>
                  <a:srgbClr val="00FF00"/>
                </a:highlight>
              </a:rPr>
              <a:t>，仍然使用</a:t>
            </a:r>
            <a:r>
              <a:rPr lang="en-US" altLang="zh-CN" sz="1400">
                <a:highlight>
                  <a:srgbClr val="00FF00"/>
                </a:highlight>
              </a:rPr>
              <a:t>INT</a:t>
            </a:r>
            <a:r>
              <a:rPr lang="zh-CN" altLang="en-US" sz="1400">
                <a:highlight>
                  <a:srgbClr val="00FF00"/>
                </a:highlight>
              </a:rPr>
              <a:t>，</a:t>
            </a:r>
            <a:r>
              <a:rPr lang="en-US" altLang="zh-CN" sz="1400">
                <a:highlight>
                  <a:srgbClr val="00FF00"/>
                </a:highlight>
              </a:rPr>
              <a:t>PCIE</a:t>
            </a:r>
            <a:r>
              <a:rPr lang="zh-CN" altLang="en-US" sz="1400">
                <a:highlight>
                  <a:srgbClr val="00FF00"/>
                </a:highlight>
              </a:rPr>
              <a:t>桥需要将</a:t>
            </a:r>
            <a:r>
              <a:rPr lang="en-US" altLang="zh-CN" sz="1400">
                <a:highlight>
                  <a:srgbClr val="00FF00"/>
                </a:highlight>
              </a:rPr>
              <a:t>INT</a:t>
            </a:r>
            <a:r>
              <a:rPr lang="zh-CN" altLang="en-US" sz="1400">
                <a:highlight>
                  <a:srgbClr val="00FF00"/>
                </a:highlight>
              </a:rPr>
              <a:t>转换成</a:t>
            </a:r>
            <a:r>
              <a:rPr lang="en-US" altLang="zh-CN" sz="1400">
                <a:highlight>
                  <a:srgbClr val="00FF00"/>
                </a:highlight>
              </a:rPr>
              <a:t>INT</a:t>
            </a:r>
            <a:r>
              <a:rPr lang="zh-CN" altLang="en-US" sz="1400">
                <a:highlight>
                  <a:srgbClr val="00FF00"/>
                </a:highlight>
              </a:rPr>
              <a:t>消息</a:t>
            </a:r>
          </a:p>
        </p:txBody>
      </p:sp>
      <p:pic>
        <p:nvPicPr>
          <p:cNvPr id="5" name="图片 4"/>
          <p:cNvPicPr>
            <a:picLocks noChangeAspect="1"/>
          </p:cNvPicPr>
          <p:nvPr>
            <p:custDataLst>
              <p:tags r:id="rId4"/>
            </p:custDataLst>
          </p:nvPr>
        </p:nvPicPr>
        <p:blipFill>
          <a:blip r:embed="rId9"/>
          <a:stretch>
            <a:fillRect/>
          </a:stretch>
        </p:blipFill>
        <p:spPr>
          <a:xfrm>
            <a:off x="3924300" y="571500"/>
            <a:ext cx="3342005" cy="3596640"/>
          </a:xfrm>
          <a:prstGeom prst="rect">
            <a:avLst/>
          </a:prstGeom>
        </p:spPr>
      </p:pic>
      <p:pic>
        <p:nvPicPr>
          <p:cNvPr id="6" name="图片 5"/>
          <p:cNvPicPr>
            <a:picLocks noChangeAspect="1"/>
          </p:cNvPicPr>
          <p:nvPr>
            <p:custDataLst>
              <p:tags r:id="rId5"/>
            </p:custDataLst>
          </p:nvPr>
        </p:nvPicPr>
        <p:blipFill>
          <a:blip r:embed="rId10"/>
          <a:stretch>
            <a:fillRect/>
          </a:stretch>
        </p:blipFill>
        <p:spPr>
          <a:xfrm>
            <a:off x="251460" y="3878580"/>
            <a:ext cx="3684270" cy="2813050"/>
          </a:xfrm>
          <a:prstGeom prst="rect">
            <a:avLst/>
          </a:prstGeom>
        </p:spPr>
      </p:pic>
      <p:sp>
        <p:nvSpPr>
          <p:cNvPr id="7" name="文本框 6"/>
          <p:cNvSpPr txBox="1"/>
          <p:nvPr/>
        </p:nvSpPr>
        <p:spPr>
          <a:xfrm>
            <a:off x="4029710" y="4436745"/>
            <a:ext cx="5114290" cy="1383665"/>
          </a:xfrm>
          <a:prstGeom prst="rect">
            <a:avLst/>
          </a:prstGeom>
          <a:noFill/>
        </p:spPr>
        <p:txBody>
          <a:bodyPr wrap="square" rtlCol="0" anchor="t">
            <a:spAutoFit/>
          </a:bodyPr>
          <a:lstStyle/>
          <a:p>
            <a:r>
              <a:rPr lang="zh-CN" altLang="en-US" sz="1400">
                <a:solidFill>
                  <a:schemeClr val="tx1"/>
                </a:solidFill>
                <a:highlight>
                  <a:srgbClr val="FFFF00"/>
                </a:highlight>
              </a:rPr>
              <a:t>为什么不直接填写</a:t>
            </a:r>
            <a:r>
              <a:rPr lang="en-US" altLang="zh-CN" sz="1400">
                <a:solidFill>
                  <a:schemeClr val="tx1"/>
                </a:solidFill>
                <a:highlight>
                  <a:srgbClr val="FFFF00"/>
                </a:highlight>
              </a:rPr>
              <a:t>Root to RC? --</a:t>
            </a:r>
            <a:r>
              <a:rPr lang="zh-CN" altLang="en-US" sz="1400">
                <a:solidFill>
                  <a:schemeClr val="tx1"/>
                </a:solidFill>
                <a:highlight>
                  <a:srgbClr val="FFFF00"/>
                </a:highlight>
              </a:rPr>
              <a:t>因为</a:t>
            </a:r>
            <a:r>
              <a:rPr lang="en-US" altLang="zh-CN" sz="1400">
                <a:solidFill>
                  <a:schemeClr val="tx1"/>
                </a:solidFill>
                <a:highlight>
                  <a:srgbClr val="FFFF00"/>
                </a:highlight>
              </a:rPr>
              <a:t>INTx</a:t>
            </a:r>
            <a:r>
              <a:rPr lang="zh-CN" altLang="en-US" sz="1400">
                <a:solidFill>
                  <a:schemeClr val="tx1"/>
                </a:solidFill>
                <a:highlight>
                  <a:srgbClr val="FFFF00"/>
                </a:highlight>
              </a:rPr>
              <a:t>的</a:t>
            </a:r>
            <a:r>
              <a:rPr lang="en-US" altLang="zh-CN" sz="1400">
                <a:solidFill>
                  <a:schemeClr val="tx1"/>
                </a:solidFill>
                <a:highlight>
                  <a:srgbClr val="FFFF00"/>
                </a:highlight>
              </a:rPr>
              <a:t>mapping</a:t>
            </a:r>
            <a:r>
              <a:rPr lang="zh-CN" altLang="en-US" sz="1400">
                <a:solidFill>
                  <a:schemeClr val="tx1"/>
                </a:solidFill>
                <a:highlight>
                  <a:srgbClr val="FFFF00"/>
                </a:highlight>
              </a:rPr>
              <a:t>可以改变，所以只能逐级报告，逐级响应。如果已经响应则无必要再次发送。</a:t>
            </a:r>
          </a:p>
          <a:p>
            <a:r>
              <a:rPr lang="zh-CN" altLang="en-US" sz="1400">
                <a:solidFill>
                  <a:schemeClr val="tx1"/>
                </a:solidFill>
                <a:highlight>
                  <a:srgbClr val="FFFF00"/>
                </a:highlight>
              </a:rPr>
              <a:t>因此 PCIe 设备收到 INTx 中断消息后， 首先需要结束当前中断消息，之后根据中断路由表产生一个新的 INTx 中断消息，直到这个中断消息传递到 RC。</a:t>
            </a:r>
          </a:p>
        </p:txBody>
      </p:sp>
      <p:cxnSp>
        <p:nvCxnSpPr>
          <p:cNvPr id="11" name="直接箭头连接符 10"/>
          <p:cNvCxnSpPr/>
          <p:nvPr>
            <p:custDataLst>
              <p:tags r:id="rId6"/>
            </p:custDataLst>
          </p:nvPr>
        </p:nvCxnSpPr>
        <p:spPr>
          <a:xfrm flipV="1">
            <a:off x="2123440" y="5373370"/>
            <a:ext cx="2088515" cy="215900"/>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custDataLst>
              <p:tags r:id="rId1"/>
            </p:custDataLst>
          </p:nvPr>
        </p:nvSpPr>
        <p:spPr>
          <a:xfrm>
            <a:off x="107315" y="93980"/>
            <a:ext cx="8508365" cy="461010"/>
          </a:xfrm>
        </p:spPr>
        <p:txBody>
          <a:bodyPr/>
          <a:lstStyle/>
          <a:p>
            <a:pPr algn="l"/>
            <a:r>
              <a:rPr lang="en-US" sz="2800">
                <a:gradFill>
                  <a:gsLst>
                    <a:gs pos="0">
                      <a:srgbClr val="E30000"/>
                    </a:gs>
                    <a:gs pos="100000">
                      <a:srgbClr val="760303"/>
                    </a:gs>
                  </a:gsLst>
                  <a:lin scaled="0"/>
                </a:gradFill>
                <a:sym typeface="+mn-ea"/>
              </a:rPr>
              <a:t>MSI</a:t>
            </a:r>
            <a:endParaRPr lang="en-US" sz="2800">
              <a:gradFill>
                <a:gsLst>
                  <a:gs pos="0">
                    <a:srgbClr val="E30000"/>
                  </a:gs>
                  <a:gs pos="100000">
                    <a:srgbClr val="760303"/>
                  </a:gs>
                </a:gsLst>
                <a:lin scaled="0"/>
              </a:gradFill>
            </a:endParaRPr>
          </a:p>
        </p:txBody>
      </p:sp>
      <p:pic>
        <p:nvPicPr>
          <p:cNvPr id="4" name="图片 3"/>
          <p:cNvPicPr>
            <a:picLocks noChangeAspect="1"/>
          </p:cNvPicPr>
          <p:nvPr>
            <p:custDataLst>
              <p:tags r:id="rId2"/>
            </p:custDataLst>
          </p:nvPr>
        </p:nvPicPr>
        <p:blipFill>
          <a:blip r:embed="rId9"/>
          <a:stretch>
            <a:fillRect/>
          </a:stretch>
        </p:blipFill>
        <p:spPr>
          <a:xfrm>
            <a:off x="179705" y="554990"/>
            <a:ext cx="3416300" cy="2595245"/>
          </a:xfrm>
          <a:prstGeom prst="rect">
            <a:avLst/>
          </a:prstGeom>
        </p:spPr>
      </p:pic>
      <p:pic>
        <p:nvPicPr>
          <p:cNvPr id="5" name="图片 4"/>
          <p:cNvPicPr>
            <a:picLocks noChangeAspect="1"/>
          </p:cNvPicPr>
          <p:nvPr>
            <p:custDataLst>
              <p:tags r:id="rId3"/>
            </p:custDataLst>
          </p:nvPr>
        </p:nvPicPr>
        <p:blipFill>
          <a:blip r:embed="rId10"/>
          <a:stretch>
            <a:fillRect/>
          </a:stretch>
        </p:blipFill>
        <p:spPr>
          <a:xfrm>
            <a:off x="251460" y="3150235"/>
            <a:ext cx="3378200" cy="3282315"/>
          </a:xfrm>
          <a:prstGeom prst="rect">
            <a:avLst/>
          </a:prstGeom>
        </p:spPr>
      </p:pic>
      <p:pic>
        <p:nvPicPr>
          <p:cNvPr id="6" name="图片 5"/>
          <p:cNvPicPr>
            <a:picLocks noChangeAspect="1"/>
          </p:cNvPicPr>
          <p:nvPr>
            <p:custDataLst>
              <p:tags r:id="rId4"/>
            </p:custDataLst>
          </p:nvPr>
        </p:nvPicPr>
        <p:blipFill>
          <a:blip r:embed="rId11"/>
          <a:stretch>
            <a:fillRect/>
          </a:stretch>
        </p:blipFill>
        <p:spPr>
          <a:xfrm>
            <a:off x="3536950" y="620395"/>
            <a:ext cx="3627120" cy="1442085"/>
          </a:xfrm>
          <a:prstGeom prst="rect">
            <a:avLst/>
          </a:prstGeom>
        </p:spPr>
      </p:pic>
      <p:pic>
        <p:nvPicPr>
          <p:cNvPr id="7" name="图片 6"/>
          <p:cNvPicPr>
            <a:picLocks noChangeAspect="1"/>
          </p:cNvPicPr>
          <p:nvPr>
            <p:custDataLst>
              <p:tags r:id="rId5"/>
            </p:custDataLst>
          </p:nvPr>
        </p:nvPicPr>
        <p:blipFill>
          <a:blip r:embed="rId12"/>
          <a:stretch>
            <a:fillRect/>
          </a:stretch>
        </p:blipFill>
        <p:spPr>
          <a:xfrm>
            <a:off x="7308850" y="791210"/>
            <a:ext cx="1762125" cy="960755"/>
          </a:xfrm>
          <a:prstGeom prst="rect">
            <a:avLst/>
          </a:prstGeom>
        </p:spPr>
      </p:pic>
      <p:cxnSp>
        <p:nvCxnSpPr>
          <p:cNvPr id="10" name="直接箭头连接符 9"/>
          <p:cNvCxnSpPr/>
          <p:nvPr>
            <p:custDataLst>
              <p:tags r:id="rId6"/>
            </p:custDataLst>
          </p:nvPr>
        </p:nvCxnSpPr>
        <p:spPr>
          <a:xfrm flipV="1">
            <a:off x="7092950" y="1124585"/>
            <a:ext cx="215900" cy="294005"/>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custDataLst>
              <p:tags r:id="rId7"/>
            </p:custDataLst>
          </p:nvPr>
        </p:nvSpPr>
        <p:spPr>
          <a:xfrm>
            <a:off x="7092950" y="1772920"/>
            <a:ext cx="2244090" cy="398780"/>
          </a:xfrm>
          <a:prstGeom prst="rect">
            <a:avLst/>
          </a:prstGeom>
          <a:noFill/>
        </p:spPr>
        <p:txBody>
          <a:bodyPr wrap="square" rtlCol="0" anchor="t">
            <a:spAutoFit/>
          </a:bodyPr>
          <a:lstStyle/>
          <a:p>
            <a:r>
              <a:rPr lang="zh-CN" altLang="en-US" sz="1000">
                <a:gradFill>
                  <a:gsLst>
                    <a:gs pos="0">
                      <a:srgbClr val="E30000"/>
                    </a:gs>
                    <a:gs pos="100000">
                      <a:srgbClr val="760303"/>
                    </a:gs>
                  </a:gsLst>
                  <a:lin scaled="0"/>
                </a:gradFill>
                <a:highlight>
                  <a:srgbClr val="FFFF00"/>
                </a:highlight>
              </a:rPr>
              <a:t>• 软件读取</a:t>
            </a:r>
            <a:r>
              <a:rPr lang="en-US" altLang="zh-CN" sz="1000">
                <a:gradFill>
                  <a:gsLst>
                    <a:gs pos="0">
                      <a:srgbClr val="E30000"/>
                    </a:gs>
                    <a:gs pos="100000">
                      <a:srgbClr val="760303"/>
                    </a:gs>
                  </a:gsLst>
                  <a:lin scaled="0"/>
                </a:gradFill>
                <a:highlight>
                  <a:srgbClr val="FFFF00"/>
                </a:highlight>
              </a:rPr>
              <a:t>[3:1]</a:t>
            </a:r>
            <a:r>
              <a:rPr lang="zh-CN" altLang="en-US" sz="1000">
                <a:gradFill>
                  <a:gsLst>
                    <a:gs pos="0">
                      <a:srgbClr val="E30000"/>
                    </a:gs>
                    <a:gs pos="100000">
                      <a:srgbClr val="760303"/>
                    </a:gs>
                  </a:gsLst>
                  <a:lin scaled="0"/>
                </a:gradFill>
                <a:highlight>
                  <a:srgbClr val="FFFF00"/>
                </a:highlight>
              </a:rPr>
              <a:t>获知</a:t>
            </a:r>
            <a:r>
              <a:rPr lang="en-US" altLang="zh-CN" sz="1000">
                <a:gradFill>
                  <a:gsLst>
                    <a:gs pos="0">
                      <a:srgbClr val="E30000"/>
                    </a:gs>
                    <a:gs pos="100000">
                      <a:srgbClr val="760303"/>
                    </a:gs>
                  </a:gsLst>
                  <a:lin scaled="0"/>
                </a:gradFill>
                <a:highlight>
                  <a:srgbClr val="FFFF00"/>
                </a:highlight>
              </a:rPr>
              <a:t>MSI</a:t>
            </a:r>
            <a:r>
              <a:rPr lang="zh-CN" altLang="en-US" sz="1000">
                <a:gradFill>
                  <a:gsLst>
                    <a:gs pos="0">
                      <a:srgbClr val="E30000"/>
                    </a:gs>
                    <a:gs pos="100000">
                      <a:srgbClr val="760303"/>
                    </a:gs>
                  </a:gsLst>
                  <a:lin scaled="0"/>
                </a:gradFill>
                <a:highlight>
                  <a:srgbClr val="FFFF00"/>
                </a:highlight>
              </a:rPr>
              <a:t>中断向量个数，然后设置</a:t>
            </a:r>
            <a:r>
              <a:rPr lang="en-US" altLang="zh-CN" sz="1000">
                <a:gradFill>
                  <a:gsLst>
                    <a:gs pos="0">
                      <a:srgbClr val="E30000"/>
                    </a:gs>
                    <a:gs pos="100000">
                      <a:srgbClr val="760303"/>
                    </a:gs>
                  </a:gsLst>
                  <a:lin scaled="0"/>
                </a:gradFill>
                <a:highlight>
                  <a:srgbClr val="FFFF00"/>
                </a:highlight>
              </a:rPr>
              <a:t>[6:4]</a:t>
            </a:r>
            <a:r>
              <a:rPr lang="zh-CN" altLang="en-US" sz="1000">
                <a:gradFill>
                  <a:gsLst>
                    <a:gs pos="0">
                      <a:srgbClr val="E30000"/>
                    </a:gs>
                    <a:gs pos="100000">
                      <a:srgbClr val="760303"/>
                    </a:gs>
                  </a:gsLst>
                  <a:lin scaled="0"/>
                </a:gradFill>
                <a:highlight>
                  <a:srgbClr val="FFFF00"/>
                </a:highlight>
              </a:rPr>
              <a:t>实际中断向量个数</a:t>
            </a:r>
          </a:p>
        </p:txBody>
      </p:sp>
      <p:sp>
        <p:nvSpPr>
          <p:cNvPr id="11" name="文本框 10"/>
          <p:cNvSpPr txBox="1"/>
          <p:nvPr/>
        </p:nvSpPr>
        <p:spPr>
          <a:xfrm>
            <a:off x="3636010" y="2204720"/>
            <a:ext cx="5399405" cy="4184650"/>
          </a:xfrm>
          <a:prstGeom prst="rect">
            <a:avLst/>
          </a:prstGeom>
          <a:noFill/>
        </p:spPr>
        <p:txBody>
          <a:bodyPr wrap="square" rtlCol="0" anchor="t">
            <a:spAutoFit/>
          </a:bodyPr>
          <a:lstStyle/>
          <a:p>
            <a:r>
              <a:rPr lang="en-US" altLang="zh-CN" sz="1400" b="1">
                <a:highlight>
                  <a:srgbClr val="FFFF00"/>
                </a:highlight>
              </a:rPr>
              <a:t>mask bits:</a:t>
            </a:r>
            <a:endParaRPr lang="zh-CN" altLang="en-US" sz="1400" b="1">
              <a:highlight>
                <a:srgbClr val="FFFF00"/>
              </a:highlight>
            </a:endParaRPr>
          </a:p>
          <a:p>
            <a:r>
              <a:rPr lang="zh-CN" altLang="en-US" sz="1400">
                <a:highlight>
                  <a:srgbClr val="FFFF00"/>
                </a:highlight>
              </a:rPr>
              <a:t>当相应位为 1 时表示对应的中断请求被屏蔽， 为</a:t>
            </a:r>
            <a:r>
              <a:rPr lang="en-US" altLang="zh-CN" sz="1400">
                <a:highlight>
                  <a:srgbClr val="FFFF00"/>
                </a:highlight>
              </a:rPr>
              <a:t>0</a:t>
            </a:r>
            <a:r>
              <a:rPr lang="zh-CN" altLang="en-US" sz="1400">
                <a:highlight>
                  <a:srgbClr val="FFFF00"/>
                </a:highlight>
              </a:rPr>
              <a:t>时表示允许该中断请求。 系统软件可读写该字段，系统初始化时该字段为全 0， 表示允 许所有中断请求。</a:t>
            </a:r>
          </a:p>
          <a:p>
            <a:r>
              <a:rPr lang="en-US" altLang="zh-CN" sz="1400" b="1">
                <a:highlight>
                  <a:srgbClr val="FFFF00"/>
                </a:highlight>
              </a:rPr>
              <a:t>Pending bits:</a:t>
            </a:r>
            <a:endParaRPr lang="zh-CN" altLang="en-US" sz="1400" b="1">
              <a:highlight>
                <a:srgbClr val="FFFF00"/>
              </a:highlight>
            </a:endParaRPr>
          </a:p>
          <a:p>
            <a:r>
              <a:rPr lang="zh-CN" altLang="en-US" sz="1400">
                <a:highlight>
                  <a:srgbClr val="FFFF00"/>
                </a:highlight>
                <a:sym typeface="+mn-ea"/>
              </a:rPr>
              <a:t>当 Mask Bits 字段的相应位为 1 时， 如果 PCIe 设备需要发送对应的中断请求， Pending Bits 字段的对应位将被 PCIe 设备的内部逻辑置 1， 此时 PCIe 设备并不会使用 MSI 报文向中 断控制器提交中断请求；</a:t>
            </a:r>
          </a:p>
          <a:p>
            <a:r>
              <a:rPr lang="en-US" altLang="zh-CN" sz="1400" b="1">
                <a:highlight>
                  <a:srgbClr val="FFFF00"/>
                </a:highlight>
                <a:sym typeface="+mn-ea"/>
              </a:rPr>
              <a:t>Message Data:</a:t>
            </a:r>
            <a:endParaRPr lang="zh-CN" altLang="en-US" sz="1400" b="1">
              <a:highlight>
                <a:srgbClr val="FFFF00"/>
              </a:highlight>
              <a:sym typeface="+mn-ea"/>
            </a:endParaRPr>
          </a:p>
          <a:p>
            <a:r>
              <a:rPr lang="zh-CN" altLang="en-US" sz="1400">
                <a:highlight>
                  <a:srgbClr val="FFFF00"/>
                </a:highlight>
              </a:rPr>
              <a:t>系统软件将一个基本的消息数据模式写入这个16位的读/写寄存器。当该功能生成一个中断请求时，它会将一个32位的数据值写入到消息地址寄存器指定的内存地址中。这个数据的高16位始终设置为零，而低16位由消息数据寄存器提供。</a:t>
            </a:r>
          </a:p>
          <a:p>
            <a:endParaRPr lang="zh-CN" altLang="en-US" sz="1400">
              <a:highlight>
                <a:srgbClr val="FFFF00"/>
              </a:highlight>
            </a:endParaRPr>
          </a:p>
          <a:p>
            <a:r>
              <a:rPr lang="zh-CN" altLang="en-US" sz="1400">
                <a:highlight>
                  <a:srgbClr val="FFFF00"/>
                </a:highlight>
              </a:rPr>
              <a:t>如果给该功能分配了多条消息，它会修改消息数据寄存器值的低位（可修改位数取决于配置软件给该功能分配了多少条消息），以形成所希望报告的事件的适当值。例如，请参考第820页的《生成MSI中断请求的基础知识》。</a:t>
            </a:r>
          </a:p>
        </p:txBody>
      </p:sp>
      <p:sp>
        <p:nvSpPr>
          <p:cNvPr id="13" name="文本框 12"/>
          <p:cNvSpPr txBox="1"/>
          <p:nvPr/>
        </p:nvSpPr>
        <p:spPr>
          <a:xfrm>
            <a:off x="828040" y="6453505"/>
            <a:ext cx="7558405" cy="368300"/>
          </a:xfrm>
          <a:prstGeom prst="rect">
            <a:avLst/>
          </a:prstGeom>
          <a:noFill/>
        </p:spPr>
        <p:txBody>
          <a:bodyPr wrap="square" rtlCol="0" anchor="t">
            <a:spAutoFit/>
          </a:bodyPr>
          <a:lstStyle/>
          <a:p>
            <a:r>
              <a:rPr lang="zh-CN" altLang="en-US">
                <a:highlight>
                  <a:srgbClr val="00FF00"/>
                </a:highlight>
              </a:rPr>
              <a:t>MSI 中断机制最多只能支持 32 个中断请求，而且要求中断向量连续</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custDataLst>
              <p:tags r:id="rId1"/>
            </p:custDataLst>
          </p:nvPr>
        </p:nvSpPr>
        <p:spPr>
          <a:xfrm>
            <a:off x="107315" y="93980"/>
            <a:ext cx="8508365" cy="461010"/>
          </a:xfrm>
        </p:spPr>
        <p:txBody>
          <a:bodyPr/>
          <a:lstStyle/>
          <a:p>
            <a:pPr algn="l"/>
            <a:r>
              <a:rPr lang="en-US" sz="2800">
                <a:gradFill>
                  <a:gsLst>
                    <a:gs pos="0">
                      <a:srgbClr val="E30000"/>
                    </a:gs>
                    <a:gs pos="100000">
                      <a:srgbClr val="760303"/>
                    </a:gs>
                  </a:gsLst>
                  <a:lin scaled="0"/>
                </a:gradFill>
                <a:sym typeface="+mn-ea"/>
              </a:rPr>
              <a:t>MSI-X</a:t>
            </a:r>
            <a:endParaRPr lang="en-US" sz="2800">
              <a:gradFill>
                <a:gsLst>
                  <a:gs pos="0">
                    <a:srgbClr val="E30000"/>
                  </a:gs>
                  <a:gs pos="100000">
                    <a:srgbClr val="760303"/>
                  </a:gs>
                </a:gsLst>
                <a:lin scaled="0"/>
              </a:gradFill>
            </a:endParaRPr>
          </a:p>
        </p:txBody>
      </p:sp>
      <p:sp>
        <p:nvSpPr>
          <p:cNvPr id="4" name="文本框 3"/>
          <p:cNvSpPr txBox="1"/>
          <p:nvPr/>
        </p:nvSpPr>
        <p:spPr>
          <a:xfrm>
            <a:off x="323215" y="6309360"/>
            <a:ext cx="8541385" cy="368300"/>
          </a:xfrm>
          <a:prstGeom prst="rect">
            <a:avLst/>
          </a:prstGeom>
          <a:noFill/>
        </p:spPr>
        <p:txBody>
          <a:bodyPr wrap="square" rtlCol="0" anchor="t">
            <a:spAutoFit/>
          </a:bodyPr>
          <a:lstStyle/>
          <a:p>
            <a:r>
              <a:rPr lang="zh-CN" altLang="en-US">
                <a:highlight>
                  <a:srgbClr val="00FF00"/>
                </a:highlight>
              </a:rPr>
              <a:t>每一个中断请求可以使用独立的 Message Address 字段和 Message Data 字段</a:t>
            </a:r>
          </a:p>
        </p:txBody>
      </p:sp>
      <p:pic>
        <p:nvPicPr>
          <p:cNvPr id="5" name="图片 4"/>
          <p:cNvPicPr>
            <a:picLocks noChangeAspect="1"/>
          </p:cNvPicPr>
          <p:nvPr>
            <p:custDataLst>
              <p:tags r:id="rId2"/>
            </p:custDataLst>
          </p:nvPr>
        </p:nvPicPr>
        <p:blipFill>
          <a:blip r:embed="rId12"/>
          <a:stretch>
            <a:fillRect/>
          </a:stretch>
        </p:blipFill>
        <p:spPr>
          <a:xfrm>
            <a:off x="251460" y="476885"/>
            <a:ext cx="3806190" cy="2306955"/>
          </a:xfrm>
          <a:prstGeom prst="rect">
            <a:avLst/>
          </a:prstGeom>
        </p:spPr>
      </p:pic>
      <p:pic>
        <p:nvPicPr>
          <p:cNvPr id="6" name="图片 5"/>
          <p:cNvPicPr>
            <a:picLocks noChangeAspect="1"/>
          </p:cNvPicPr>
          <p:nvPr>
            <p:custDataLst>
              <p:tags r:id="rId3"/>
            </p:custDataLst>
          </p:nvPr>
        </p:nvPicPr>
        <p:blipFill>
          <a:blip r:embed="rId13"/>
          <a:stretch>
            <a:fillRect/>
          </a:stretch>
        </p:blipFill>
        <p:spPr>
          <a:xfrm>
            <a:off x="323850" y="2813050"/>
            <a:ext cx="3770630" cy="3466465"/>
          </a:xfrm>
          <a:prstGeom prst="rect">
            <a:avLst/>
          </a:prstGeom>
        </p:spPr>
      </p:pic>
      <p:cxnSp>
        <p:nvCxnSpPr>
          <p:cNvPr id="10" name="直接箭头连接符 9"/>
          <p:cNvCxnSpPr/>
          <p:nvPr>
            <p:custDataLst>
              <p:tags r:id="rId4"/>
            </p:custDataLst>
          </p:nvPr>
        </p:nvCxnSpPr>
        <p:spPr>
          <a:xfrm flipH="1">
            <a:off x="2124075" y="1340485"/>
            <a:ext cx="1080135" cy="2808605"/>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custDataLst>
              <p:tags r:id="rId5"/>
            </p:custDataLst>
          </p:nvPr>
        </p:nvCxnSpPr>
        <p:spPr>
          <a:xfrm>
            <a:off x="2700020" y="1268730"/>
            <a:ext cx="215900" cy="3168015"/>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custDataLst>
              <p:tags r:id="rId6"/>
            </p:custDataLst>
          </p:nvPr>
        </p:nvPicPr>
        <p:blipFill>
          <a:blip r:embed="rId14"/>
          <a:stretch>
            <a:fillRect/>
          </a:stretch>
        </p:blipFill>
        <p:spPr>
          <a:xfrm>
            <a:off x="4224655" y="476885"/>
            <a:ext cx="4919345" cy="2510155"/>
          </a:xfrm>
          <a:prstGeom prst="rect">
            <a:avLst/>
          </a:prstGeom>
        </p:spPr>
      </p:pic>
      <p:pic>
        <p:nvPicPr>
          <p:cNvPr id="11" name="图片 10"/>
          <p:cNvPicPr>
            <a:picLocks noChangeAspect="1"/>
          </p:cNvPicPr>
          <p:nvPr>
            <p:custDataLst>
              <p:tags r:id="rId7"/>
            </p:custDataLst>
          </p:nvPr>
        </p:nvPicPr>
        <p:blipFill>
          <a:blip r:embed="rId15"/>
          <a:stretch>
            <a:fillRect/>
          </a:stretch>
        </p:blipFill>
        <p:spPr>
          <a:xfrm>
            <a:off x="4232275" y="3356610"/>
            <a:ext cx="3552825" cy="2381250"/>
          </a:xfrm>
          <a:prstGeom prst="rect">
            <a:avLst/>
          </a:prstGeom>
        </p:spPr>
      </p:pic>
      <p:sp>
        <p:nvSpPr>
          <p:cNvPr id="12" name="文本框 11"/>
          <p:cNvSpPr txBox="1"/>
          <p:nvPr>
            <p:custDataLst>
              <p:tags r:id="rId8"/>
            </p:custDataLst>
          </p:nvPr>
        </p:nvSpPr>
        <p:spPr>
          <a:xfrm>
            <a:off x="3131820" y="2369820"/>
            <a:ext cx="964565" cy="323850"/>
          </a:xfrm>
          <a:prstGeom prst="rect">
            <a:avLst/>
          </a:prstGeom>
          <a:noFill/>
        </p:spPr>
        <p:txBody>
          <a:bodyPr wrap="square" rtlCol="0" anchor="t">
            <a:noAutofit/>
          </a:bodyPr>
          <a:lstStyle/>
          <a:p>
            <a:r>
              <a:rPr lang="zh-CN" altLang="en-US" sz="1400">
                <a:gradFill>
                  <a:gsLst>
                    <a:gs pos="0">
                      <a:srgbClr val="E30000"/>
                    </a:gs>
                    <a:gs pos="100000">
                      <a:srgbClr val="760303"/>
                    </a:gs>
                  </a:gsLst>
                  <a:lin scaled="0"/>
                </a:gradFill>
                <a:highlight>
                  <a:srgbClr val="FFFF00"/>
                </a:highlight>
              </a:rPr>
              <a:t>全局屏蔽</a:t>
            </a:r>
          </a:p>
        </p:txBody>
      </p:sp>
      <p:cxnSp>
        <p:nvCxnSpPr>
          <p:cNvPr id="13" name="直接箭头连接符 12"/>
          <p:cNvCxnSpPr/>
          <p:nvPr>
            <p:custDataLst>
              <p:tags r:id="rId9"/>
            </p:custDataLst>
          </p:nvPr>
        </p:nvCxnSpPr>
        <p:spPr>
          <a:xfrm>
            <a:off x="1835785" y="2493010"/>
            <a:ext cx="1296035" cy="0"/>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10"/>
            </p:custDataLst>
          </p:nvPr>
        </p:nvSpPr>
        <p:spPr>
          <a:xfrm>
            <a:off x="4932045" y="2853055"/>
            <a:ext cx="1419860" cy="232410"/>
          </a:xfrm>
          <a:prstGeom prst="rect">
            <a:avLst/>
          </a:prstGeom>
          <a:noFill/>
        </p:spPr>
        <p:txBody>
          <a:bodyPr wrap="square" rtlCol="0" anchor="t">
            <a:noAutofit/>
          </a:bodyPr>
          <a:lstStyle/>
          <a:p>
            <a:r>
              <a:rPr lang="en-US" altLang="zh-CN" sz="1400">
                <a:gradFill>
                  <a:gsLst>
                    <a:gs pos="0">
                      <a:srgbClr val="E30000"/>
                    </a:gs>
                    <a:gs pos="100000">
                      <a:srgbClr val="760303"/>
                    </a:gs>
                  </a:gsLst>
                  <a:lin scaled="0"/>
                </a:gradFill>
                <a:highlight>
                  <a:srgbClr val="FFFF00"/>
                </a:highlight>
              </a:rPr>
              <a:t>per </a:t>
            </a:r>
            <a:r>
              <a:rPr lang="zh-CN" altLang="en-US" sz="1400">
                <a:gradFill>
                  <a:gsLst>
                    <a:gs pos="0">
                      <a:srgbClr val="E30000"/>
                    </a:gs>
                    <a:gs pos="100000">
                      <a:srgbClr val="760303"/>
                    </a:gs>
                  </a:gsLst>
                  <a:lin scaled="0"/>
                </a:gradFill>
                <a:highlight>
                  <a:srgbClr val="FFFF00"/>
                </a:highlight>
              </a:rPr>
              <a:t>向量屏蔽</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5"/>
          <a:stretch>
            <a:fillRect/>
          </a:stretch>
        </p:blipFill>
        <p:spPr>
          <a:xfrm>
            <a:off x="251460" y="620395"/>
            <a:ext cx="3825875" cy="3642995"/>
          </a:xfrm>
          <a:prstGeom prst="rect">
            <a:avLst/>
          </a:prstGeom>
        </p:spPr>
      </p:pic>
      <p:sp>
        <p:nvSpPr>
          <p:cNvPr id="8" name="标题 7"/>
          <p:cNvSpPr>
            <a:spLocks noGrp="1"/>
          </p:cNvSpPr>
          <p:nvPr>
            <p:ph type="title"/>
            <p:custDataLst>
              <p:tags r:id="rId2"/>
            </p:custDataLst>
          </p:nvPr>
        </p:nvSpPr>
        <p:spPr>
          <a:xfrm>
            <a:off x="107315" y="93980"/>
            <a:ext cx="8508365" cy="461010"/>
          </a:xfrm>
        </p:spPr>
        <p:txBody>
          <a:bodyPr/>
          <a:lstStyle/>
          <a:p>
            <a:pPr algn="l"/>
            <a:r>
              <a:rPr lang="en-US" sz="2800" dirty="0">
                <a:gradFill>
                  <a:gsLst>
                    <a:gs pos="0">
                      <a:srgbClr val="E30000"/>
                    </a:gs>
                    <a:gs pos="100000">
                      <a:srgbClr val="760303"/>
                    </a:gs>
                  </a:gsLst>
                  <a:lin scaled="0"/>
                </a:gradFill>
                <a:sym typeface="+mn-ea"/>
              </a:rPr>
              <a:t>MSI/MSI-</a:t>
            </a:r>
            <a:r>
              <a:rPr lang="zh-CN" altLang="en-US" sz="2800" dirty="0">
                <a:gradFill>
                  <a:gsLst>
                    <a:gs pos="0">
                      <a:srgbClr val="E30000"/>
                    </a:gs>
                    <a:gs pos="100000">
                      <a:srgbClr val="760303"/>
                    </a:gs>
                  </a:gsLst>
                  <a:lin scaled="0"/>
                </a:gradFill>
                <a:sym typeface="+mn-ea"/>
              </a:rPr>
              <a:t>消息格式</a:t>
            </a:r>
          </a:p>
        </p:txBody>
      </p:sp>
      <p:pic>
        <p:nvPicPr>
          <p:cNvPr id="7" name="图片 6"/>
          <p:cNvPicPr>
            <a:picLocks noChangeAspect="1"/>
          </p:cNvPicPr>
          <p:nvPr>
            <p:custDataLst>
              <p:tags r:id="rId3"/>
            </p:custDataLst>
          </p:nvPr>
        </p:nvPicPr>
        <p:blipFill>
          <a:blip r:embed="rId6"/>
          <a:stretch>
            <a:fillRect/>
          </a:stretch>
        </p:blipFill>
        <p:spPr>
          <a:xfrm>
            <a:off x="4211955" y="620395"/>
            <a:ext cx="3786505" cy="3598545"/>
          </a:xfrm>
          <a:prstGeom prst="rect">
            <a:avLst/>
          </a:prstGeom>
        </p:spPr>
      </p:pic>
      <p:sp>
        <p:nvSpPr>
          <p:cNvPr id="10" name="文本框 9"/>
          <p:cNvSpPr txBox="1"/>
          <p:nvPr/>
        </p:nvSpPr>
        <p:spPr>
          <a:xfrm>
            <a:off x="4211955" y="4293235"/>
            <a:ext cx="4572000" cy="646331"/>
          </a:xfrm>
          <a:prstGeom prst="rect">
            <a:avLst/>
          </a:prstGeom>
          <a:noFill/>
        </p:spPr>
        <p:txBody>
          <a:bodyPr wrap="square" rtlCol="0" anchor="t">
            <a:spAutoFit/>
          </a:bodyPr>
          <a:lstStyle/>
          <a:p>
            <a:r>
              <a:rPr lang="zh-CN" altLang="en-US" sz="1200" dirty="0">
                <a:highlight>
                  <a:srgbClr val="FFFF00"/>
                </a:highlight>
              </a:rPr>
              <a:t>an error results in</a:t>
            </a:r>
            <a:r>
              <a:rPr lang="en-US" altLang="zh-CN" sz="1200" dirty="0">
                <a:highlight>
                  <a:srgbClr val="FFFF00"/>
                </a:highlight>
              </a:rPr>
              <a:t> </a:t>
            </a:r>
            <a:r>
              <a:rPr lang="zh-CN" altLang="en-US" sz="1200" dirty="0">
                <a:highlight>
                  <a:srgbClr val="FFFF00"/>
                </a:highlight>
              </a:rPr>
              <a:t>the MSI packet being unrecognized then no interrupt will be seen by the processor.How this condition would be handled is outside the scope of the PCIe spec。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7"/>
          <p:cNvSpPr>
            <a:spLocks noGrp="1"/>
          </p:cNvSpPr>
          <p:nvPr>
            <p:ph type="title"/>
            <p:custDataLst>
              <p:tags r:id="rId1"/>
            </p:custDataLst>
          </p:nvPr>
        </p:nvSpPr>
        <p:spPr>
          <a:xfrm>
            <a:off x="107315" y="93980"/>
            <a:ext cx="8508365" cy="461010"/>
          </a:xfrm>
        </p:spPr>
        <p:txBody>
          <a:bodyPr/>
          <a:lstStyle/>
          <a:p>
            <a:pPr algn="l"/>
            <a:r>
              <a:rPr lang="zh-CN" altLang="en-US" sz="2800" dirty="0">
                <a:gradFill>
                  <a:gsLst>
                    <a:gs pos="0">
                      <a:srgbClr val="E30000"/>
                    </a:gs>
                    <a:gs pos="100000">
                      <a:srgbClr val="760303"/>
                    </a:gs>
                  </a:gsLst>
                  <a:lin scaled="0"/>
                </a:gradFill>
                <a:sym typeface="+mn-ea"/>
              </a:rPr>
              <a:t>事务的序</a:t>
            </a:r>
          </a:p>
        </p:txBody>
      </p:sp>
      <p:sp>
        <p:nvSpPr>
          <p:cNvPr id="5" name="文本框 4"/>
          <p:cNvSpPr txBox="1"/>
          <p:nvPr/>
        </p:nvSpPr>
        <p:spPr>
          <a:xfrm>
            <a:off x="107315" y="559381"/>
            <a:ext cx="5256773" cy="3416320"/>
          </a:xfrm>
          <a:prstGeom prst="rect">
            <a:avLst/>
          </a:prstGeom>
          <a:noFill/>
        </p:spPr>
        <p:txBody>
          <a:bodyPr wrap="square" rtlCol="0" anchor="t">
            <a:spAutoFit/>
          </a:bodyPr>
          <a:lstStyle/>
          <a:p>
            <a:pPr marL="171450" indent="-171450">
              <a:buFont typeface="Arial" panose="020B0604020202020204" pitchFamily="34" charset="0"/>
              <a:buChar char="•"/>
            </a:pPr>
            <a:r>
              <a:rPr lang="zh-CN" altLang="en-US" sz="1200" dirty="0">
                <a:highlight>
                  <a:srgbClr val="FFFF00"/>
                </a:highlight>
              </a:rPr>
              <a:t>几种序的定义</a:t>
            </a:r>
            <a:endParaRPr lang="en-US" altLang="zh-CN" sz="1200" dirty="0">
              <a:highlight>
                <a:srgbClr val="FFFF00"/>
              </a:highlight>
            </a:endParaRPr>
          </a:p>
          <a:p>
            <a:pPr marL="628650" lvl="1" indent="-171450">
              <a:buFont typeface="Arial" panose="020B0604020202020204" pitchFamily="34" charset="0"/>
              <a:buChar char="•"/>
            </a:pPr>
            <a:r>
              <a:rPr lang="zh-CN" altLang="en-US" sz="1200" dirty="0">
                <a:highlight>
                  <a:srgbClr val="FFFF00"/>
                </a:highlight>
              </a:rPr>
              <a:t>强序：映射到</a:t>
            </a:r>
            <a:r>
              <a:rPr lang="en-US" altLang="zh-CN" sz="1200" dirty="0">
                <a:highlight>
                  <a:srgbClr val="FFFF00"/>
                </a:highlight>
              </a:rPr>
              <a:t>VC</a:t>
            </a:r>
            <a:r>
              <a:rPr lang="zh-CN" altLang="en-US" sz="1200" dirty="0">
                <a:highlight>
                  <a:srgbClr val="FFFF00"/>
                </a:highlight>
              </a:rPr>
              <a:t>，</a:t>
            </a:r>
            <a:r>
              <a:rPr lang="en-US" altLang="zh-CN" sz="1200" dirty="0">
                <a:highlight>
                  <a:srgbClr val="FFFF00"/>
                </a:highlight>
              </a:rPr>
              <a:t>VC</a:t>
            </a:r>
            <a:r>
              <a:rPr lang="zh-CN" altLang="en-US" sz="1200" dirty="0">
                <a:highlight>
                  <a:srgbClr val="FFFF00"/>
                </a:highlight>
              </a:rPr>
              <a:t>内严格保序</a:t>
            </a:r>
            <a:endParaRPr lang="en-US" altLang="zh-CN" sz="1200" dirty="0">
              <a:highlight>
                <a:srgbClr val="FFFF00"/>
              </a:highlight>
            </a:endParaRPr>
          </a:p>
          <a:p>
            <a:pPr marL="628650" lvl="1" indent="-171450">
              <a:buFont typeface="Arial" panose="020B0604020202020204" pitchFamily="34" charset="0"/>
              <a:buChar char="•"/>
            </a:pPr>
            <a:r>
              <a:rPr lang="zh-CN" altLang="en-US" sz="1200" dirty="0">
                <a:highlight>
                  <a:srgbClr val="FFFF00"/>
                </a:highlight>
              </a:rPr>
              <a:t>弱序：生产者消费者模型下强序会有死锁风险</a:t>
            </a:r>
            <a:endParaRPr lang="en-US" altLang="zh-CN" sz="1200" dirty="0">
              <a:highlight>
                <a:srgbClr val="FFFF00"/>
              </a:highlight>
            </a:endParaRPr>
          </a:p>
          <a:p>
            <a:pPr marL="628650" lvl="1" indent="-171450">
              <a:buFont typeface="Arial" panose="020B0604020202020204" pitchFamily="34" charset="0"/>
              <a:buChar char="•"/>
            </a:pPr>
            <a:r>
              <a:rPr lang="zh-CN" altLang="en-US" sz="1200" dirty="0">
                <a:highlight>
                  <a:srgbClr val="FFFF00"/>
                </a:highlight>
              </a:rPr>
              <a:t>弹性序：在一定的条件下，事务可以乱序</a:t>
            </a:r>
            <a:endParaRPr lang="en-US" altLang="zh-CN" sz="1200" dirty="0">
              <a:highlight>
                <a:srgbClr val="FFFF00"/>
              </a:highlight>
            </a:endParaRPr>
          </a:p>
          <a:p>
            <a:pPr marL="628650" lvl="1" indent="-171450">
              <a:buFont typeface="Arial" panose="020B0604020202020204" pitchFamily="34" charset="0"/>
              <a:buChar char="•"/>
            </a:pPr>
            <a:r>
              <a:rPr lang="en-US" altLang="zh-CN" sz="1200" dirty="0">
                <a:highlight>
                  <a:srgbClr val="FFFF00"/>
                </a:highlight>
              </a:rPr>
              <a:t>ID</a:t>
            </a:r>
            <a:r>
              <a:rPr lang="zh-CN" altLang="en-US" sz="1200" dirty="0">
                <a:highlight>
                  <a:srgbClr val="FFFF00"/>
                </a:highlight>
              </a:rPr>
              <a:t>序：基于</a:t>
            </a:r>
            <a:r>
              <a:rPr lang="en-US" altLang="zh-CN" sz="1200" dirty="0">
                <a:highlight>
                  <a:srgbClr val="FFFF00"/>
                </a:highlight>
              </a:rPr>
              <a:t>ID</a:t>
            </a:r>
            <a:r>
              <a:rPr lang="zh-CN" altLang="en-US" sz="1200" dirty="0">
                <a:highlight>
                  <a:srgbClr val="FFFF00"/>
                </a:highlight>
              </a:rPr>
              <a:t>维度设置序的规则</a:t>
            </a:r>
            <a:endParaRPr lang="en-US" altLang="zh-CN" sz="1200" dirty="0">
              <a:highlight>
                <a:srgbClr val="FFFF00"/>
              </a:highlight>
            </a:endParaRPr>
          </a:p>
          <a:p>
            <a:pPr algn="l"/>
            <a:endParaRPr lang="en-US" altLang="zh-CN" sz="1200" b="1" i="0" u="none" strike="noStrike" baseline="0" dirty="0">
              <a:solidFill>
                <a:srgbClr val="C00000"/>
              </a:solidFill>
              <a:latin typeface="PalatinoLinotype-Roman"/>
            </a:endParaRPr>
          </a:p>
          <a:p>
            <a:pPr algn="l"/>
            <a:r>
              <a:rPr lang="en-US" altLang="zh-CN" sz="1200" b="1" i="0" u="none" strike="noStrike" baseline="0" dirty="0">
                <a:solidFill>
                  <a:srgbClr val="C00000"/>
                </a:solidFill>
                <a:latin typeface="PalatinoLinotype-Roman"/>
              </a:rPr>
              <a:t>Implementation of the specific PCI/PCIe transaction ordering is based on the following features:</a:t>
            </a:r>
          </a:p>
          <a:p>
            <a:pPr algn="l"/>
            <a:r>
              <a:rPr lang="en-US" altLang="zh-CN" sz="1200" b="0" i="0" u="none" strike="noStrike" baseline="0" dirty="0">
                <a:latin typeface="PalatinoLinotype-Roman"/>
              </a:rPr>
              <a:t>1. Producer/Consumer programming model on which the fundamental ordering rules are based.</a:t>
            </a:r>
          </a:p>
          <a:p>
            <a:pPr algn="l"/>
            <a:r>
              <a:rPr lang="en-US" altLang="zh-CN" sz="1200" b="0" i="0" u="none" strike="noStrike" baseline="0" dirty="0">
                <a:latin typeface="PalatinoLinotype-Roman"/>
              </a:rPr>
              <a:t>2. Relaxed Ordering option that allows an exception to this when the Requester knows that a transaction does not have any dependencies on previous transactions.</a:t>
            </a:r>
          </a:p>
          <a:p>
            <a:pPr algn="l"/>
            <a:r>
              <a:rPr lang="en-US" altLang="zh-CN" sz="1200" b="0" i="0" u="none" strike="noStrike" baseline="0" dirty="0">
                <a:latin typeface="PalatinoLinotype-Roman"/>
              </a:rPr>
              <a:t>3. ID Ordering option that allows a switches to permit requests from one device to move ahead of requests from another device because unrelated threads of execution are being performed by these two devices.</a:t>
            </a:r>
          </a:p>
          <a:p>
            <a:pPr algn="l"/>
            <a:r>
              <a:rPr lang="en-US" altLang="zh-CN" sz="1200" b="0" i="0" u="none" strike="noStrike" baseline="0" dirty="0">
                <a:latin typeface="PalatinoLinotype-Roman"/>
              </a:rPr>
              <a:t>4. Means for avoiding deadlock conditions and supporting PCI legacy implementations.</a:t>
            </a:r>
            <a:endParaRPr lang="zh-CN" altLang="en-US" sz="1000" dirty="0">
              <a:highlight>
                <a:srgbClr val="FFFF00"/>
              </a:highlight>
            </a:endParaRPr>
          </a:p>
        </p:txBody>
      </p:sp>
      <p:pic>
        <p:nvPicPr>
          <p:cNvPr id="9" name="图片 8"/>
          <p:cNvPicPr>
            <a:picLocks noChangeAspect="1"/>
          </p:cNvPicPr>
          <p:nvPr/>
        </p:nvPicPr>
        <p:blipFill>
          <a:blip r:embed="rId3"/>
          <a:stretch>
            <a:fillRect/>
          </a:stretch>
        </p:blipFill>
        <p:spPr>
          <a:xfrm>
            <a:off x="4666278" y="4071911"/>
            <a:ext cx="3923928" cy="2722342"/>
          </a:xfrm>
          <a:prstGeom prst="rect">
            <a:avLst/>
          </a:prstGeom>
        </p:spPr>
      </p:pic>
      <p:pic>
        <p:nvPicPr>
          <p:cNvPr id="11" name="图片 10"/>
          <p:cNvPicPr>
            <a:picLocks noChangeAspect="1"/>
          </p:cNvPicPr>
          <p:nvPr/>
        </p:nvPicPr>
        <p:blipFill>
          <a:blip r:embed="rId4"/>
          <a:stretch>
            <a:fillRect/>
          </a:stretch>
        </p:blipFill>
        <p:spPr>
          <a:xfrm>
            <a:off x="234280" y="3901362"/>
            <a:ext cx="3995936" cy="2858377"/>
          </a:xfrm>
          <a:prstGeom prst="rect">
            <a:avLst/>
          </a:prstGeom>
        </p:spPr>
      </p:pic>
      <p:sp>
        <p:nvSpPr>
          <p:cNvPr id="16" name="文本框 15"/>
          <p:cNvSpPr txBox="1"/>
          <p:nvPr/>
        </p:nvSpPr>
        <p:spPr>
          <a:xfrm>
            <a:off x="4642175" y="3837202"/>
            <a:ext cx="3738895" cy="276999"/>
          </a:xfrm>
          <a:prstGeom prst="rect">
            <a:avLst/>
          </a:prstGeom>
          <a:noFill/>
        </p:spPr>
        <p:txBody>
          <a:bodyPr wrap="square">
            <a:spAutoFit/>
          </a:bodyPr>
          <a:lstStyle/>
          <a:p>
            <a:r>
              <a:rPr lang="zh-CN" altLang="en-US" sz="1200" b="0" i="0" u="none" strike="noStrike" baseline="0" dirty="0">
                <a:highlight>
                  <a:srgbClr val="FFFF00"/>
                </a:highlight>
                <a:latin typeface="PalatinoLinotype-Roman"/>
              </a:rPr>
              <a:t>生产者消费模型引入的一些讨论产生了这些序的规则</a:t>
            </a:r>
            <a:endParaRPr lang="zh-CN" altLang="en-US" sz="1200" dirty="0">
              <a:highlight>
                <a:srgbClr val="FFFF00"/>
              </a:highlight>
            </a:endParaRPr>
          </a:p>
        </p:txBody>
      </p:sp>
      <p:pic>
        <p:nvPicPr>
          <p:cNvPr id="17" name="图片 16"/>
          <p:cNvPicPr>
            <a:picLocks noChangeAspect="1"/>
          </p:cNvPicPr>
          <p:nvPr/>
        </p:nvPicPr>
        <p:blipFill>
          <a:blip r:embed="rId5"/>
          <a:stretch>
            <a:fillRect/>
          </a:stretch>
        </p:blipFill>
        <p:spPr>
          <a:xfrm>
            <a:off x="5259824" y="1044855"/>
            <a:ext cx="3776861" cy="253719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7"/>
          <p:cNvSpPr>
            <a:spLocks noGrp="1"/>
          </p:cNvSpPr>
          <p:nvPr>
            <p:ph type="title"/>
            <p:custDataLst>
              <p:tags r:id="rId1"/>
            </p:custDataLst>
          </p:nvPr>
        </p:nvSpPr>
        <p:spPr>
          <a:xfrm>
            <a:off x="107315" y="93980"/>
            <a:ext cx="8508365" cy="461010"/>
          </a:xfrm>
        </p:spPr>
        <p:txBody>
          <a:bodyPr/>
          <a:lstStyle/>
          <a:p>
            <a:pPr algn="l"/>
            <a:r>
              <a:rPr lang="zh-CN" altLang="en-US" sz="2800" dirty="0">
                <a:gradFill>
                  <a:gsLst>
                    <a:gs pos="0">
                      <a:srgbClr val="E30000"/>
                    </a:gs>
                    <a:gs pos="100000">
                      <a:srgbClr val="760303"/>
                    </a:gs>
                  </a:gsLst>
                  <a:lin scaled="0"/>
                </a:gradFill>
                <a:sym typeface="+mn-ea"/>
              </a:rPr>
              <a:t>事务的序</a:t>
            </a:r>
            <a:r>
              <a:rPr lang="en-US" altLang="zh-CN" sz="2800" dirty="0">
                <a:gradFill>
                  <a:gsLst>
                    <a:gs pos="0">
                      <a:srgbClr val="E30000"/>
                    </a:gs>
                    <a:gs pos="100000">
                      <a:srgbClr val="760303"/>
                    </a:gs>
                  </a:gsLst>
                  <a:lin scaled="0"/>
                </a:gradFill>
                <a:sym typeface="+mn-ea"/>
              </a:rPr>
              <a:t>-</a:t>
            </a:r>
            <a:r>
              <a:rPr lang="zh-CN" altLang="en-US" sz="2800" dirty="0">
                <a:gradFill>
                  <a:gsLst>
                    <a:gs pos="0">
                      <a:srgbClr val="E30000"/>
                    </a:gs>
                    <a:gs pos="100000">
                      <a:srgbClr val="760303"/>
                    </a:gs>
                  </a:gsLst>
                  <a:lin scaled="0"/>
                </a:gradFill>
                <a:sym typeface="+mn-ea"/>
              </a:rPr>
              <a:t>弹性序</a:t>
            </a:r>
          </a:p>
        </p:txBody>
      </p:sp>
      <p:pic>
        <p:nvPicPr>
          <p:cNvPr id="7" name="图片 6"/>
          <p:cNvPicPr>
            <a:picLocks noChangeAspect="1"/>
          </p:cNvPicPr>
          <p:nvPr/>
        </p:nvPicPr>
        <p:blipFill>
          <a:blip r:embed="rId4"/>
          <a:stretch>
            <a:fillRect/>
          </a:stretch>
        </p:blipFill>
        <p:spPr>
          <a:xfrm>
            <a:off x="119526" y="1254902"/>
            <a:ext cx="4644008" cy="1940994"/>
          </a:xfrm>
          <a:prstGeom prst="rect">
            <a:avLst/>
          </a:prstGeom>
        </p:spPr>
      </p:pic>
      <p:sp>
        <p:nvSpPr>
          <p:cNvPr id="8" name="文本框 7"/>
          <p:cNvSpPr txBox="1"/>
          <p:nvPr/>
        </p:nvSpPr>
        <p:spPr>
          <a:xfrm>
            <a:off x="251520" y="827420"/>
            <a:ext cx="2933090" cy="369332"/>
          </a:xfrm>
          <a:prstGeom prst="rect">
            <a:avLst/>
          </a:prstGeom>
          <a:noFill/>
        </p:spPr>
        <p:txBody>
          <a:bodyPr wrap="square">
            <a:spAutoFit/>
          </a:bodyPr>
          <a:lstStyle/>
          <a:p>
            <a:r>
              <a:rPr lang="en-US" altLang="zh-CN" sz="1800" b="0" i="0" u="none" strike="noStrike" baseline="0" dirty="0">
                <a:highlight>
                  <a:srgbClr val="FFFF00"/>
                </a:highlight>
                <a:latin typeface="PalatinoLinotype-Roman"/>
              </a:rPr>
              <a:t>The RO bit (bit 5 of byte 2</a:t>
            </a:r>
            <a:endParaRPr lang="zh-CN" altLang="en-US" dirty="0">
              <a:highlight>
                <a:srgbClr val="FFFF00"/>
              </a:highlight>
            </a:endParaRPr>
          </a:p>
        </p:txBody>
      </p:sp>
      <p:sp>
        <p:nvSpPr>
          <p:cNvPr id="10" name="文本框 9"/>
          <p:cNvSpPr txBox="1"/>
          <p:nvPr>
            <p:custDataLst>
              <p:tags r:id="rId2"/>
            </p:custDataLst>
          </p:nvPr>
        </p:nvSpPr>
        <p:spPr>
          <a:xfrm>
            <a:off x="4860032" y="1720896"/>
            <a:ext cx="4366260" cy="1107996"/>
          </a:xfrm>
          <a:prstGeom prst="rect">
            <a:avLst/>
          </a:prstGeom>
          <a:noFill/>
        </p:spPr>
        <p:txBody>
          <a:bodyPr wrap="square" rtlCol="0">
            <a:spAutoFit/>
          </a:bodyPr>
          <a:lstStyle/>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Post</a:t>
            </a:r>
            <a:r>
              <a:rPr lang="zh-CN" altLang="en-US" sz="1100" b="1" dirty="0">
                <a:gradFill>
                  <a:gsLst>
                    <a:gs pos="0">
                      <a:srgbClr val="E30000"/>
                    </a:gs>
                    <a:gs pos="100000">
                      <a:srgbClr val="760303"/>
                    </a:gs>
                  </a:gsLst>
                  <a:lin scaled="0"/>
                </a:gradFill>
              </a:rPr>
              <a:t>影响</a:t>
            </a:r>
            <a:endParaRPr lang="en-US" altLang="zh-CN" sz="1100" b="1" dirty="0">
              <a:gradFill>
                <a:gsLst>
                  <a:gs pos="0">
                    <a:srgbClr val="E30000"/>
                  </a:gs>
                  <a:gs pos="100000">
                    <a:srgbClr val="760303"/>
                  </a:gs>
                </a:gsLst>
                <a:lin scaled="0"/>
              </a:gradFill>
            </a:endParaRPr>
          </a:p>
          <a:p>
            <a:pPr marL="628650" lvl="1" indent="-171450">
              <a:buFont typeface="Arial" panose="020B0604020202020204" pitchFamily="34" charset="0"/>
              <a:buChar char="•"/>
            </a:pPr>
            <a:r>
              <a:rPr lang="en-US" altLang="zh-CN" sz="1100" b="1" dirty="0">
                <a:gradFill>
                  <a:gsLst>
                    <a:gs pos="0">
                      <a:srgbClr val="E30000"/>
                    </a:gs>
                    <a:gs pos="100000">
                      <a:srgbClr val="760303"/>
                    </a:gs>
                  </a:gsLst>
                  <a:lin scaled="0"/>
                </a:gradFill>
              </a:rPr>
              <a:t>Memory write/message</a:t>
            </a:r>
            <a:r>
              <a:rPr lang="zh-CN" altLang="en-US" sz="1100" b="1" dirty="0">
                <a:gradFill>
                  <a:gsLst>
                    <a:gs pos="0">
                      <a:srgbClr val="E30000"/>
                    </a:gs>
                    <a:gs pos="100000">
                      <a:srgbClr val="760303"/>
                    </a:gs>
                  </a:gsLst>
                  <a:lin scaled="0"/>
                </a:gradFill>
              </a:rPr>
              <a:t>可以超越之前的</a:t>
            </a:r>
            <a:r>
              <a:rPr lang="en-US" altLang="zh-CN" sz="1100" b="1" dirty="0">
                <a:gradFill>
                  <a:gsLst>
                    <a:gs pos="0">
                      <a:srgbClr val="E30000"/>
                    </a:gs>
                    <a:gs pos="100000">
                      <a:srgbClr val="760303"/>
                    </a:gs>
                  </a:gsLst>
                  <a:lin scaled="0"/>
                </a:gradFill>
              </a:rPr>
              <a:t>Memory write/message</a:t>
            </a:r>
          </a:p>
          <a:p>
            <a:pPr marL="628650" lvl="1" indent="-171450">
              <a:buFont typeface="Arial" panose="020B0604020202020204" pitchFamily="34" charset="0"/>
              <a:buChar char="•"/>
            </a:pPr>
            <a:r>
              <a:rPr lang="en-US" altLang="zh-CN" sz="1100" b="1" dirty="0">
                <a:gradFill>
                  <a:gsLst>
                    <a:gs pos="0">
                      <a:srgbClr val="E30000"/>
                    </a:gs>
                    <a:gs pos="100000">
                      <a:srgbClr val="760303"/>
                    </a:gs>
                  </a:gsLst>
                  <a:lin scaled="0"/>
                </a:gradFill>
              </a:rPr>
              <a:t>PCX</a:t>
            </a:r>
            <a:r>
              <a:rPr lang="zh-CN" altLang="en-US" sz="1100" b="1" dirty="0">
                <a:gradFill>
                  <a:gsLst>
                    <a:gs pos="0">
                      <a:srgbClr val="E30000"/>
                    </a:gs>
                    <a:gs pos="100000">
                      <a:srgbClr val="760303"/>
                    </a:gs>
                  </a:gsLst>
                  <a:lin scaled="0"/>
                </a:gradFill>
              </a:rPr>
              <a:t>桥忽略</a:t>
            </a:r>
            <a:r>
              <a:rPr lang="en-US" altLang="zh-CN" sz="1100" b="1" dirty="0">
                <a:gradFill>
                  <a:gsLst>
                    <a:gs pos="0">
                      <a:srgbClr val="E30000"/>
                    </a:gs>
                    <a:gs pos="100000">
                      <a:srgbClr val="760303"/>
                    </a:gs>
                  </a:gsLst>
                  <a:lin scaled="0"/>
                </a:gradFill>
              </a:rPr>
              <a:t>RO</a:t>
            </a:r>
          </a:p>
          <a:p>
            <a:pPr marL="171450" indent="-171450">
              <a:buFont typeface="Arial" panose="020B0604020202020204" pitchFamily="34" charset="0"/>
              <a:buChar char="•"/>
            </a:pPr>
            <a:r>
              <a:rPr lang="en-US" altLang="zh-CN" sz="1100" b="1" dirty="0">
                <a:gradFill>
                  <a:gsLst>
                    <a:gs pos="0">
                      <a:srgbClr val="E30000"/>
                    </a:gs>
                    <a:gs pos="100000">
                      <a:srgbClr val="760303"/>
                    </a:gs>
                  </a:gsLst>
                  <a:lin scaled="0"/>
                </a:gradFill>
              </a:rPr>
              <a:t>Read</a:t>
            </a:r>
            <a:r>
              <a:rPr lang="zh-CN" altLang="en-US" sz="1100" b="1" dirty="0">
                <a:gradFill>
                  <a:gsLst>
                    <a:gs pos="0">
                      <a:srgbClr val="E30000"/>
                    </a:gs>
                    <a:gs pos="100000">
                      <a:srgbClr val="760303"/>
                    </a:gs>
                  </a:gsLst>
                  <a:lin scaled="0"/>
                </a:gradFill>
              </a:rPr>
              <a:t>影响</a:t>
            </a:r>
            <a:endParaRPr lang="en-US" altLang="zh-CN" sz="1100" b="1" dirty="0">
              <a:gradFill>
                <a:gsLst>
                  <a:gs pos="0">
                    <a:srgbClr val="E30000"/>
                  </a:gs>
                  <a:gs pos="100000">
                    <a:srgbClr val="760303"/>
                  </a:gs>
                </a:gsLst>
                <a:lin scaled="0"/>
              </a:gradFill>
            </a:endParaRPr>
          </a:p>
          <a:p>
            <a:pPr marL="628650" lvl="1" indent="-171450">
              <a:buFont typeface="Arial" panose="020B0604020202020204" pitchFamily="34" charset="0"/>
              <a:buChar char="•"/>
            </a:pPr>
            <a:endParaRPr lang="zh-CN" altLang="en-US" sz="1100" b="1" dirty="0">
              <a:gradFill>
                <a:gsLst>
                  <a:gs pos="0">
                    <a:srgbClr val="E30000"/>
                  </a:gs>
                  <a:gs pos="100000">
                    <a:srgbClr val="760303"/>
                  </a:gs>
                </a:gsLst>
                <a:lin scaled="0"/>
              </a:gradFill>
            </a:endParaRPr>
          </a:p>
        </p:txBody>
      </p:sp>
      <p:pic>
        <p:nvPicPr>
          <p:cNvPr id="12" name="图片 11"/>
          <p:cNvPicPr>
            <a:picLocks noChangeAspect="1"/>
          </p:cNvPicPr>
          <p:nvPr/>
        </p:nvPicPr>
        <p:blipFill>
          <a:blip r:embed="rId5"/>
          <a:stretch>
            <a:fillRect/>
          </a:stretch>
        </p:blipFill>
        <p:spPr>
          <a:xfrm>
            <a:off x="179512" y="3662105"/>
            <a:ext cx="5220072" cy="24822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7"/>
          <p:cNvSpPr>
            <a:spLocks noGrp="1"/>
          </p:cNvSpPr>
          <p:nvPr>
            <p:ph type="title"/>
            <p:custDataLst>
              <p:tags r:id="rId1"/>
            </p:custDataLst>
          </p:nvPr>
        </p:nvSpPr>
        <p:spPr>
          <a:xfrm>
            <a:off x="107315" y="93980"/>
            <a:ext cx="8508365" cy="461010"/>
          </a:xfrm>
        </p:spPr>
        <p:txBody>
          <a:bodyPr/>
          <a:lstStyle/>
          <a:p>
            <a:pPr algn="l"/>
            <a:r>
              <a:rPr lang="zh-CN" altLang="en-US" sz="2800" dirty="0">
                <a:gradFill>
                  <a:gsLst>
                    <a:gs pos="0">
                      <a:srgbClr val="E30000"/>
                    </a:gs>
                    <a:gs pos="100000">
                      <a:srgbClr val="760303"/>
                    </a:gs>
                  </a:gsLst>
                  <a:lin scaled="0"/>
                </a:gradFill>
                <a:sym typeface="+mn-ea"/>
              </a:rPr>
              <a:t>事务的序</a:t>
            </a:r>
            <a:r>
              <a:rPr lang="en-US" altLang="zh-CN" sz="2800" dirty="0">
                <a:gradFill>
                  <a:gsLst>
                    <a:gs pos="0">
                      <a:srgbClr val="E30000"/>
                    </a:gs>
                    <a:gs pos="100000">
                      <a:srgbClr val="760303"/>
                    </a:gs>
                  </a:gsLst>
                  <a:lin scaled="0"/>
                </a:gradFill>
                <a:sym typeface="+mn-ea"/>
              </a:rPr>
              <a:t>-</a:t>
            </a:r>
            <a:r>
              <a:rPr lang="zh-CN" altLang="en-US" sz="2800" dirty="0">
                <a:gradFill>
                  <a:gsLst>
                    <a:gs pos="0">
                      <a:srgbClr val="E30000"/>
                    </a:gs>
                    <a:gs pos="100000">
                      <a:srgbClr val="760303"/>
                    </a:gs>
                  </a:gsLst>
                  <a:lin scaled="0"/>
                </a:gradFill>
                <a:sym typeface="+mn-ea"/>
              </a:rPr>
              <a:t>弱序</a:t>
            </a:r>
          </a:p>
        </p:txBody>
      </p:sp>
      <p:sp>
        <p:nvSpPr>
          <p:cNvPr id="6" name="文本框 5"/>
          <p:cNvSpPr txBox="1"/>
          <p:nvPr/>
        </p:nvSpPr>
        <p:spPr>
          <a:xfrm>
            <a:off x="107315" y="836712"/>
            <a:ext cx="6462464" cy="1600438"/>
          </a:xfrm>
          <a:prstGeom prst="rect">
            <a:avLst/>
          </a:prstGeom>
          <a:noFill/>
        </p:spPr>
        <p:txBody>
          <a:bodyPr wrap="square">
            <a:spAutoFit/>
          </a:bodyPr>
          <a:lstStyle/>
          <a:p>
            <a:pPr algn="l"/>
            <a:r>
              <a:rPr lang="en-US" altLang="zh-CN" sz="1400" b="1" i="0" u="none" strike="noStrike" baseline="0" dirty="0">
                <a:solidFill>
                  <a:srgbClr val="C00000"/>
                </a:solidFill>
                <a:highlight>
                  <a:srgbClr val="FFFF00"/>
                </a:highlight>
                <a:latin typeface="PalatinoLinotype-Roman"/>
              </a:rPr>
              <a:t>Flow Control</a:t>
            </a:r>
            <a:r>
              <a:rPr lang="zh-CN" altLang="en-US" sz="1400" b="1" i="0" u="none" strike="noStrike" baseline="0" dirty="0">
                <a:solidFill>
                  <a:srgbClr val="C00000"/>
                </a:solidFill>
                <a:highlight>
                  <a:srgbClr val="FFFF00"/>
                </a:highlight>
                <a:latin typeface="PalatinoLinotype-Roman"/>
              </a:rPr>
              <a:t>的设计就是按照</a:t>
            </a:r>
            <a:r>
              <a:rPr lang="en-US" altLang="zh-CN" sz="1400" b="1" i="0" u="none" strike="noStrike" baseline="0" dirty="0">
                <a:solidFill>
                  <a:srgbClr val="C00000"/>
                </a:solidFill>
                <a:highlight>
                  <a:srgbClr val="FFFF00"/>
                </a:highlight>
                <a:latin typeface="PalatinoLinotype-Roman"/>
              </a:rPr>
              <a:t>P, NP, CPL</a:t>
            </a:r>
            <a:r>
              <a:rPr lang="zh-CN" altLang="en-US" sz="1400" b="1" i="0" u="none" strike="noStrike" baseline="0" dirty="0">
                <a:solidFill>
                  <a:srgbClr val="C00000"/>
                </a:solidFill>
                <a:highlight>
                  <a:srgbClr val="FFFF00"/>
                </a:highlight>
                <a:latin typeface="PalatinoLinotype-Roman"/>
              </a:rPr>
              <a:t>的序需求：</a:t>
            </a:r>
            <a:endParaRPr lang="en-US" altLang="zh-CN" sz="1400" b="1" i="0" u="none" strike="noStrike" baseline="0" dirty="0">
              <a:solidFill>
                <a:srgbClr val="C00000"/>
              </a:solidFill>
              <a:highlight>
                <a:srgbClr val="FFFF00"/>
              </a:highlight>
              <a:latin typeface="PalatinoLinotype-Roman"/>
            </a:endParaRPr>
          </a:p>
          <a:p>
            <a:pPr algn="l"/>
            <a:r>
              <a:rPr lang="en-US" altLang="zh-CN" sz="1400" b="0" i="0" u="none" strike="noStrike" baseline="0" dirty="0">
                <a:highlight>
                  <a:srgbClr val="FFFF00"/>
                </a:highlight>
                <a:latin typeface="PalatinoLinotype-Roman"/>
              </a:rPr>
              <a:t>Since TLPs are binned into their respective three sub‐buffers in order to process transaction ordering rules, it is necessary to define the flow control mechanism between each virtual channel sub‐buffer (P, NP, CPL) of neighboring ports at opposite ends of the Link. In fact, you may recall that there is an independent flow control mechanism between Header (</a:t>
            </a:r>
            <a:r>
              <a:rPr lang="en-US" altLang="zh-CN" sz="1400" b="0" i="0" u="none" strike="noStrike" baseline="0" dirty="0" err="1">
                <a:highlight>
                  <a:srgbClr val="FFFF00"/>
                </a:highlight>
                <a:latin typeface="PalatinoLinotype-Roman"/>
              </a:rPr>
              <a:t>Hdr</a:t>
            </a:r>
            <a:r>
              <a:rPr lang="en-US" altLang="zh-CN" sz="1400" b="0" i="0" u="none" strike="noStrike" baseline="0" dirty="0">
                <a:highlight>
                  <a:srgbClr val="FFFF00"/>
                </a:highlight>
                <a:latin typeface="PalatinoLinotype-Roman"/>
              </a:rPr>
              <a:t>) and Data (D) sub‐buffers of each sub‐buffer category (P, NP, CPL) of each virtual channel number.</a:t>
            </a:r>
            <a:endParaRPr lang="zh-CN" altLang="en-US" sz="1400" dirty="0">
              <a:highlight>
                <a:srgbClr val="FFFF0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7"/>
          <p:cNvSpPr>
            <a:spLocks noGrp="1"/>
          </p:cNvSpPr>
          <p:nvPr>
            <p:ph type="title"/>
            <p:custDataLst>
              <p:tags r:id="rId1"/>
            </p:custDataLst>
          </p:nvPr>
        </p:nvSpPr>
        <p:spPr>
          <a:xfrm>
            <a:off x="107315" y="93980"/>
            <a:ext cx="8508365" cy="461010"/>
          </a:xfrm>
        </p:spPr>
        <p:txBody>
          <a:bodyPr/>
          <a:lstStyle/>
          <a:p>
            <a:pPr algn="l"/>
            <a:r>
              <a:rPr lang="zh-CN" altLang="en-US" sz="2800" dirty="0">
                <a:gradFill>
                  <a:gsLst>
                    <a:gs pos="0">
                      <a:srgbClr val="E30000"/>
                    </a:gs>
                    <a:gs pos="100000">
                      <a:srgbClr val="760303"/>
                    </a:gs>
                  </a:gsLst>
                  <a:lin scaled="0"/>
                </a:gradFill>
                <a:sym typeface="+mn-ea"/>
              </a:rPr>
              <a:t>事务的序</a:t>
            </a:r>
            <a:r>
              <a:rPr lang="en-US" altLang="zh-CN" sz="2800" dirty="0">
                <a:gradFill>
                  <a:gsLst>
                    <a:gs pos="0">
                      <a:srgbClr val="E30000"/>
                    </a:gs>
                    <a:gs pos="100000">
                      <a:srgbClr val="760303"/>
                    </a:gs>
                  </a:gsLst>
                  <a:lin scaled="0"/>
                </a:gradFill>
                <a:sym typeface="+mn-ea"/>
              </a:rPr>
              <a:t>-ID</a:t>
            </a:r>
            <a:r>
              <a:rPr lang="zh-CN" altLang="en-US" sz="2800" dirty="0">
                <a:gradFill>
                  <a:gsLst>
                    <a:gs pos="0">
                      <a:srgbClr val="E30000"/>
                    </a:gs>
                    <a:gs pos="100000">
                      <a:srgbClr val="760303"/>
                    </a:gs>
                  </a:gsLst>
                  <a:lin scaled="0"/>
                </a:gradFill>
                <a:sym typeface="+mn-ea"/>
              </a:rPr>
              <a:t>序</a:t>
            </a:r>
          </a:p>
        </p:txBody>
      </p:sp>
      <p:pic>
        <p:nvPicPr>
          <p:cNvPr id="3" name="图片 2"/>
          <p:cNvPicPr>
            <a:picLocks noChangeAspect="1"/>
          </p:cNvPicPr>
          <p:nvPr/>
        </p:nvPicPr>
        <p:blipFill>
          <a:blip r:embed="rId3"/>
          <a:stretch>
            <a:fillRect/>
          </a:stretch>
        </p:blipFill>
        <p:spPr>
          <a:xfrm>
            <a:off x="320229" y="4220305"/>
            <a:ext cx="3819723" cy="1895377"/>
          </a:xfrm>
          <a:prstGeom prst="rect">
            <a:avLst/>
          </a:prstGeom>
        </p:spPr>
      </p:pic>
      <p:sp>
        <p:nvSpPr>
          <p:cNvPr id="7" name="文本框 6"/>
          <p:cNvSpPr txBox="1"/>
          <p:nvPr/>
        </p:nvSpPr>
        <p:spPr>
          <a:xfrm>
            <a:off x="179512" y="3458720"/>
            <a:ext cx="3960440" cy="523220"/>
          </a:xfrm>
          <a:prstGeom prst="rect">
            <a:avLst/>
          </a:prstGeom>
          <a:noFill/>
        </p:spPr>
        <p:txBody>
          <a:bodyPr wrap="square">
            <a:spAutoFit/>
          </a:bodyPr>
          <a:lstStyle/>
          <a:p>
            <a:pPr algn="l"/>
            <a:r>
              <a:rPr lang="zh-CN" altLang="en-US" sz="1400" b="0" i="0" u="none" strike="noStrike" baseline="0" dirty="0">
                <a:highlight>
                  <a:srgbClr val="FFFF00"/>
                </a:highlight>
                <a:latin typeface="PalatinoLinotype-Roman"/>
              </a:rPr>
              <a:t>软件设置一个</a:t>
            </a:r>
            <a:r>
              <a:rPr lang="en-US" altLang="zh-CN" sz="1400" b="0" i="0" u="none" strike="noStrike" baseline="0" dirty="0">
                <a:highlight>
                  <a:srgbClr val="FFFF00"/>
                </a:highlight>
                <a:latin typeface="PalatinoLinotype-Roman"/>
              </a:rPr>
              <a:t>EP</a:t>
            </a:r>
            <a:r>
              <a:rPr lang="zh-CN" altLang="en-US" sz="1400" b="0" i="0" u="none" strike="noStrike" baseline="0" dirty="0">
                <a:highlight>
                  <a:srgbClr val="FFFF00"/>
                </a:highlight>
                <a:latin typeface="PalatinoLinotype-Roman"/>
              </a:rPr>
              <a:t>使用</a:t>
            </a:r>
            <a:r>
              <a:rPr lang="en-US" altLang="zh-CN" sz="1400" b="0" i="0" u="none" strike="noStrike" baseline="0" dirty="0">
                <a:highlight>
                  <a:srgbClr val="FFFF00"/>
                </a:highlight>
                <a:latin typeface="PalatinoLinotype-Roman"/>
              </a:rPr>
              <a:t>IDO</a:t>
            </a:r>
            <a:r>
              <a:rPr lang="zh-CN" altLang="en-US" sz="1400" b="0" i="0" u="none" strike="noStrike" baseline="0" dirty="0">
                <a:highlight>
                  <a:srgbClr val="FFFF00"/>
                </a:highlight>
                <a:latin typeface="PalatinoLinotype-Roman"/>
              </a:rPr>
              <a:t>，交换机能识别</a:t>
            </a:r>
            <a:r>
              <a:rPr lang="en-US" altLang="zh-CN" sz="1400" b="0" i="0" u="none" strike="noStrike" baseline="0" dirty="0">
                <a:highlight>
                  <a:srgbClr val="FFFF00"/>
                </a:highlight>
                <a:latin typeface="PalatinoLinotype-Roman"/>
              </a:rPr>
              <a:t>IDO</a:t>
            </a:r>
            <a:r>
              <a:rPr lang="zh-CN" altLang="en-US" sz="1400" b="0" i="0" u="none" strike="noStrike" baseline="0" dirty="0">
                <a:highlight>
                  <a:srgbClr val="FFFF00"/>
                </a:highlight>
                <a:latin typeface="PalatinoLinotype-Roman"/>
              </a:rPr>
              <a:t>，事务</a:t>
            </a:r>
            <a:r>
              <a:rPr lang="en-US" altLang="zh-CN" sz="1400" b="0" i="0" u="none" strike="noStrike" baseline="0" dirty="0">
                <a:highlight>
                  <a:srgbClr val="FFFF00"/>
                </a:highlight>
                <a:latin typeface="PalatinoLinotype-Roman"/>
              </a:rPr>
              <a:t>2</a:t>
            </a:r>
            <a:r>
              <a:rPr lang="zh-CN" altLang="en-US" sz="1400" b="0" i="0" u="none" strike="noStrike" baseline="0" dirty="0">
                <a:highlight>
                  <a:srgbClr val="FFFF00"/>
                </a:highlight>
                <a:latin typeface="PalatinoLinotype-Roman"/>
              </a:rPr>
              <a:t>就可以超越事务</a:t>
            </a:r>
            <a:r>
              <a:rPr lang="en-US" altLang="zh-CN" sz="1400" b="0" i="0" u="none" strike="noStrike" baseline="0" dirty="0">
                <a:highlight>
                  <a:srgbClr val="FFFF00"/>
                </a:highlight>
                <a:latin typeface="PalatinoLinotype-Roman"/>
              </a:rPr>
              <a:t>1</a:t>
            </a:r>
            <a:endParaRPr lang="zh-CN" altLang="en-US" sz="1400" dirty="0">
              <a:highlight>
                <a:srgbClr val="FFFF00"/>
              </a:highlight>
            </a:endParaRPr>
          </a:p>
        </p:txBody>
      </p:sp>
      <p:pic>
        <p:nvPicPr>
          <p:cNvPr id="9" name="图片 8"/>
          <p:cNvPicPr>
            <a:picLocks noChangeAspect="1"/>
          </p:cNvPicPr>
          <p:nvPr/>
        </p:nvPicPr>
        <p:blipFill>
          <a:blip r:embed="rId4"/>
          <a:stretch>
            <a:fillRect/>
          </a:stretch>
        </p:blipFill>
        <p:spPr>
          <a:xfrm>
            <a:off x="320229" y="742318"/>
            <a:ext cx="3819723" cy="2686682"/>
          </a:xfrm>
          <a:prstGeom prst="rect">
            <a:avLst/>
          </a:prstGeom>
        </p:spPr>
      </p:pic>
      <p:sp>
        <p:nvSpPr>
          <p:cNvPr id="10" name="文本框 9"/>
          <p:cNvSpPr txBox="1"/>
          <p:nvPr/>
        </p:nvSpPr>
        <p:spPr>
          <a:xfrm>
            <a:off x="4356937" y="980728"/>
            <a:ext cx="3960440" cy="2031325"/>
          </a:xfrm>
          <a:prstGeom prst="rect">
            <a:avLst/>
          </a:prstGeom>
          <a:noFill/>
        </p:spPr>
        <p:txBody>
          <a:bodyPr wrap="square">
            <a:spAutoFit/>
          </a:bodyPr>
          <a:lstStyle/>
          <a:p>
            <a:pPr algn="l"/>
            <a:r>
              <a:rPr lang="zh-CN" altLang="en-US" sz="1400" b="0" i="0" u="none" strike="noStrike" baseline="0" dirty="0">
                <a:highlight>
                  <a:srgbClr val="FFFF00"/>
                </a:highlight>
                <a:latin typeface="PalatinoLinotype-Roman"/>
              </a:rPr>
              <a:t>软件需要非常小心的使用</a:t>
            </a:r>
            <a:r>
              <a:rPr lang="en-US" altLang="zh-CN" sz="1400" b="0" i="0" u="none" strike="noStrike" baseline="0" dirty="0">
                <a:highlight>
                  <a:srgbClr val="FFFF00"/>
                </a:highlight>
                <a:latin typeface="PalatinoLinotype-Roman"/>
              </a:rPr>
              <a:t>IDO</a:t>
            </a:r>
            <a:r>
              <a:rPr lang="zh-CN" altLang="en-US" sz="1400" b="0" i="0" u="none" strike="noStrike" baseline="0" dirty="0">
                <a:highlight>
                  <a:srgbClr val="FFFF00"/>
                </a:highlight>
                <a:latin typeface="PalatinoLinotype-Roman"/>
              </a:rPr>
              <a:t>和</a:t>
            </a:r>
            <a:r>
              <a:rPr lang="en-US" altLang="zh-CN" sz="1400" b="0" i="0" u="none" strike="noStrike" baseline="0" dirty="0">
                <a:highlight>
                  <a:srgbClr val="FFFF00"/>
                </a:highlight>
                <a:latin typeface="PalatinoLinotype-Roman"/>
              </a:rPr>
              <a:t>RO</a:t>
            </a:r>
            <a:r>
              <a:rPr lang="zh-CN" altLang="en-US" sz="1400" b="0" i="0" u="none" strike="noStrike" baseline="0" dirty="0">
                <a:highlight>
                  <a:srgbClr val="FFFF00"/>
                </a:highlight>
                <a:latin typeface="PalatinoLinotype-Roman"/>
              </a:rPr>
              <a:t>：</a:t>
            </a:r>
            <a:endParaRPr lang="en-US" altLang="zh-CN" sz="1400" b="0" i="0" u="none" strike="noStrike" baseline="0" dirty="0">
              <a:highlight>
                <a:srgbClr val="FFFF00"/>
              </a:highlight>
              <a:latin typeface="PalatinoLinotype-Roman"/>
            </a:endParaRPr>
          </a:p>
          <a:p>
            <a:pPr algn="l"/>
            <a:r>
              <a:rPr lang="zh-CN" altLang="en-US" sz="1400" b="0" i="0" u="none" strike="noStrike" baseline="0" dirty="0">
                <a:highlight>
                  <a:srgbClr val="FFFF00"/>
                </a:highlight>
                <a:latin typeface="PalatinoLinotype-Roman"/>
              </a:rPr>
              <a:t>如果只和一个设备通信，可以设置；如果和多个设备通信，需要谨慎</a:t>
            </a:r>
            <a:r>
              <a:rPr lang="en-US" altLang="zh-CN" sz="1400" b="0" i="0" u="none" strike="noStrike" baseline="0" dirty="0">
                <a:highlight>
                  <a:srgbClr val="FFFF00"/>
                </a:highlight>
                <a:latin typeface="PalatinoLinotype-Roman"/>
              </a:rPr>
              <a:t>~</a:t>
            </a:r>
            <a:r>
              <a:rPr lang="zh-CN" altLang="en-US" sz="1400" b="0" i="0" u="none" strike="noStrike" baseline="0" dirty="0">
                <a:highlight>
                  <a:srgbClr val="FFFF00"/>
                </a:highlight>
                <a:latin typeface="PalatinoLinotype-Roman"/>
              </a:rPr>
              <a:t>生成消费模型</a:t>
            </a:r>
            <a:endParaRPr lang="en-US" altLang="zh-CN" sz="1400" b="0" i="0" u="none" strike="noStrike" baseline="0" dirty="0">
              <a:highlight>
                <a:srgbClr val="FFFF00"/>
              </a:highlight>
              <a:latin typeface="PalatinoLinotype-Roman"/>
            </a:endParaRPr>
          </a:p>
          <a:p>
            <a:pPr algn="l"/>
            <a:r>
              <a:rPr lang="zh-CN" altLang="en-US" sz="1400" dirty="0">
                <a:highlight>
                  <a:srgbClr val="FFFF00"/>
                </a:highlight>
                <a:latin typeface="PalatinoLinotype-Roman"/>
              </a:rPr>
              <a:t>控制流使用</a:t>
            </a:r>
            <a:r>
              <a:rPr lang="en-US" altLang="zh-CN" sz="1400" dirty="0">
                <a:highlight>
                  <a:srgbClr val="FFFF00"/>
                </a:highlight>
                <a:latin typeface="PalatinoLinotype-Roman"/>
              </a:rPr>
              <a:t>RO</a:t>
            </a:r>
            <a:r>
              <a:rPr lang="zh-CN" altLang="en-US" sz="1400" dirty="0">
                <a:highlight>
                  <a:srgbClr val="FFFF00"/>
                </a:highlight>
                <a:latin typeface="PalatinoLinotype-Roman"/>
              </a:rPr>
              <a:t>可能不安全</a:t>
            </a:r>
            <a:endParaRPr lang="en-US" altLang="zh-CN" sz="1400" dirty="0">
              <a:highlight>
                <a:srgbClr val="FFFF00"/>
              </a:highlight>
              <a:latin typeface="PalatinoLinotype-Roman"/>
            </a:endParaRPr>
          </a:p>
          <a:p>
            <a:pPr algn="l"/>
            <a:endParaRPr lang="en-US" altLang="zh-CN" sz="1400" dirty="0">
              <a:highlight>
                <a:srgbClr val="FFFF00"/>
              </a:highlight>
              <a:latin typeface="PalatinoLinotype-Roman"/>
            </a:endParaRPr>
          </a:p>
          <a:p>
            <a:pPr algn="l"/>
            <a:r>
              <a:rPr lang="en-US" altLang="zh-CN" sz="1400" b="0" i="0" u="none" strike="noStrike" baseline="0" dirty="0">
                <a:latin typeface="PalatinoLinotype-Roman"/>
              </a:rPr>
              <a:t>Completions normally inherit all the attribute bits of the Request that generated them, but this may not be true for IDO, since this can be enabled independently by the Completer</a:t>
            </a:r>
            <a:r>
              <a:rPr lang="en-US" altLang="zh-CN" sz="1400" b="0" i="0" u="none" strike="noStrike" baseline="0">
                <a:latin typeface="PalatinoLinotype-Roman"/>
              </a:rPr>
              <a:t>. </a:t>
            </a:r>
            <a:endParaRPr lang="zh-CN" altLang="en-US" sz="1400" dirty="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515898" y="1069986"/>
            <a:ext cx="3442917" cy="2209737"/>
            <a:chOff x="424346" y="283649"/>
            <a:chExt cx="5015559" cy="3145351"/>
          </a:xfrm>
        </p:grpSpPr>
        <p:pic>
          <p:nvPicPr>
            <p:cNvPr id="5" name="图片 4"/>
            <p:cNvPicPr>
              <a:picLocks noChangeAspect="1"/>
            </p:cNvPicPr>
            <p:nvPr/>
          </p:nvPicPr>
          <p:blipFill>
            <a:blip r:embed="rId3"/>
            <a:stretch>
              <a:fillRect/>
            </a:stretch>
          </p:blipFill>
          <p:spPr>
            <a:xfrm>
              <a:off x="424346" y="283649"/>
              <a:ext cx="5015559" cy="3145351"/>
            </a:xfrm>
            <a:prstGeom prst="rect">
              <a:avLst/>
            </a:prstGeom>
          </p:spPr>
        </p:pic>
        <p:sp>
          <p:nvSpPr>
            <p:cNvPr id="6" name="椭圆 5"/>
            <p:cNvSpPr/>
            <p:nvPr/>
          </p:nvSpPr>
          <p:spPr>
            <a:xfrm>
              <a:off x="728421" y="1712562"/>
              <a:ext cx="2123268" cy="4262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724630" y="3744391"/>
            <a:ext cx="2803175" cy="1759154"/>
            <a:chOff x="385774" y="3913322"/>
            <a:chExt cx="3266256" cy="1976598"/>
          </a:xfrm>
        </p:grpSpPr>
        <p:pic>
          <p:nvPicPr>
            <p:cNvPr id="8" name="图片 7"/>
            <p:cNvPicPr>
              <a:picLocks noChangeAspect="1"/>
            </p:cNvPicPr>
            <p:nvPr/>
          </p:nvPicPr>
          <p:blipFill>
            <a:blip r:embed="rId4"/>
            <a:stretch>
              <a:fillRect/>
            </a:stretch>
          </p:blipFill>
          <p:spPr>
            <a:xfrm>
              <a:off x="628488" y="3913322"/>
              <a:ext cx="2780828" cy="1492276"/>
            </a:xfrm>
            <a:prstGeom prst="rect">
              <a:avLst/>
            </a:prstGeom>
          </p:spPr>
        </p:pic>
        <p:sp>
          <p:nvSpPr>
            <p:cNvPr id="9" name="内容占位符 2"/>
            <p:cNvSpPr txBox="1"/>
            <p:nvPr/>
          </p:nvSpPr>
          <p:spPr>
            <a:xfrm>
              <a:off x="385774" y="5541296"/>
              <a:ext cx="3266256" cy="34862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b="1" dirty="0">
                  <a:solidFill>
                    <a:srgbClr val="121212"/>
                  </a:solidFill>
                  <a:latin typeface="-apple-system"/>
                </a:rPr>
                <a:t>通常在</a:t>
              </a:r>
              <a:r>
                <a:rPr lang="en-US" altLang="zh-CN" sz="1200" b="1" dirty="0">
                  <a:solidFill>
                    <a:srgbClr val="121212"/>
                  </a:solidFill>
                  <a:latin typeface="-apple-system"/>
                </a:rPr>
                <a:t>PCE</a:t>
              </a:r>
              <a:r>
                <a:rPr lang="zh-CN" altLang="en-US" sz="1200" b="1" dirty="0">
                  <a:solidFill>
                    <a:srgbClr val="121212"/>
                  </a:solidFill>
                  <a:latin typeface="-apple-system"/>
                </a:rPr>
                <a:t>桥中集成仲裁器</a:t>
              </a:r>
            </a:p>
          </p:txBody>
        </p:sp>
      </p:grpSp>
      <p:pic>
        <p:nvPicPr>
          <p:cNvPr id="11" name="图片 10"/>
          <p:cNvPicPr>
            <a:picLocks noChangeAspect="1"/>
          </p:cNvPicPr>
          <p:nvPr/>
        </p:nvPicPr>
        <p:blipFill>
          <a:blip r:embed="rId5"/>
          <a:stretch>
            <a:fillRect/>
          </a:stretch>
        </p:blipFill>
        <p:spPr>
          <a:xfrm>
            <a:off x="4896862" y="1069987"/>
            <a:ext cx="3083543" cy="1878953"/>
          </a:xfrm>
          <a:prstGeom prst="rect">
            <a:avLst/>
          </a:prstGeom>
        </p:spPr>
      </p:pic>
      <p:pic>
        <p:nvPicPr>
          <p:cNvPr id="13" name="图片 12"/>
          <p:cNvPicPr>
            <a:picLocks noChangeAspect="1"/>
          </p:cNvPicPr>
          <p:nvPr/>
        </p:nvPicPr>
        <p:blipFill>
          <a:blip r:embed="rId6"/>
          <a:stretch>
            <a:fillRect/>
          </a:stretch>
        </p:blipFill>
        <p:spPr>
          <a:xfrm>
            <a:off x="5002744" y="3279724"/>
            <a:ext cx="3442917" cy="214952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44025" y="1136965"/>
            <a:ext cx="2655720" cy="1661551"/>
          </a:xfrm>
          <a:prstGeom prst="rect">
            <a:avLst/>
          </a:prstGeom>
        </p:spPr>
      </p:pic>
      <p:pic>
        <p:nvPicPr>
          <p:cNvPr id="7" name="图片 6"/>
          <p:cNvPicPr>
            <a:picLocks noChangeAspect="1"/>
          </p:cNvPicPr>
          <p:nvPr/>
        </p:nvPicPr>
        <p:blipFill>
          <a:blip r:embed="rId3"/>
          <a:stretch>
            <a:fillRect/>
          </a:stretch>
        </p:blipFill>
        <p:spPr>
          <a:xfrm>
            <a:off x="144025" y="2970752"/>
            <a:ext cx="2515433" cy="1511086"/>
          </a:xfrm>
          <a:prstGeom prst="rect">
            <a:avLst/>
          </a:prstGeom>
        </p:spPr>
      </p:pic>
      <p:pic>
        <p:nvPicPr>
          <p:cNvPr id="9" name="图片 8"/>
          <p:cNvPicPr>
            <a:picLocks noChangeAspect="1"/>
          </p:cNvPicPr>
          <p:nvPr/>
        </p:nvPicPr>
        <p:blipFill>
          <a:blip r:embed="rId4"/>
          <a:stretch>
            <a:fillRect/>
          </a:stretch>
        </p:blipFill>
        <p:spPr>
          <a:xfrm>
            <a:off x="6078787" y="3014822"/>
            <a:ext cx="2921189" cy="1998093"/>
          </a:xfrm>
          <a:prstGeom prst="rect">
            <a:avLst/>
          </a:prstGeom>
        </p:spPr>
      </p:pic>
      <p:pic>
        <p:nvPicPr>
          <p:cNvPr id="10" name="图片 9"/>
          <p:cNvPicPr>
            <a:picLocks noChangeAspect="1"/>
          </p:cNvPicPr>
          <p:nvPr/>
        </p:nvPicPr>
        <p:blipFill>
          <a:blip r:embed="rId5"/>
          <a:stretch>
            <a:fillRect/>
          </a:stretch>
        </p:blipFill>
        <p:spPr>
          <a:xfrm>
            <a:off x="2898307" y="1342803"/>
            <a:ext cx="2308883" cy="1888449"/>
          </a:xfrm>
          <a:prstGeom prst="rect">
            <a:avLst/>
          </a:prstGeom>
        </p:spPr>
      </p:pic>
      <p:sp>
        <p:nvSpPr>
          <p:cNvPr id="11" name="文本框 10"/>
          <p:cNvSpPr txBox="1"/>
          <p:nvPr/>
        </p:nvSpPr>
        <p:spPr>
          <a:xfrm>
            <a:off x="3020596" y="3400184"/>
            <a:ext cx="2605652" cy="600164"/>
          </a:xfrm>
          <a:prstGeom prst="rect">
            <a:avLst/>
          </a:prstGeom>
          <a:noFill/>
        </p:spPr>
        <p:txBody>
          <a:bodyPr wrap="square" rtlCol="0">
            <a:spAutoFit/>
          </a:bodyPr>
          <a:lstStyle/>
          <a:p>
            <a:r>
              <a:rPr lang="en-US" altLang="zh-CN" sz="825" b="1" dirty="0"/>
              <a:t>PCI</a:t>
            </a:r>
            <a:r>
              <a:rPr lang="zh-CN" altLang="en-US" sz="825" b="1" dirty="0"/>
              <a:t>主桥有：</a:t>
            </a:r>
            <a:endParaRPr lang="en-US" altLang="zh-CN" sz="825" b="1" dirty="0"/>
          </a:p>
          <a:p>
            <a:pPr marL="128905" indent="-128905">
              <a:buFont typeface="Arial" panose="020B0604020202020204" pitchFamily="34" charset="0"/>
              <a:buChar char="•"/>
            </a:pPr>
            <a:r>
              <a:rPr lang="en-US" altLang="zh-CN" sz="825" b="1" dirty="0" err="1"/>
              <a:t>OutBound</a:t>
            </a:r>
            <a:r>
              <a:rPr lang="zh-CN" altLang="en-US" sz="825" b="1" dirty="0"/>
              <a:t>寄存器：存储器域地址</a:t>
            </a:r>
            <a:r>
              <a:rPr lang="en-US" altLang="zh-CN" sz="825" b="1" dirty="0">
                <a:sym typeface="Wingdings" panose="05000000000000000000" pitchFamily="2" charset="2"/>
              </a:rPr>
              <a:t>PCI</a:t>
            </a:r>
            <a:r>
              <a:rPr lang="zh-CN" altLang="en-US" sz="825" b="1" dirty="0">
                <a:sym typeface="Wingdings" panose="05000000000000000000" pitchFamily="2" charset="2"/>
              </a:rPr>
              <a:t>域地址</a:t>
            </a:r>
            <a:endParaRPr lang="en-US" altLang="zh-CN" sz="825" b="1" dirty="0">
              <a:sym typeface="Wingdings" panose="05000000000000000000" pitchFamily="2" charset="2"/>
            </a:endParaRPr>
          </a:p>
          <a:p>
            <a:pPr marL="128905" indent="-128905">
              <a:buFont typeface="Arial" panose="020B0604020202020204" pitchFamily="34" charset="0"/>
              <a:buChar char="•"/>
            </a:pPr>
            <a:r>
              <a:rPr lang="en-US" altLang="zh-CN" sz="825" b="1" dirty="0" err="1"/>
              <a:t>IntBound</a:t>
            </a:r>
            <a:r>
              <a:rPr lang="zh-CN" altLang="en-US" sz="825" b="1" dirty="0"/>
              <a:t>寄存器：</a:t>
            </a:r>
            <a:r>
              <a:rPr lang="en-US" altLang="zh-CN" sz="825" b="1" dirty="0">
                <a:sym typeface="Wingdings" panose="05000000000000000000" pitchFamily="2" charset="2"/>
              </a:rPr>
              <a:t> PCI</a:t>
            </a:r>
            <a:r>
              <a:rPr lang="zh-CN" altLang="en-US" sz="825" b="1" dirty="0">
                <a:sym typeface="Wingdings" panose="05000000000000000000" pitchFamily="2" charset="2"/>
              </a:rPr>
              <a:t>域地址</a:t>
            </a:r>
            <a:r>
              <a:rPr lang="en-US" altLang="zh-CN" sz="825" b="1" dirty="0">
                <a:sym typeface="Wingdings" panose="05000000000000000000" pitchFamily="2" charset="2"/>
              </a:rPr>
              <a:t></a:t>
            </a:r>
            <a:r>
              <a:rPr lang="zh-CN" altLang="en-US" sz="825" b="1" dirty="0"/>
              <a:t>存储器域地址</a:t>
            </a:r>
            <a:endParaRPr lang="en-US" altLang="zh-CN" sz="825" b="1" dirty="0">
              <a:sym typeface="Wingdings" panose="05000000000000000000" pitchFamily="2" charset="2"/>
            </a:endParaRPr>
          </a:p>
          <a:p>
            <a:pPr marL="128905" indent="-128905">
              <a:buFont typeface="Arial" panose="020B0604020202020204" pitchFamily="34" charset="0"/>
              <a:buChar char="•"/>
            </a:pPr>
            <a:r>
              <a:rPr lang="en-US" altLang="zh-CN" sz="825" b="1" dirty="0" err="1"/>
              <a:t>Cfg_ADDR</a:t>
            </a:r>
            <a:r>
              <a:rPr lang="zh-CN" altLang="en-US" sz="825" b="1" dirty="0"/>
              <a:t>、</a:t>
            </a:r>
            <a:r>
              <a:rPr lang="en-US" altLang="zh-CN" sz="825" b="1" dirty="0"/>
              <a:t>CFG_DATA</a:t>
            </a:r>
            <a:r>
              <a:rPr lang="zh-CN" altLang="en-US" sz="825" b="1" dirty="0"/>
              <a:t>：配置空间访问</a:t>
            </a:r>
          </a:p>
        </p:txBody>
      </p:sp>
      <p:pic>
        <p:nvPicPr>
          <p:cNvPr id="12" name="图片 11"/>
          <p:cNvPicPr>
            <a:picLocks noChangeAspect="1"/>
          </p:cNvPicPr>
          <p:nvPr/>
        </p:nvPicPr>
        <p:blipFill>
          <a:blip r:embed="rId6"/>
          <a:stretch>
            <a:fillRect/>
          </a:stretch>
        </p:blipFill>
        <p:spPr>
          <a:xfrm>
            <a:off x="5807960" y="910067"/>
            <a:ext cx="3031553" cy="1888449"/>
          </a:xfrm>
          <a:prstGeom prst="rect">
            <a:avLst/>
          </a:prstGeom>
        </p:spPr>
      </p:pic>
      <p:pic>
        <p:nvPicPr>
          <p:cNvPr id="14" name="图片 13"/>
          <p:cNvPicPr>
            <a:picLocks noChangeAspect="1"/>
          </p:cNvPicPr>
          <p:nvPr/>
        </p:nvPicPr>
        <p:blipFill>
          <a:blip r:embed="rId7"/>
          <a:stretch>
            <a:fillRect/>
          </a:stretch>
        </p:blipFill>
        <p:spPr>
          <a:xfrm>
            <a:off x="6183793" y="5229221"/>
            <a:ext cx="2655720" cy="604983"/>
          </a:xfrm>
          <a:prstGeom prst="rect">
            <a:avLst/>
          </a:prstGeom>
        </p:spPr>
      </p:pic>
      <p:pic>
        <p:nvPicPr>
          <p:cNvPr id="2" name="图片 1"/>
          <p:cNvPicPr>
            <a:picLocks noChangeAspect="1"/>
          </p:cNvPicPr>
          <p:nvPr/>
        </p:nvPicPr>
        <p:blipFill>
          <a:blip r:embed="rId8"/>
          <a:stretch>
            <a:fillRect/>
          </a:stretch>
        </p:blipFill>
        <p:spPr>
          <a:xfrm>
            <a:off x="3065214" y="4112066"/>
            <a:ext cx="2824695" cy="180169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0" y="116632"/>
            <a:ext cx="4478290" cy="3429000"/>
          </a:xfrm>
          <a:prstGeom prst="rect">
            <a:avLst/>
          </a:prstGeom>
        </p:spPr>
      </p:pic>
      <p:pic>
        <p:nvPicPr>
          <p:cNvPr id="8" name="图片 7"/>
          <p:cNvPicPr>
            <a:picLocks noChangeAspect="1"/>
          </p:cNvPicPr>
          <p:nvPr/>
        </p:nvPicPr>
        <p:blipFill>
          <a:blip r:embed="rId4"/>
          <a:stretch>
            <a:fillRect/>
          </a:stretch>
        </p:blipFill>
        <p:spPr>
          <a:xfrm>
            <a:off x="4665712" y="-76284"/>
            <a:ext cx="4261853" cy="3814832"/>
          </a:xfrm>
          <a:prstGeom prst="rect">
            <a:avLst/>
          </a:prstGeom>
        </p:spPr>
      </p:pic>
      <p:pic>
        <p:nvPicPr>
          <p:cNvPr id="3" name="图片 2"/>
          <p:cNvPicPr>
            <a:picLocks noChangeAspect="1"/>
          </p:cNvPicPr>
          <p:nvPr/>
        </p:nvPicPr>
        <p:blipFill>
          <a:blip r:embed="rId5"/>
          <a:stretch>
            <a:fillRect/>
          </a:stretch>
        </p:blipFill>
        <p:spPr>
          <a:xfrm>
            <a:off x="82710" y="3573016"/>
            <a:ext cx="4312870" cy="264798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95536" y="476672"/>
            <a:ext cx="3052533" cy="943564"/>
          </a:xfrm>
          <a:prstGeom prst="rect">
            <a:avLst/>
          </a:prstGeom>
        </p:spPr>
      </p:pic>
      <p:pic>
        <p:nvPicPr>
          <p:cNvPr id="7" name="图片 6"/>
          <p:cNvPicPr>
            <a:picLocks noChangeAspect="1"/>
          </p:cNvPicPr>
          <p:nvPr/>
        </p:nvPicPr>
        <p:blipFill>
          <a:blip r:embed="rId3"/>
          <a:stretch>
            <a:fillRect/>
          </a:stretch>
        </p:blipFill>
        <p:spPr>
          <a:xfrm>
            <a:off x="477918" y="1545588"/>
            <a:ext cx="2781555" cy="827526"/>
          </a:xfrm>
          <a:prstGeom prst="rect">
            <a:avLst/>
          </a:prstGeom>
        </p:spPr>
      </p:pic>
      <p:sp>
        <p:nvSpPr>
          <p:cNvPr id="8" name="内容占位符 2"/>
          <p:cNvSpPr txBox="1"/>
          <p:nvPr/>
        </p:nvSpPr>
        <p:spPr>
          <a:xfrm>
            <a:off x="165307" y="2534436"/>
            <a:ext cx="3588056" cy="779066"/>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825" dirty="0">
                <a:solidFill>
                  <a:srgbClr val="FF0000"/>
                </a:solidFill>
                <a:latin typeface="-apple-system"/>
              </a:rPr>
              <a:t>配置访问请求：</a:t>
            </a:r>
            <a:r>
              <a:rPr lang="en-US" altLang="zh-CN" sz="825" dirty="0">
                <a:solidFill>
                  <a:srgbClr val="FF0000"/>
                </a:solidFill>
                <a:latin typeface="-apple-system"/>
              </a:rPr>
              <a:t>【</a:t>
            </a:r>
            <a:r>
              <a:rPr lang="zh-CN" altLang="en-US" sz="825" dirty="0">
                <a:solidFill>
                  <a:srgbClr val="FF0000"/>
                </a:solidFill>
                <a:latin typeface="-apple-system"/>
              </a:rPr>
              <a:t>没有</a:t>
            </a:r>
            <a:r>
              <a:rPr lang="en-US" altLang="zh-CN" sz="825" dirty="0">
                <a:solidFill>
                  <a:srgbClr val="FF0000"/>
                </a:solidFill>
                <a:latin typeface="-apple-system"/>
              </a:rPr>
              <a:t>PCI</a:t>
            </a:r>
            <a:r>
              <a:rPr lang="zh-CN" altLang="en-US" sz="825" dirty="0">
                <a:solidFill>
                  <a:srgbClr val="FF0000"/>
                </a:solidFill>
                <a:latin typeface="-apple-system"/>
              </a:rPr>
              <a:t>域地址，通过</a:t>
            </a:r>
            <a:r>
              <a:rPr lang="en-US" altLang="zh-CN" sz="825" dirty="0">
                <a:solidFill>
                  <a:srgbClr val="FF0000"/>
                </a:solidFill>
                <a:latin typeface="-apple-system"/>
              </a:rPr>
              <a:t>BDF</a:t>
            </a:r>
            <a:r>
              <a:rPr lang="zh-CN" altLang="en-US" sz="825" dirty="0">
                <a:solidFill>
                  <a:srgbClr val="FF0000"/>
                </a:solidFill>
                <a:latin typeface="-apple-system"/>
              </a:rPr>
              <a:t>访问</a:t>
            </a:r>
            <a:r>
              <a:rPr lang="en-US" altLang="zh-CN" sz="825" dirty="0">
                <a:solidFill>
                  <a:srgbClr val="FF0000"/>
                </a:solidFill>
                <a:latin typeface="-apple-system"/>
              </a:rPr>
              <a:t>】PCI</a:t>
            </a:r>
            <a:r>
              <a:rPr lang="zh-CN" altLang="en-US" sz="825" dirty="0">
                <a:solidFill>
                  <a:srgbClr val="FF0000"/>
                </a:solidFill>
                <a:latin typeface="-apple-system"/>
              </a:rPr>
              <a:t>桥通过</a:t>
            </a:r>
            <a:r>
              <a:rPr lang="en-US" altLang="zh-CN" sz="825" dirty="0">
                <a:solidFill>
                  <a:srgbClr val="FF0000"/>
                </a:solidFill>
                <a:latin typeface="-apple-system"/>
              </a:rPr>
              <a:t>Bus</a:t>
            </a:r>
            <a:r>
              <a:rPr lang="zh-CN" altLang="en-US" sz="825" dirty="0">
                <a:solidFill>
                  <a:srgbClr val="FF0000"/>
                </a:solidFill>
                <a:latin typeface="-apple-system"/>
              </a:rPr>
              <a:t>号判断若已到达则转成</a:t>
            </a:r>
            <a:r>
              <a:rPr lang="en-US" altLang="zh-CN" sz="825" dirty="0">
                <a:solidFill>
                  <a:srgbClr val="FF0000"/>
                </a:solidFill>
                <a:latin typeface="-apple-system"/>
              </a:rPr>
              <a:t>Type0</a:t>
            </a:r>
            <a:r>
              <a:rPr lang="zh-CN" altLang="en-US" sz="825" dirty="0">
                <a:solidFill>
                  <a:srgbClr val="FF0000"/>
                </a:solidFill>
                <a:latin typeface="-apple-system"/>
              </a:rPr>
              <a:t>请求</a:t>
            </a:r>
            <a:endParaRPr lang="en-US" altLang="zh-CN" sz="825" dirty="0">
              <a:solidFill>
                <a:srgbClr val="FF0000"/>
              </a:solidFill>
              <a:latin typeface="-apple-system"/>
            </a:endParaRPr>
          </a:p>
          <a:p>
            <a:r>
              <a:rPr lang="en-US" altLang="zh-CN" sz="825" dirty="0">
                <a:solidFill>
                  <a:srgbClr val="FF0000"/>
                </a:solidFill>
                <a:latin typeface="-apple-system"/>
              </a:rPr>
              <a:t>Memory</a:t>
            </a:r>
            <a:r>
              <a:rPr lang="zh-CN" altLang="en-US" sz="825" dirty="0">
                <a:solidFill>
                  <a:srgbClr val="FF0000"/>
                </a:solidFill>
                <a:latin typeface="-apple-system"/>
              </a:rPr>
              <a:t>访问请求：</a:t>
            </a:r>
            <a:r>
              <a:rPr lang="en-US" altLang="zh-CN" sz="825" dirty="0">
                <a:solidFill>
                  <a:srgbClr val="FF0000"/>
                </a:solidFill>
                <a:latin typeface="-apple-system"/>
              </a:rPr>
              <a:t>【</a:t>
            </a:r>
            <a:r>
              <a:rPr lang="zh-CN" altLang="en-US" sz="825" dirty="0">
                <a:solidFill>
                  <a:srgbClr val="FF0000"/>
                </a:solidFill>
                <a:latin typeface="-apple-system"/>
              </a:rPr>
              <a:t>基于</a:t>
            </a:r>
            <a:r>
              <a:rPr lang="en-US" altLang="zh-CN" sz="825" dirty="0">
                <a:solidFill>
                  <a:srgbClr val="FF0000"/>
                </a:solidFill>
                <a:latin typeface="-apple-system"/>
              </a:rPr>
              <a:t>PCI</a:t>
            </a:r>
            <a:r>
              <a:rPr lang="zh-CN" altLang="en-US" sz="825" dirty="0">
                <a:solidFill>
                  <a:srgbClr val="FF0000"/>
                </a:solidFill>
                <a:latin typeface="-apple-system"/>
              </a:rPr>
              <a:t>地址访问</a:t>
            </a:r>
            <a:r>
              <a:rPr lang="en-US" altLang="zh-CN" sz="825" dirty="0">
                <a:solidFill>
                  <a:srgbClr val="FF0000"/>
                </a:solidFill>
                <a:latin typeface="-apple-system"/>
              </a:rPr>
              <a:t>】PCI</a:t>
            </a:r>
            <a:r>
              <a:rPr lang="zh-CN" altLang="en-US" sz="825" dirty="0">
                <a:solidFill>
                  <a:srgbClr val="FF0000"/>
                </a:solidFill>
                <a:latin typeface="-apple-system"/>
              </a:rPr>
              <a:t>桥通过自己管理的地址判断是否到达目标设备</a:t>
            </a:r>
          </a:p>
        </p:txBody>
      </p:sp>
      <p:pic>
        <p:nvPicPr>
          <p:cNvPr id="3" name="图片 2"/>
          <p:cNvPicPr>
            <a:picLocks noChangeAspect="1"/>
          </p:cNvPicPr>
          <p:nvPr/>
        </p:nvPicPr>
        <p:blipFill>
          <a:blip r:embed="rId4"/>
          <a:stretch>
            <a:fillRect/>
          </a:stretch>
        </p:blipFill>
        <p:spPr>
          <a:xfrm>
            <a:off x="4454423" y="226023"/>
            <a:ext cx="4524270" cy="3000844"/>
          </a:xfrm>
          <a:prstGeom prst="rect">
            <a:avLst/>
          </a:prstGeom>
        </p:spPr>
      </p:pic>
      <p:pic>
        <p:nvPicPr>
          <p:cNvPr id="6" name="图片 5"/>
          <p:cNvPicPr>
            <a:picLocks noChangeAspect="1"/>
          </p:cNvPicPr>
          <p:nvPr/>
        </p:nvPicPr>
        <p:blipFill>
          <a:blip r:embed="rId5"/>
          <a:stretch>
            <a:fillRect/>
          </a:stretch>
        </p:blipFill>
        <p:spPr>
          <a:xfrm>
            <a:off x="4394433" y="3933056"/>
            <a:ext cx="4644249" cy="2333852"/>
          </a:xfrm>
          <a:prstGeom prst="rect">
            <a:avLst/>
          </a:prstGeom>
        </p:spPr>
      </p:pic>
      <p:pic>
        <p:nvPicPr>
          <p:cNvPr id="11" name="图片 10"/>
          <p:cNvPicPr>
            <a:picLocks noChangeAspect="1"/>
          </p:cNvPicPr>
          <p:nvPr/>
        </p:nvPicPr>
        <p:blipFill>
          <a:blip r:embed="rId6"/>
          <a:stretch>
            <a:fillRect/>
          </a:stretch>
        </p:blipFill>
        <p:spPr>
          <a:xfrm>
            <a:off x="147933" y="3212976"/>
            <a:ext cx="4156527" cy="320758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572001" y="904952"/>
            <a:ext cx="2285855" cy="1983413"/>
          </a:xfrm>
          <a:prstGeom prst="rect">
            <a:avLst/>
          </a:prstGeom>
        </p:spPr>
      </p:pic>
      <p:sp>
        <p:nvSpPr>
          <p:cNvPr id="6" name="内容占位符 2"/>
          <p:cNvSpPr txBox="1"/>
          <p:nvPr/>
        </p:nvSpPr>
        <p:spPr>
          <a:xfrm>
            <a:off x="3921392" y="2833284"/>
            <a:ext cx="3668903" cy="407545"/>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350" b="1" dirty="0">
                <a:solidFill>
                  <a:srgbClr val="FF0000"/>
                </a:solidFill>
                <a:latin typeface="-apple-system"/>
              </a:rPr>
              <a:t>PowerPC P4080:SOC</a:t>
            </a:r>
            <a:r>
              <a:rPr lang="zh-CN" altLang="en-US" sz="1350" b="1" dirty="0">
                <a:solidFill>
                  <a:srgbClr val="FF0000"/>
                </a:solidFill>
                <a:latin typeface="-apple-system"/>
              </a:rPr>
              <a:t>平台总线升级到</a:t>
            </a:r>
            <a:r>
              <a:rPr lang="en-US" altLang="zh-CN" sz="1350" b="1" dirty="0">
                <a:solidFill>
                  <a:srgbClr val="FF0000"/>
                </a:solidFill>
                <a:latin typeface="-apple-system"/>
              </a:rPr>
              <a:t>CoreNet</a:t>
            </a:r>
            <a:endParaRPr lang="zh-CN" altLang="en-US" sz="1350" b="1" dirty="0">
              <a:solidFill>
                <a:srgbClr val="FF0000"/>
              </a:solidFill>
              <a:latin typeface="-apple-system"/>
            </a:endParaRPr>
          </a:p>
        </p:txBody>
      </p:sp>
      <p:pic>
        <p:nvPicPr>
          <p:cNvPr id="7" name="图片 6"/>
          <p:cNvPicPr>
            <a:picLocks noChangeAspect="1"/>
          </p:cNvPicPr>
          <p:nvPr/>
        </p:nvPicPr>
        <p:blipFill>
          <a:blip r:embed="rId3"/>
          <a:stretch>
            <a:fillRect/>
          </a:stretch>
        </p:blipFill>
        <p:spPr>
          <a:xfrm>
            <a:off x="167404" y="857251"/>
            <a:ext cx="3337151" cy="207881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618184" y="1232116"/>
            <a:ext cx="4401722" cy="4393769"/>
          </a:xfrm>
          <a:prstGeom prst="rect">
            <a:avLst/>
          </a:prstGeom>
        </p:spPr>
      </p:pic>
      <p:sp>
        <p:nvSpPr>
          <p:cNvPr id="6" name="矩形 5"/>
          <p:cNvSpPr/>
          <p:nvPr/>
        </p:nvSpPr>
        <p:spPr>
          <a:xfrm>
            <a:off x="1040323" y="2420641"/>
            <a:ext cx="4103177" cy="772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34512" y="3470652"/>
            <a:ext cx="4103177" cy="7729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a:stretch>
            <a:fillRect/>
          </a:stretch>
        </p:blipFill>
        <p:spPr>
          <a:xfrm>
            <a:off x="6386936" y="884022"/>
            <a:ext cx="2428334" cy="1849410"/>
          </a:xfrm>
          <a:prstGeom prst="rect">
            <a:avLst/>
          </a:prstGeom>
        </p:spPr>
      </p:pic>
      <p:sp>
        <p:nvSpPr>
          <p:cNvPr id="9" name="文本框 8"/>
          <p:cNvSpPr txBox="1"/>
          <p:nvPr/>
        </p:nvSpPr>
        <p:spPr>
          <a:xfrm>
            <a:off x="4740936" y="2939705"/>
            <a:ext cx="557939" cy="276999"/>
          </a:xfrm>
          <a:prstGeom prst="rect">
            <a:avLst/>
          </a:prstGeom>
          <a:noFill/>
        </p:spPr>
        <p:txBody>
          <a:bodyPr wrap="square" rtlCol="0">
            <a:spAutoFit/>
          </a:bodyPr>
          <a:lstStyle/>
          <a:p>
            <a:r>
              <a:rPr lang="en-US" altLang="zh-CN" sz="1200" b="1" dirty="0">
                <a:solidFill>
                  <a:srgbClr val="C00000"/>
                </a:solidFill>
              </a:rPr>
              <a:t>VC 0</a:t>
            </a:r>
            <a:endParaRPr lang="zh-CN" altLang="en-US" sz="1200" b="1" dirty="0">
              <a:solidFill>
                <a:srgbClr val="C00000"/>
              </a:solidFill>
            </a:endParaRPr>
          </a:p>
        </p:txBody>
      </p:sp>
      <p:sp>
        <p:nvSpPr>
          <p:cNvPr id="10" name="文本框 9"/>
          <p:cNvSpPr txBox="1"/>
          <p:nvPr/>
        </p:nvSpPr>
        <p:spPr>
          <a:xfrm>
            <a:off x="4737106" y="4008055"/>
            <a:ext cx="557939" cy="276999"/>
          </a:xfrm>
          <a:prstGeom prst="rect">
            <a:avLst/>
          </a:prstGeom>
          <a:noFill/>
        </p:spPr>
        <p:txBody>
          <a:bodyPr wrap="square" rtlCol="0">
            <a:spAutoFit/>
          </a:bodyPr>
          <a:lstStyle/>
          <a:p>
            <a:r>
              <a:rPr lang="en-US" altLang="zh-CN" sz="1200" b="1" dirty="0">
                <a:solidFill>
                  <a:srgbClr val="C00000"/>
                </a:solidFill>
              </a:rPr>
              <a:t>VC n</a:t>
            </a:r>
            <a:endParaRPr lang="zh-CN" altLang="en-US" sz="1200" b="1" dirty="0">
              <a:solidFill>
                <a:srgbClr val="C00000"/>
              </a:solidFill>
            </a:endParaRPr>
          </a:p>
        </p:txBody>
      </p:sp>
      <p:sp>
        <p:nvSpPr>
          <p:cNvPr id="11" name="文本框 10"/>
          <p:cNvSpPr txBox="1"/>
          <p:nvPr/>
        </p:nvSpPr>
        <p:spPr>
          <a:xfrm>
            <a:off x="4731730" y="4798630"/>
            <a:ext cx="1295174" cy="230832"/>
          </a:xfrm>
          <a:prstGeom prst="rect">
            <a:avLst/>
          </a:prstGeom>
          <a:noFill/>
        </p:spPr>
        <p:txBody>
          <a:bodyPr wrap="square" rtlCol="0">
            <a:spAutoFit/>
          </a:bodyPr>
          <a:lstStyle/>
          <a:p>
            <a:r>
              <a:rPr lang="en-US" altLang="zh-CN" sz="900" b="1" dirty="0">
                <a:solidFill>
                  <a:srgbClr val="C00000"/>
                </a:solidFill>
              </a:rPr>
              <a:t>VC 0</a:t>
            </a:r>
            <a:r>
              <a:rPr lang="zh-CN" altLang="en-US" sz="900" b="1" dirty="0">
                <a:solidFill>
                  <a:srgbClr val="C00000"/>
                </a:solidFill>
              </a:rPr>
              <a:t>的</a:t>
            </a:r>
            <a:r>
              <a:rPr lang="en-US" altLang="zh-CN" sz="900" b="1" dirty="0">
                <a:solidFill>
                  <a:srgbClr val="C00000"/>
                </a:solidFill>
              </a:rPr>
              <a:t>port</a:t>
            </a:r>
            <a:r>
              <a:rPr lang="zh-CN" altLang="en-US" sz="900" b="1" dirty="0">
                <a:solidFill>
                  <a:srgbClr val="C00000"/>
                </a:solidFill>
              </a:rPr>
              <a:t>仲裁配置</a:t>
            </a:r>
          </a:p>
        </p:txBody>
      </p:sp>
      <p:sp>
        <p:nvSpPr>
          <p:cNvPr id="12" name="文本框 11"/>
          <p:cNvSpPr txBox="1"/>
          <p:nvPr/>
        </p:nvSpPr>
        <p:spPr>
          <a:xfrm>
            <a:off x="4737106" y="5188008"/>
            <a:ext cx="1295174" cy="230832"/>
          </a:xfrm>
          <a:prstGeom prst="rect">
            <a:avLst/>
          </a:prstGeom>
          <a:noFill/>
        </p:spPr>
        <p:txBody>
          <a:bodyPr wrap="square" rtlCol="0">
            <a:spAutoFit/>
          </a:bodyPr>
          <a:lstStyle/>
          <a:p>
            <a:r>
              <a:rPr lang="en-US" altLang="zh-CN" sz="900" b="1" dirty="0">
                <a:solidFill>
                  <a:srgbClr val="C00000"/>
                </a:solidFill>
              </a:rPr>
              <a:t>VC n</a:t>
            </a:r>
            <a:r>
              <a:rPr lang="zh-CN" altLang="en-US" sz="900" b="1" dirty="0">
                <a:solidFill>
                  <a:srgbClr val="C00000"/>
                </a:solidFill>
              </a:rPr>
              <a:t>的</a:t>
            </a:r>
            <a:r>
              <a:rPr lang="en-US" altLang="zh-CN" sz="900" b="1" dirty="0">
                <a:solidFill>
                  <a:srgbClr val="C00000"/>
                </a:solidFill>
              </a:rPr>
              <a:t>port</a:t>
            </a:r>
            <a:r>
              <a:rPr lang="zh-CN" altLang="en-US" sz="900" b="1" dirty="0">
                <a:solidFill>
                  <a:srgbClr val="C00000"/>
                </a:solidFill>
              </a:rPr>
              <a:t>仲裁配置</a:t>
            </a:r>
          </a:p>
        </p:txBody>
      </p:sp>
      <p:pic>
        <p:nvPicPr>
          <p:cNvPr id="14" name="图片 13"/>
          <p:cNvPicPr>
            <a:picLocks noChangeAspect="1"/>
          </p:cNvPicPr>
          <p:nvPr/>
        </p:nvPicPr>
        <p:blipFill>
          <a:blip r:embed="rId5"/>
          <a:stretch>
            <a:fillRect/>
          </a:stretch>
        </p:blipFill>
        <p:spPr>
          <a:xfrm>
            <a:off x="6594260" y="3034771"/>
            <a:ext cx="2013686" cy="1644740"/>
          </a:xfrm>
          <a:prstGeom prst="rect">
            <a:avLst/>
          </a:prstGeom>
        </p:spPr>
      </p:pic>
      <p:sp>
        <p:nvSpPr>
          <p:cNvPr id="15" name="箭头: 右 14"/>
          <p:cNvSpPr/>
          <p:nvPr/>
        </p:nvSpPr>
        <p:spPr>
          <a:xfrm rot="20207094">
            <a:off x="4906445" y="4094186"/>
            <a:ext cx="1696618" cy="217284"/>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600966" y="3839279"/>
            <a:ext cx="1961914" cy="213585"/>
          </a:xfrm>
          <a:prstGeom prst="rect">
            <a:avLst/>
          </a:prstGeom>
          <a:noFill/>
        </p:spPr>
        <p:txBody>
          <a:bodyPr wrap="square" rtlCol="0">
            <a:spAutoFit/>
          </a:bodyPr>
          <a:lstStyle/>
          <a:p>
            <a:r>
              <a:rPr lang="en-US" altLang="zh-CN" sz="790" b="1" dirty="0">
                <a:solidFill>
                  <a:srgbClr val="C00000"/>
                </a:solidFill>
              </a:rPr>
              <a:t>TC/VC </a:t>
            </a:r>
            <a:r>
              <a:rPr lang="en-US" altLang="zh-CN" sz="790" b="1" dirty="0" err="1">
                <a:solidFill>
                  <a:srgbClr val="C00000"/>
                </a:solidFill>
              </a:rPr>
              <a:t>Map,VC</a:t>
            </a:r>
            <a:r>
              <a:rPr lang="en-US" altLang="zh-CN" sz="790" b="1" dirty="0">
                <a:solidFill>
                  <a:srgbClr val="C00000"/>
                </a:solidFill>
              </a:rPr>
              <a:t> ID</a:t>
            </a:r>
            <a:r>
              <a:rPr lang="zh-CN" altLang="en-US" sz="790" b="1" dirty="0">
                <a:solidFill>
                  <a:srgbClr val="C00000"/>
                </a:solidFill>
              </a:rPr>
              <a:t>，</a:t>
            </a:r>
            <a:r>
              <a:rPr lang="en-US" altLang="zh-CN" sz="790" b="1" dirty="0">
                <a:solidFill>
                  <a:srgbClr val="C00000"/>
                </a:solidFill>
              </a:rPr>
              <a:t>VC En</a:t>
            </a:r>
            <a:endParaRPr lang="zh-CN" altLang="en-US" sz="790" b="1" dirty="0">
              <a:solidFill>
                <a:srgbClr val="C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23588" y="1057990"/>
            <a:ext cx="4225528" cy="1600508"/>
          </a:xfrm>
          <a:prstGeom prst="rect">
            <a:avLst/>
          </a:prstGeom>
        </p:spPr>
      </p:pic>
      <p:pic>
        <p:nvPicPr>
          <p:cNvPr id="7" name="图片 6"/>
          <p:cNvPicPr>
            <a:picLocks noChangeAspect="1"/>
          </p:cNvPicPr>
          <p:nvPr/>
        </p:nvPicPr>
        <p:blipFill>
          <a:blip r:embed="rId4"/>
          <a:stretch>
            <a:fillRect/>
          </a:stretch>
        </p:blipFill>
        <p:spPr>
          <a:xfrm>
            <a:off x="73581" y="2843616"/>
            <a:ext cx="4326969" cy="1327313"/>
          </a:xfrm>
          <a:prstGeom prst="rect">
            <a:avLst/>
          </a:prstGeom>
        </p:spPr>
      </p:pic>
      <p:pic>
        <p:nvPicPr>
          <p:cNvPr id="9" name="图片 8"/>
          <p:cNvPicPr>
            <a:picLocks noChangeAspect="1"/>
          </p:cNvPicPr>
          <p:nvPr/>
        </p:nvPicPr>
        <p:blipFill>
          <a:blip r:embed="rId5"/>
          <a:stretch>
            <a:fillRect/>
          </a:stretch>
        </p:blipFill>
        <p:spPr>
          <a:xfrm>
            <a:off x="4524138" y="1105496"/>
            <a:ext cx="4088368" cy="1658526"/>
          </a:xfrm>
          <a:prstGeom prst="rect">
            <a:avLst/>
          </a:prstGeom>
        </p:spPr>
      </p:pic>
      <p:pic>
        <p:nvPicPr>
          <p:cNvPr id="11" name="图片 10"/>
          <p:cNvPicPr>
            <a:picLocks noChangeAspect="1"/>
          </p:cNvPicPr>
          <p:nvPr/>
        </p:nvPicPr>
        <p:blipFill>
          <a:blip r:embed="rId6"/>
          <a:stretch>
            <a:fillRect/>
          </a:stretch>
        </p:blipFill>
        <p:spPr>
          <a:xfrm>
            <a:off x="4524137" y="3741428"/>
            <a:ext cx="4395549" cy="1437603"/>
          </a:xfrm>
          <a:prstGeom prst="rect">
            <a:avLst/>
          </a:prstGeom>
        </p:spPr>
      </p:pic>
      <p:sp>
        <p:nvSpPr>
          <p:cNvPr id="13" name="对话气泡: 矩形 12"/>
          <p:cNvSpPr/>
          <p:nvPr/>
        </p:nvSpPr>
        <p:spPr>
          <a:xfrm>
            <a:off x="4743452" y="2941187"/>
            <a:ext cx="2377440" cy="629864"/>
          </a:xfrm>
          <a:prstGeom prst="wedgeRectCallout">
            <a:avLst>
              <a:gd name="adj1" fmla="val -18275"/>
              <a:gd name="adj2" fmla="val 157486"/>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AutoNum type="alphaLcPeriod"/>
            </a:pPr>
            <a:r>
              <a:rPr lang="en-US" altLang="zh-CN" sz="900" dirty="0">
                <a:solidFill>
                  <a:srgbClr val="C00000"/>
                </a:solidFill>
              </a:rPr>
              <a:t>RO,IDO</a:t>
            </a:r>
            <a:r>
              <a:rPr lang="zh-CN" altLang="en-US" sz="900" dirty="0">
                <a:solidFill>
                  <a:srgbClr val="C00000"/>
                </a:solidFill>
              </a:rPr>
              <a:t>都是</a:t>
            </a:r>
            <a:r>
              <a:rPr lang="en-US" altLang="zh-CN" sz="900" dirty="0">
                <a:solidFill>
                  <a:srgbClr val="C00000"/>
                </a:solidFill>
              </a:rPr>
              <a:t>0</a:t>
            </a:r>
            <a:r>
              <a:rPr lang="zh-CN" altLang="en-US" sz="900" dirty="0">
                <a:solidFill>
                  <a:srgbClr val="C00000"/>
                </a:solidFill>
              </a:rPr>
              <a:t>，不能超越，向前兼容</a:t>
            </a:r>
            <a:endParaRPr lang="en-US" altLang="zh-CN" sz="900" dirty="0">
              <a:solidFill>
                <a:srgbClr val="C00000"/>
              </a:solidFill>
            </a:endParaRPr>
          </a:p>
          <a:p>
            <a:pPr marL="171450" indent="-171450">
              <a:buAutoNum type="alphaLcPeriod"/>
            </a:pPr>
            <a:r>
              <a:rPr lang="en-US" altLang="zh-CN" sz="900" dirty="0">
                <a:solidFill>
                  <a:srgbClr val="C00000"/>
                </a:solidFill>
                <a:highlight>
                  <a:srgbClr val="FFFF00"/>
                </a:highlight>
              </a:rPr>
              <a:t>RO,IDO</a:t>
            </a:r>
            <a:r>
              <a:rPr lang="zh-CN" altLang="en-US" sz="900" dirty="0">
                <a:solidFill>
                  <a:srgbClr val="C00000"/>
                </a:solidFill>
                <a:highlight>
                  <a:srgbClr val="FFFF00"/>
                </a:highlight>
              </a:rPr>
              <a:t>有</a:t>
            </a:r>
            <a:r>
              <a:rPr lang="en-US" altLang="zh-CN" sz="900" dirty="0">
                <a:solidFill>
                  <a:srgbClr val="C00000"/>
                </a:solidFill>
                <a:highlight>
                  <a:srgbClr val="FFFF00"/>
                </a:highlight>
              </a:rPr>
              <a:t>1</a:t>
            </a:r>
            <a:r>
              <a:rPr lang="zh-CN" altLang="en-US" sz="900" dirty="0">
                <a:solidFill>
                  <a:srgbClr val="C00000"/>
                </a:solidFill>
                <a:highlight>
                  <a:srgbClr val="FFFF00"/>
                </a:highlight>
              </a:rPr>
              <a:t>，可超越；但是</a:t>
            </a:r>
            <a:r>
              <a:rPr lang="en-US" altLang="zh-CN" sz="900" dirty="0">
                <a:solidFill>
                  <a:srgbClr val="C00000"/>
                </a:solidFill>
                <a:highlight>
                  <a:srgbClr val="FFFF00"/>
                </a:highlight>
              </a:rPr>
              <a:t>Switch</a:t>
            </a:r>
            <a:r>
              <a:rPr lang="zh-CN" altLang="en-US" sz="900" dirty="0">
                <a:solidFill>
                  <a:srgbClr val="C00000"/>
                </a:solidFill>
                <a:highlight>
                  <a:srgbClr val="FFFF00"/>
                </a:highlight>
              </a:rPr>
              <a:t>可配置</a:t>
            </a:r>
            <a:r>
              <a:rPr lang="en-US" altLang="zh-CN" sz="900" dirty="0">
                <a:solidFill>
                  <a:srgbClr val="C00000"/>
                </a:solidFill>
                <a:highlight>
                  <a:srgbClr val="FFFF00"/>
                </a:highlight>
              </a:rPr>
              <a:t>NO </a:t>
            </a:r>
            <a:r>
              <a:rPr lang="en-US" altLang="zh-CN" sz="900" dirty="0" err="1">
                <a:solidFill>
                  <a:srgbClr val="C00000"/>
                </a:solidFill>
                <a:highlight>
                  <a:srgbClr val="FFFF00"/>
                </a:highlight>
              </a:rPr>
              <a:t>RO_en</a:t>
            </a:r>
            <a:r>
              <a:rPr lang="zh-CN" altLang="en-US" sz="900" dirty="0">
                <a:solidFill>
                  <a:srgbClr val="C00000"/>
                </a:solidFill>
                <a:highlight>
                  <a:srgbClr val="FFFF00"/>
                </a:highlight>
              </a:rPr>
              <a:t>关闭该功能；</a:t>
            </a:r>
            <a:r>
              <a:rPr lang="en-US" altLang="zh-CN" sz="900" dirty="0">
                <a:solidFill>
                  <a:srgbClr val="C00000"/>
                </a:solidFill>
                <a:highlight>
                  <a:srgbClr val="FFFF00"/>
                </a:highlight>
              </a:rPr>
              <a:t>IDO=1</a:t>
            </a:r>
            <a:r>
              <a:rPr lang="zh-CN" altLang="en-US" sz="900" dirty="0">
                <a:solidFill>
                  <a:srgbClr val="C00000"/>
                </a:solidFill>
                <a:highlight>
                  <a:srgbClr val="FFFF00"/>
                </a:highlight>
              </a:rPr>
              <a:t>时超越的前提是</a:t>
            </a:r>
            <a:r>
              <a:rPr lang="en-US" altLang="zh-CN" sz="900" dirty="0" err="1">
                <a:solidFill>
                  <a:srgbClr val="C00000"/>
                </a:solidFill>
                <a:highlight>
                  <a:srgbClr val="FFFF00"/>
                </a:highlight>
              </a:rPr>
              <a:t>requestID</a:t>
            </a:r>
            <a:r>
              <a:rPr lang="zh-CN" altLang="en-US" sz="900" dirty="0">
                <a:solidFill>
                  <a:srgbClr val="C00000"/>
                </a:solidFill>
                <a:highlight>
                  <a:srgbClr val="FFFF00"/>
                </a:highlight>
              </a:rPr>
              <a:t>不同</a:t>
            </a:r>
          </a:p>
        </p:txBody>
      </p:sp>
      <p:sp>
        <p:nvSpPr>
          <p:cNvPr id="14" name="对话气泡: 矩形 13"/>
          <p:cNvSpPr/>
          <p:nvPr/>
        </p:nvSpPr>
        <p:spPr>
          <a:xfrm>
            <a:off x="7263766" y="2941187"/>
            <a:ext cx="1531619" cy="629864"/>
          </a:xfrm>
          <a:prstGeom prst="wedgeRectCallout">
            <a:avLst>
              <a:gd name="adj1" fmla="val -3127"/>
              <a:gd name="adj2" fmla="val 146598"/>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AutoNum type="alphaLcPeriod"/>
            </a:pPr>
            <a:r>
              <a:rPr lang="en-US" altLang="zh-CN" sz="900" dirty="0">
                <a:solidFill>
                  <a:srgbClr val="C00000"/>
                </a:solidFill>
                <a:highlight>
                  <a:srgbClr val="FFFF00"/>
                </a:highlight>
              </a:rPr>
              <a:t>PCIE</a:t>
            </a:r>
            <a:r>
              <a:rPr lang="zh-CN" altLang="en-US" sz="900" dirty="0">
                <a:solidFill>
                  <a:srgbClr val="C00000"/>
                </a:solidFill>
                <a:highlight>
                  <a:srgbClr val="FFFF00"/>
                </a:highlight>
              </a:rPr>
              <a:t>中是否超越都不影响死锁</a:t>
            </a:r>
            <a:r>
              <a:rPr lang="en-US" altLang="zh-CN" sz="900" dirty="0">
                <a:solidFill>
                  <a:srgbClr val="C00000"/>
                </a:solidFill>
                <a:highlight>
                  <a:srgbClr val="FFFF00"/>
                </a:highlight>
              </a:rPr>
              <a:t>(</a:t>
            </a:r>
            <a:r>
              <a:rPr lang="zh-CN" altLang="en-US" sz="900" dirty="0">
                <a:solidFill>
                  <a:srgbClr val="C00000"/>
                </a:solidFill>
                <a:highlight>
                  <a:srgbClr val="FFFF00"/>
                </a:highlight>
              </a:rPr>
              <a:t>不同于</a:t>
            </a:r>
            <a:r>
              <a:rPr lang="en-US" altLang="zh-CN" sz="900" dirty="0">
                <a:solidFill>
                  <a:srgbClr val="C00000"/>
                </a:solidFill>
                <a:highlight>
                  <a:srgbClr val="FFFF00"/>
                </a:highlight>
              </a:rPr>
              <a:t>PCI)</a:t>
            </a:r>
          </a:p>
          <a:p>
            <a:pPr marL="171450" indent="-171450">
              <a:buAutoNum type="alphaLcPeriod"/>
            </a:pPr>
            <a:r>
              <a:rPr lang="zh-CN" altLang="en-US" sz="900" dirty="0">
                <a:solidFill>
                  <a:srgbClr val="C00000"/>
                </a:solidFill>
              </a:rPr>
              <a:t>属于向前</a:t>
            </a:r>
            <a:r>
              <a:rPr lang="en-US" altLang="zh-CN" sz="900" dirty="0">
                <a:solidFill>
                  <a:srgbClr val="C00000"/>
                </a:solidFill>
              </a:rPr>
              <a:t>PCI</a:t>
            </a:r>
            <a:r>
              <a:rPr lang="zh-CN" altLang="en-US" sz="900" dirty="0">
                <a:solidFill>
                  <a:srgbClr val="C00000"/>
                </a:solidFill>
              </a:rPr>
              <a:t>兼容</a:t>
            </a:r>
          </a:p>
        </p:txBody>
      </p:sp>
      <p:sp>
        <p:nvSpPr>
          <p:cNvPr id="15" name="对话气泡: 矩形 14"/>
          <p:cNvSpPr/>
          <p:nvPr/>
        </p:nvSpPr>
        <p:spPr>
          <a:xfrm>
            <a:off x="2503171" y="4170929"/>
            <a:ext cx="1514474" cy="369757"/>
          </a:xfrm>
          <a:prstGeom prst="wedgeRectCallout">
            <a:avLst>
              <a:gd name="adj1" fmla="val -18275"/>
              <a:gd name="adj2" fmla="val -16643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AutoNum type="alphaLcPeriod"/>
            </a:pPr>
            <a:r>
              <a:rPr lang="en-US" altLang="zh-CN" sz="900" dirty="0">
                <a:solidFill>
                  <a:srgbClr val="C00000"/>
                </a:solidFill>
              </a:rPr>
              <a:t>Yes/No</a:t>
            </a:r>
            <a:r>
              <a:rPr lang="zh-CN" altLang="en-US" sz="900" dirty="0">
                <a:solidFill>
                  <a:srgbClr val="C00000"/>
                </a:solidFill>
              </a:rPr>
              <a:t>标识没有序的关系（那就正常排队？）</a:t>
            </a:r>
          </a:p>
        </p:txBody>
      </p:sp>
      <p:sp>
        <p:nvSpPr>
          <p:cNvPr id="16" name="对话气泡: 矩形 15"/>
          <p:cNvSpPr/>
          <p:nvPr/>
        </p:nvSpPr>
        <p:spPr>
          <a:xfrm>
            <a:off x="594361" y="4816987"/>
            <a:ext cx="1514474" cy="589403"/>
          </a:xfrm>
          <a:prstGeom prst="wedgeRectCallout">
            <a:avLst>
              <a:gd name="adj1" fmla="val -18275"/>
              <a:gd name="adj2" fmla="val -16643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900" b="1" dirty="0">
                <a:solidFill>
                  <a:srgbClr val="C00000"/>
                </a:solidFill>
              </a:rPr>
              <a:t>Summary</a:t>
            </a:r>
          </a:p>
          <a:p>
            <a:pPr marL="171450" indent="-171450">
              <a:buAutoNum type="alphaLcPeriod"/>
            </a:pPr>
            <a:r>
              <a:rPr lang="en-US" altLang="zh-CN" sz="900" b="1" dirty="0">
                <a:solidFill>
                  <a:srgbClr val="C00000"/>
                </a:solidFill>
              </a:rPr>
              <a:t>SP0</a:t>
            </a:r>
            <a:r>
              <a:rPr lang="zh-CN" altLang="en-US" sz="900" b="1" dirty="0">
                <a:solidFill>
                  <a:srgbClr val="C00000"/>
                </a:solidFill>
              </a:rPr>
              <a:t>：</a:t>
            </a:r>
            <a:r>
              <a:rPr lang="en-US" altLang="zh-CN" sz="900" b="1" dirty="0">
                <a:solidFill>
                  <a:srgbClr val="C00000"/>
                </a:solidFill>
              </a:rPr>
              <a:t>PMW</a:t>
            </a:r>
          </a:p>
          <a:p>
            <a:pPr marL="171450" indent="-171450">
              <a:buAutoNum type="alphaLcPeriod"/>
            </a:pPr>
            <a:r>
              <a:rPr lang="en-US" altLang="zh-CN" sz="900" b="1" dirty="0">
                <a:solidFill>
                  <a:srgbClr val="C00000"/>
                </a:solidFill>
              </a:rPr>
              <a:t>SP1</a:t>
            </a:r>
            <a:r>
              <a:rPr lang="zh-CN" altLang="en-US" sz="900" b="1" dirty="0">
                <a:solidFill>
                  <a:srgbClr val="C00000"/>
                </a:solidFill>
              </a:rPr>
              <a:t>：</a:t>
            </a:r>
            <a:r>
              <a:rPr lang="en-US" altLang="zh-CN" sz="900" b="1" dirty="0">
                <a:solidFill>
                  <a:srgbClr val="C00000"/>
                </a:solidFill>
              </a:rPr>
              <a:t>DRC/DWC</a:t>
            </a:r>
          </a:p>
          <a:p>
            <a:pPr marL="171450" indent="-171450">
              <a:buAutoNum type="alphaLcPeriod"/>
            </a:pPr>
            <a:r>
              <a:rPr lang="en-US" altLang="zh-CN" sz="900" b="1" dirty="0">
                <a:solidFill>
                  <a:srgbClr val="C00000"/>
                </a:solidFill>
              </a:rPr>
              <a:t>SP2</a:t>
            </a:r>
            <a:r>
              <a:rPr lang="zh-CN" altLang="en-US" sz="900" b="1" dirty="0">
                <a:solidFill>
                  <a:srgbClr val="C00000"/>
                </a:solidFill>
              </a:rPr>
              <a:t>：</a:t>
            </a:r>
            <a:r>
              <a:rPr lang="en-US" altLang="zh-CN" sz="900" b="1" dirty="0">
                <a:solidFill>
                  <a:srgbClr val="C00000"/>
                </a:solidFill>
              </a:rPr>
              <a:t>DRR/DWR</a:t>
            </a:r>
            <a:endParaRPr lang="zh-CN" altLang="en-US" sz="900" b="1" dirty="0">
              <a:solidFill>
                <a:srgbClr val="C00000"/>
              </a:solidFill>
            </a:endParaRPr>
          </a:p>
        </p:txBody>
      </p:sp>
      <p:sp>
        <p:nvSpPr>
          <p:cNvPr id="17" name="对话气泡: 矩形 16"/>
          <p:cNvSpPr/>
          <p:nvPr/>
        </p:nvSpPr>
        <p:spPr>
          <a:xfrm>
            <a:off x="7263766" y="5263684"/>
            <a:ext cx="1531619" cy="488820"/>
          </a:xfrm>
          <a:prstGeom prst="wedgeRectCallout">
            <a:avLst>
              <a:gd name="adj1" fmla="val -4246"/>
              <a:gd name="adj2" fmla="val -90218"/>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AutoNum type="alphaLcPeriod"/>
            </a:pPr>
            <a:r>
              <a:rPr lang="zh-CN" altLang="en-US" sz="900" dirty="0">
                <a:solidFill>
                  <a:srgbClr val="C00000"/>
                </a:solidFill>
                <a:highlight>
                  <a:srgbClr val="FFFF00"/>
                </a:highlight>
              </a:rPr>
              <a:t>与之前的</a:t>
            </a:r>
            <a:r>
              <a:rPr lang="en-US" altLang="zh-CN" sz="900" dirty="0">
                <a:solidFill>
                  <a:srgbClr val="C00000"/>
                </a:solidFill>
                <a:highlight>
                  <a:srgbClr val="FFFF00"/>
                </a:highlight>
              </a:rPr>
              <a:t>Trans ID</a:t>
            </a:r>
            <a:r>
              <a:rPr lang="zh-CN" altLang="en-US" sz="900">
                <a:solidFill>
                  <a:srgbClr val="C00000"/>
                </a:solidFill>
                <a:highlight>
                  <a:srgbClr val="FFFF00"/>
                </a:highlight>
              </a:rPr>
              <a:t>不同时可以超越，不同时不能超越。</a:t>
            </a:r>
            <a:endParaRPr lang="zh-CN" altLang="en-US" sz="900" dirty="0">
              <a:solidFill>
                <a:srgbClr val="C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87473" y="1636850"/>
            <a:ext cx="3370473" cy="3258263"/>
          </a:xfrm>
          <a:prstGeom prst="rect">
            <a:avLst/>
          </a:prstGeom>
        </p:spPr>
      </p:pic>
      <p:graphicFrame>
        <p:nvGraphicFramePr>
          <p:cNvPr id="10" name="表格 10"/>
          <p:cNvGraphicFramePr>
            <a:graphicFrameLocks noGrp="1"/>
          </p:cNvGraphicFramePr>
          <p:nvPr/>
        </p:nvGraphicFramePr>
        <p:xfrm>
          <a:off x="3785556" y="994261"/>
          <a:ext cx="5358444" cy="2103781"/>
        </p:xfrm>
        <a:graphic>
          <a:graphicData uri="http://schemas.openxmlformats.org/drawingml/2006/table">
            <a:tbl>
              <a:tblPr firstRow="1" bandRow="1">
                <a:tableStyleId>{5C22544A-7EE6-4342-B048-85BDC9FD1C3A}</a:tableStyleId>
              </a:tblPr>
              <a:tblGrid>
                <a:gridCol w="765492">
                  <a:extLst>
                    <a:ext uri="{9D8B030D-6E8A-4147-A177-3AD203B41FA5}">
                      <a16:colId xmlns:a16="http://schemas.microsoft.com/office/drawing/2014/main" val="20000"/>
                    </a:ext>
                  </a:extLst>
                </a:gridCol>
                <a:gridCol w="765492">
                  <a:extLst>
                    <a:ext uri="{9D8B030D-6E8A-4147-A177-3AD203B41FA5}">
                      <a16:colId xmlns:a16="http://schemas.microsoft.com/office/drawing/2014/main" val="20001"/>
                    </a:ext>
                  </a:extLst>
                </a:gridCol>
                <a:gridCol w="765492">
                  <a:extLst>
                    <a:ext uri="{9D8B030D-6E8A-4147-A177-3AD203B41FA5}">
                      <a16:colId xmlns:a16="http://schemas.microsoft.com/office/drawing/2014/main" val="20002"/>
                    </a:ext>
                  </a:extLst>
                </a:gridCol>
                <a:gridCol w="765492">
                  <a:extLst>
                    <a:ext uri="{9D8B030D-6E8A-4147-A177-3AD203B41FA5}">
                      <a16:colId xmlns:a16="http://schemas.microsoft.com/office/drawing/2014/main" val="20003"/>
                    </a:ext>
                  </a:extLst>
                </a:gridCol>
                <a:gridCol w="765492">
                  <a:extLst>
                    <a:ext uri="{9D8B030D-6E8A-4147-A177-3AD203B41FA5}">
                      <a16:colId xmlns:a16="http://schemas.microsoft.com/office/drawing/2014/main" val="20004"/>
                    </a:ext>
                  </a:extLst>
                </a:gridCol>
                <a:gridCol w="765492">
                  <a:extLst>
                    <a:ext uri="{9D8B030D-6E8A-4147-A177-3AD203B41FA5}">
                      <a16:colId xmlns:a16="http://schemas.microsoft.com/office/drawing/2014/main" val="20005"/>
                    </a:ext>
                  </a:extLst>
                </a:gridCol>
                <a:gridCol w="765492">
                  <a:extLst>
                    <a:ext uri="{9D8B030D-6E8A-4147-A177-3AD203B41FA5}">
                      <a16:colId xmlns:a16="http://schemas.microsoft.com/office/drawing/2014/main" val="20006"/>
                    </a:ext>
                  </a:extLst>
                </a:gridCol>
              </a:tblGrid>
              <a:tr h="231988">
                <a:tc rowSpan="2">
                  <a:txBody>
                    <a:bodyPr/>
                    <a:lstStyle/>
                    <a:p>
                      <a:pPr algn="ctr" fontAlgn="ctr" latinLnBrk="1"/>
                      <a:r>
                        <a:rPr lang="en-US" sz="900" dirty="0">
                          <a:solidFill>
                            <a:srgbClr val="333333"/>
                          </a:solidFill>
                          <a:effectLst/>
                        </a:rPr>
                        <a:t>PCI Express </a:t>
                      </a:r>
                      <a:r>
                        <a:rPr lang="zh-CN" altLang="en-US" sz="900" dirty="0">
                          <a:solidFill>
                            <a:srgbClr val="333333"/>
                          </a:solidFill>
                          <a:effectLst/>
                        </a:rPr>
                        <a:t>版本</a:t>
                      </a:r>
                    </a:p>
                  </a:txBody>
                  <a:tcPr marL="57150" marR="57150" marT="11430" marB="11430" anchor="ctr"/>
                </a:tc>
                <a:tc rowSpan="2">
                  <a:txBody>
                    <a:bodyPr/>
                    <a:lstStyle/>
                    <a:p>
                      <a:pPr algn="ctr" fontAlgn="ctr" latinLnBrk="1"/>
                      <a:r>
                        <a:rPr lang="zh-CN" altLang="en-US" sz="900">
                          <a:solidFill>
                            <a:srgbClr val="333333"/>
                          </a:solidFill>
                          <a:effectLst/>
                        </a:rPr>
                        <a:t>行代码</a:t>
                      </a:r>
                    </a:p>
                  </a:txBody>
                  <a:tcPr marL="57150" marR="57150" marT="11430" marB="11430" anchor="ctr"/>
                </a:tc>
                <a:tc rowSpan="2">
                  <a:txBody>
                    <a:bodyPr/>
                    <a:lstStyle/>
                    <a:p>
                      <a:pPr algn="ctr" fontAlgn="ctr" latinLnBrk="1"/>
                      <a:r>
                        <a:rPr lang="zh-CN" altLang="en-US" sz="900">
                          <a:solidFill>
                            <a:srgbClr val="333333"/>
                          </a:solidFill>
                          <a:effectLst/>
                        </a:rPr>
                        <a:t>传输速率</a:t>
                      </a:r>
                    </a:p>
                  </a:txBody>
                  <a:tcPr marL="57150" marR="57150" marT="11430" marB="11430" anchor="ctr"/>
                </a:tc>
                <a:tc gridSpan="4">
                  <a:txBody>
                    <a:bodyPr/>
                    <a:lstStyle/>
                    <a:p>
                      <a:pPr algn="ctr" fontAlgn="ctr" latinLnBrk="1"/>
                      <a:r>
                        <a:rPr lang="zh-CN" altLang="en-US" sz="900">
                          <a:solidFill>
                            <a:srgbClr val="333333"/>
                          </a:solidFill>
                          <a:effectLst/>
                        </a:rPr>
                        <a:t>吞吐量</a:t>
                      </a:r>
                    </a:p>
                  </a:txBody>
                  <a:tcPr marL="57150" marR="57150" marT="11430" marB="11430" anchor="ct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31988">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latinLnBrk="1"/>
                      <a:r>
                        <a:rPr lang="en-US" altLang="zh-CN" sz="900">
                          <a:solidFill>
                            <a:srgbClr val="333333"/>
                          </a:solidFill>
                          <a:effectLst/>
                        </a:rPr>
                        <a:t>×1</a:t>
                      </a:r>
                    </a:p>
                  </a:txBody>
                  <a:tcPr marL="57150" marR="57150" marT="11430" marB="11430" anchor="ctr"/>
                </a:tc>
                <a:tc>
                  <a:txBody>
                    <a:bodyPr/>
                    <a:lstStyle/>
                    <a:p>
                      <a:pPr algn="ctr" fontAlgn="ctr" latinLnBrk="1"/>
                      <a:r>
                        <a:rPr lang="en-US" altLang="zh-CN" sz="900">
                          <a:solidFill>
                            <a:srgbClr val="333333"/>
                          </a:solidFill>
                          <a:effectLst/>
                        </a:rPr>
                        <a:t>×4</a:t>
                      </a:r>
                    </a:p>
                  </a:txBody>
                  <a:tcPr marL="57150" marR="57150" marT="11430" marB="11430" anchor="ctr"/>
                </a:tc>
                <a:tc>
                  <a:txBody>
                    <a:bodyPr/>
                    <a:lstStyle/>
                    <a:p>
                      <a:pPr algn="ctr" fontAlgn="ctr" latinLnBrk="1"/>
                      <a:r>
                        <a:rPr lang="en-US" altLang="zh-CN" sz="900" dirty="0">
                          <a:solidFill>
                            <a:srgbClr val="333333"/>
                          </a:solidFill>
                          <a:effectLst/>
                        </a:rPr>
                        <a:t>×8</a:t>
                      </a:r>
                    </a:p>
                  </a:txBody>
                  <a:tcPr marL="57150" marR="57150" marT="11430" marB="11430" anchor="ctr"/>
                </a:tc>
                <a:tc>
                  <a:txBody>
                    <a:bodyPr/>
                    <a:lstStyle/>
                    <a:p>
                      <a:pPr algn="ctr" fontAlgn="ctr" latinLnBrk="1"/>
                      <a:r>
                        <a:rPr lang="en-US" altLang="zh-CN" sz="900">
                          <a:solidFill>
                            <a:srgbClr val="333333"/>
                          </a:solidFill>
                          <a:effectLst/>
                        </a:rPr>
                        <a:t>×16</a:t>
                      </a:r>
                    </a:p>
                  </a:txBody>
                  <a:tcPr marL="57150" marR="57150" marT="11430" marB="11430" anchor="ctr"/>
                </a:tc>
                <a:extLst>
                  <a:ext uri="{0D108BD9-81ED-4DB2-BD59-A6C34878D82A}">
                    <a16:rowId xmlns:a16="http://schemas.microsoft.com/office/drawing/2014/main" val="10001"/>
                  </a:ext>
                </a:extLst>
              </a:tr>
              <a:tr h="231988">
                <a:tc>
                  <a:txBody>
                    <a:bodyPr/>
                    <a:lstStyle/>
                    <a:p>
                      <a:pPr algn="ctr" fontAlgn="ctr" latinLnBrk="1"/>
                      <a:r>
                        <a:rPr lang="en-US" altLang="zh-CN" sz="900">
                          <a:solidFill>
                            <a:srgbClr val="333333"/>
                          </a:solidFill>
                          <a:effectLst/>
                        </a:rPr>
                        <a:t>1.0</a:t>
                      </a:r>
                    </a:p>
                  </a:txBody>
                  <a:tcPr marL="57150" marR="57150" marT="11430" marB="11430" anchor="ctr"/>
                </a:tc>
                <a:tc>
                  <a:txBody>
                    <a:bodyPr/>
                    <a:lstStyle/>
                    <a:p>
                      <a:pPr algn="ctr" fontAlgn="ctr" latinLnBrk="1"/>
                      <a:r>
                        <a:rPr lang="en-US" sz="900">
                          <a:solidFill>
                            <a:srgbClr val="333333"/>
                          </a:solidFill>
                          <a:effectLst/>
                        </a:rPr>
                        <a:t>8b/10b</a:t>
                      </a:r>
                    </a:p>
                  </a:txBody>
                  <a:tcPr marL="57150" marR="57150" marT="11430" marB="11430" anchor="ctr"/>
                </a:tc>
                <a:tc>
                  <a:txBody>
                    <a:bodyPr/>
                    <a:lstStyle/>
                    <a:p>
                      <a:pPr algn="ctr" fontAlgn="ctr" latinLnBrk="1"/>
                      <a:r>
                        <a:rPr lang="en-US" sz="900">
                          <a:solidFill>
                            <a:srgbClr val="333333"/>
                          </a:solidFill>
                          <a:effectLst/>
                        </a:rPr>
                        <a:t>2.5</a:t>
                      </a:r>
                      <a:r>
                        <a:rPr lang="en-US" sz="900" u="none" strike="noStrike">
                          <a:solidFill>
                            <a:srgbClr val="136EC2"/>
                          </a:solidFill>
                          <a:effectLst/>
                          <a:hlinkClick r:id="rId3"/>
                        </a:rPr>
                        <a:t>GT</a:t>
                      </a:r>
                      <a:r>
                        <a:rPr lang="en-US" sz="900">
                          <a:solidFill>
                            <a:srgbClr val="333333"/>
                          </a:solidFill>
                          <a:effectLst/>
                        </a:rPr>
                        <a:t>/s</a:t>
                      </a:r>
                    </a:p>
                  </a:txBody>
                  <a:tcPr marL="57150" marR="57150" marT="11430" marB="11430" anchor="ctr"/>
                </a:tc>
                <a:tc>
                  <a:txBody>
                    <a:bodyPr/>
                    <a:lstStyle/>
                    <a:p>
                      <a:pPr algn="ctr" fontAlgn="ctr" latinLnBrk="1"/>
                      <a:r>
                        <a:rPr lang="en-US" sz="900">
                          <a:solidFill>
                            <a:srgbClr val="333333"/>
                          </a:solidFill>
                          <a:effectLst/>
                        </a:rPr>
                        <a:t>250</a:t>
                      </a:r>
                      <a:r>
                        <a:rPr lang="en-US" sz="900" u="none" strike="noStrike">
                          <a:solidFill>
                            <a:srgbClr val="136EC2"/>
                          </a:solidFill>
                          <a:effectLst/>
                          <a:hlinkClick r:id="rId4"/>
                        </a:rPr>
                        <a:t>MB</a:t>
                      </a:r>
                      <a:r>
                        <a:rPr lang="en-US" sz="900">
                          <a:solidFill>
                            <a:srgbClr val="333333"/>
                          </a:solidFill>
                          <a:effectLst/>
                        </a:rPr>
                        <a:t>/s</a:t>
                      </a:r>
                    </a:p>
                  </a:txBody>
                  <a:tcPr marL="57150" marR="57150" marT="11430" marB="11430" anchor="ctr"/>
                </a:tc>
                <a:tc>
                  <a:txBody>
                    <a:bodyPr/>
                    <a:lstStyle/>
                    <a:p>
                      <a:pPr algn="ctr" fontAlgn="ctr" latinLnBrk="1"/>
                      <a:r>
                        <a:rPr lang="en-US" sz="900">
                          <a:solidFill>
                            <a:srgbClr val="333333"/>
                          </a:solidFill>
                          <a:effectLst/>
                        </a:rPr>
                        <a:t>1</a:t>
                      </a:r>
                      <a:r>
                        <a:rPr lang="en-US" sz="900" u="none" strike="noStrike">
                          <a:solidFill>
                            <a:srgbClr val="136EC2"/>
                          </a:solidFill>
                          <a:effectLst/>
                          <a:hlinkClick r:id="rId5"/>
                        </a:rPr>
                        <a:t>GB</a:t>
                      </a:r>
                      <a:r>
                        <a:rPr lang="en-US" sz="900">
                          <a:solidFill>
                            <a:srgbClr val="333333"/>
                          </a:solidFill>
                          <a:effectLst/>
                        </a:rPr>
                        <a:t>/s</a:t>
                      </a:r>
                    </a:p>
                  </a:txBody>
                  <a:tcPr marL="57150" marR="57150" marT="11430" marB="11430" anchor="ctr"/>
                </a:tc>
                <a:tc>
                  <a:txBody>
                    <a:bodyPr/>
                    <a:lstStyle/>
                    <a:p>
                      <a:pPr algn="ctr" fontAlgn="ctr" latinLnBrk="1"/>
                      <a:r>
                        <a:rPr lang="en-US" sz="900">
                          <a:solidFill>
                            <a:srgbClr val="333333"/>
                          </a:solidFill>
                          <a:effectLst/>
                        </a:rPr>
                        <a:t>2GB/s</a:t>
                      </a:r>
                    </a:p>
                  </a:txBody>
                  <a:tcPr marL="57150" marR="57150" marT="11430" marB="11430" anchor="ctr"/>
                </a:tc>
                <a:tc>
                  <a:txBody>
                    <a:bodyPr/>
                    <a:lstStyle/>
                    <a:p>
                      <a:pPr algn="ctr" fontAlgn="ctr" latinLnBrk="1"/>
                      <a:r>
                        <a:rPr lang="en-US" sz="900">
                          <a:solidFill>
                            <a:srgbClr val="333333"/>
                          </a:solidFill>
                          <a:effectLst/>
                        </a:rPr>
                        <a:t>4GB/s</a:t>
                      </a:r>
                    </a:p>
                  </a:txBody>
                  <a:tcPr marL="57150" marR="57150" marT="11430" marB="11430" anchor="ctr"/>
                </a:tc>
                <a:extLst>
                  <a:ext uri="{0D108BD9-81ED-4DB2-BD59-A6C34878D82A}">
                    <a16:rowId xmlns:a16="http://schemas.microsoft.com/office/drawing/2014/main" val="10002"/>
                  </a:ext>
                </a:extLst>
              </a:tr>
              <a:tr h="231988">
                <a:tc>
                  <a:txBody>
                    <a:bodyPr/>
                    <a:lstStyle/>
                    <a:p>
                      <a:pPr algn="ctr" fontAlgn="ctr" latinLnBrk="1"/>
                      <a:r>
                        <a:rPr lang="en-US" altLang="zh-CN" sz="900">
                          <a:solidFill>
                            <a:srgbClr val="333333"/>
                          </a:solidFill>
                          <a:effectLst/>
                        </a:rPr>
                        <a:t>2.0</a:t>
                      </a:r>
                    </a:p>
                  </a:txBody>
                  <a:tcPr marL="57150" marR="57150" marT="11430" marB="11430" anchor="ctr"/>
                </a:tc>
                <a:tc>
                  <a:txBody>
                    <a:bodyPr/>
                    <a:lstStyle/>
                    <a:p>
                      <a:pPr algn="ctr" fontAlgn="ctr" latinLnBrk="1"/>
                      <a:r>
                        <a:rPr lang="en-US" sz="900">
                          <a:solidFill>
                            <a:srgbClr val="333333"/>
                          </a:solidFill>
                          <a:effectLst/>
                        </a:rPr>
                        <a:t>8b/10b</a:t>
                      </a:r>
                    </a:p>
                  </a:txBody>
                  <a:tcPr marL="57150" marR="57150" marT="11430" marB="11430" anchor="ctr"/>
                </a:tc>
                <a:tc>
                  <a:txBody>
                    <a:bodyPr/>
                    <a:lstStyle/>
                    <a:p>
                      <a:pPr algn="ctr" fontAlgn="ctr" latinLnBrk="1"/>
                      <a:r>
                        <a:rPr lang="en-US" sz="900">
                          <a:solidFill>
                            <a:srgbClr val="333333"/>
                          </a:solidFill>
                          <a:effectLst/>
                        </a:rPr>
                        <a:t>5GT/s</a:t>
                      </a:r>
                    </a:p>
                  </a:txBody>
                  <a:tcPr marL="57150" marR="57150" marT="11430" marB="11430" anchor="ctr"/>
                </a:tc>
                <a:tc>
                  <a:txBody>
                    <a:bodyPr/>
                    <a:lstStyle/>
                    <a:p>
                      <a:pPr algn="ctr" fontAlgn="ctr" latinLnBrk="1"/>
                      <a:r>
                        <a:rPr lang="en-US" sz="900">
                          <a:solidFill>
                            <a:srgbClr val="333333"/>
                          </a:solidFill>
                          <a:effectLst/>
                        </a:rPr>
                        <a:t>500MB/s</a:t>
                      </a:r>
                    </a:p>
                  </a:txBody>
                  <a:tcPr marL="57150" marR="57150" marT="11430" marB="11430" anchor="ctr"/>
                </a:tc>
                <a:tc>
                  <a:txBody>
                    <a:bodyPr/>
                    <a:lstStyle/>
                    <a:p>
                      <a:pPr algn="ctr" fontAlgn="ctr" latinLnBrk="1"/>
                      <a:r>
                        <a:rPr lang="en-US" sz="900">
                          <a:solidFill>
                            <a:srgbClr val="333333"/>
                          </a:solidFill>
                          <a:effectLst/>
                        </a:rPr>
                        <a:t>2GB/s</a:t>
                      </a:r>
                    </a:p>
                  </a:txBody>
                  <a:tcPr marL="57150" marR="57150" marT="11430" marB="11430" anchor="ctr"/>
                </a:tc>
                <a:tc>
                  <a:txBody>
                    <a:bodyPr/>
                    <a:lstStyle/>
                    <a:p>
                      <a:pPr algn="ctr" fontAlgn="ctr" latinLnBrk="1"/>
                      <a:r>
                        <a:rPr lang="en-US" sz="900">
                          <a:solidFill>
                            <a:srgbClr val="333333"/>
                          </a:solidFill>
                          <a:effectLst/>
                        </a:rPr>
                        <a:t>4GB/s</a:t>
                      </a:r>
                    </a:p>
                  </a:txBody>
                  <a:tcPr marL="57150" marR="57150" marT="11430" marB="11430" anchor="ctr"/>
                </a:tc>
                <a:tc>
                  <a:txBody>
                    <a:bodyPr/>
                    <a:lstStyle/>
                    <a:p>
                      <a:pPr algn="ctr" fontAlgn="ctr" latinLnBrk="1"/>
                      <a:r>
                        <a:rPr lang="en-US" sz="900">
                          <a:solidFill>
                            <a:srgbClr val="333333"/>
                          </a:solidFill>
                          <a:effectLst/>
                        </a:rPr>
                        <a:t>8GB/s</a:t>
                      </a:r>
                    </a:p>
                  </a:txBody>
                  <a:tcPr marL="57150" marR="57150" marT="11430" marB="11430" anchor="ctr"/>
                </a:tc>
                <a:extLst>
                  <a:ext uri="{0D108BD9-81ED-4DB2-BD59-A6C34878D82A}">
                    <a16:rowId xmlns:a16="http://schemas.microsoft.com/office/drawing/2014/main" val="10003"/>
                  </a:ext>
                </a:extLst>
              </a:tr>
              <a:tr h="231988">
                <a:tc>
                  <a:txBody>
                    <a:bodyPr/>
                    <a:lstStyle/>
                    <a:p>
                      <a:pPr algn="ctr" fontAlgn="ctr" latinLnBrk="1"/>
                      <a:r>
                        <a:rPr lang="en-US" altLang="zh-CN" sz="900">
                          <a:solidFill>
                            <a:srgbClr val="333333"/>
                          </a:solidFill>
                          <a:effectLst/>
                        </a:rPr>
                        <a:t>3.0</a:t>
                      </a:r>
                    </a:p>
                  </a:txBody>
                  <a:tcPr marL="57150" marR="57150" marT="11430" marB="11430" anchor="ctr"/>
                </a:tc>
                <a:tc>
                  <a:txBody>
                    <a:bodyPr/>
                    <a:lstStyle/>
                    <a:p>
                      <a:pPr algn="ctr" fontAlgn="ctr" latinLnBrk="1"/>
                      <a:r>
                        <a:rPr lang="en-US" sz="900">
                          <a:solidFill>
                            <a:srgbClr val="333333"/>
                          </a:solidFill>
                          <a:effectLst/>
                        </a:rPr>
                        <a:t>128b/130b</a:t>
                      </a:r>
                    </a:p>
                  </a:txBody>
                  <a:tcPr marL="57150" marR="57150" marT="11430" marB="11430" anchor="ctr"/>
                </a:tc>
                <a:tc>
                  <a:txBody>
                    <a:bodyPr/>
                    <a:lstStyle/>
                    <a:p>
                      <a:pPr algn="ctr" fontAlgn="ctr" latinLnBrk="1"/>
                      <a:r>
                        <a:rPr lang="en-US" sz="900">
                          <a:solidFill>
                            <a:srgbClr val="333333"/>
                          </a:solidFill>
                          <a:effectLst/>
                        </a:rPr>
                        <a:t>8GT/s</a:t>
                      </a:r>
                    </a:p>
                  </a:txBody>
                  <a:tcPr marL="57150" marR="57150" marT="11430" marB="11430" anchor="ctr"/>
                </a:tc>
                <a:tc>
                  <a:txBody>
                    <a:bodyPr/>
                    <a:lstStyle/>
                    <a:p>
                      <a:pPr algn="ctr" fontAlgn="ctr" latinLnBrk="1"/>
                      <a:r>
                        <a:rPr lang="en-US" sz="900">
                          <a:solidFill>
                            <a:srgbClr val="333333"/>
                          </a:solidFill>
                          <a:effectLst/>
                        </a:rPr>
                        <a:t>984.6MB/s</a:t>
                      </a:r>
                    </a:p>
                  </a:txBody>
                  <a:tcPr marL="57150" marR="57150" marT="11430" marB="11430" anchor="ctr"/>
                </a:tc>
                <a:tc>
                  <a:txBody>
                    <a:bodyPr/>
                    <a:lstStyle/>
                    <a:p>
                      <a:pPr algn="ctr" fontAlgn="ctr" latinLnBrk="1"/>
                      <a:r>
                        <a:rPr lang="en-US" sz="900">
                          <a:solidFill>
                            <a:srgbClr val="333333"/>
                          </a:solidFill>
                          <a:effectLst/>
                        </a:rPr>
                        <a:t>3.938GB/s</a:t>
                      </a:r>
                    </a:p>
                  </a:txBody>
                  <a:tcPr marL="57150" marR="57150" marT="11430" marB="11430" anchor="ctr"/>
                </a:tc>
                <a:tc>
                  <a:txBody>
                    <a:bodyPr/>
                    <a:lstStyle/>
                    <a:p>
                      <a:pPr algn="ctr" fontAlgn="ctr" latinLnBrk="1"/>
                      <a:r>
                        <a:rPr lang="en-US" sz="900">
                          <a:solidFill>
                            <a:srgbClr val="333333"/>
                          </a:solidFill>
                          <a:effectLst/>
                        </a:rPr>
                        <a:t>7.877GB/s</a:t>
                      </a:r>
                    </a:p>
                  </a:txBody>
                  <a:tcPr marL="57150" marR="57150" marT="11430" marB="11430" anchor="ctr"/>
                </a:tc>
                <a:tc>
                  <a:txBody>
                    <a:bodyPr/>
                    <a:lstStyle/>
                    <a:p>
                      <a:pPr algn="ctr" fontAlgn="ctr" latinLnBrk="1"/>
                      <a:r>
                        <a:rPr lang="en-US" sz="900">
                          <a:solidFill>
                            <a:srgbClr val="333333"/>
                          </a:solidFill>
                          <a:effectLst/>
                        </a:rPr>
                        <a:t>15.754GB/s</a:t>
                      </a:r>
                    </a:p>
                  </a:txBody>
                  <a:tcPr marL="57150" marR="57150" marT="11430" marB="11430" anchor="ctr"/>
                </a:tc>
                <a:extLst>
                  <a:ext uri="{0D108BD9-81ED-4DB2-BD59-A6C34878D82A}">
                    <a16:rowId xmlns:a16="http://schemas.microsoft.com/office/drawing/2014/main" val="10004"/>
                  </a:ext>
                </a:extLst>
              </a:tr>
              <a:tr h="231988">
                <a:tc>
                  <a:txBody>
                    <a:bodyPr/>
                    <a:lstStyle/>
                    <a:p>
                      <a:pPr algn="ctr" fontAlgn="ctr" latinLnBrk="1"/>
                      <a:r>
                        <a:rPr lang="en-US" altLang="zh-CN" sz="900">
                          <a:solidFill>
                            <a:srgbClr val="333333"/>
                          </a:solidFill>
                          <a:effectLst/>
                        </a:rPr>
                        <a:t>4.0</a:t>
                      </a:r>
                    </a:p>
                  </a:txBody>
                  <a:tcPr marL="57150" marR="57150" marT="11430" marB="11430" anchor="ctr"/>
                </a:tc>
                <a:tc>
                  <a:txBody>
                    <a:bodyPr/>
                    <a:lstStyle/>
                    <a:p>
                      <a:pPr algn="ctr" fontAlgn="ctr" latinLnBrk="1"/>
                      <a:r>
                        <a:rPr lang="en-US" sz="900">
                          <a:solidFill>
                            <a:srgbClr val="333333"/>
                          </a:solidFill>
                          <a:effectLst/>
                        </a:rPr>
                        <a:t>128b/130b</a:t>
                      </a:r>
                    </a:p>
                  </a:txBody>
                  <a:tcPr marL="57150" marR="57150" marT="11430" marB="11430" anchor="ctr"/>
                </a:tc>
                <a:tc>
                  <a:txBody>
                    <a:bodyPr/>
                    <a:lstStyle/>
                    <a:p>
                      <a:pPr algn="ctr" fontAlgn="ctr" latinLnBrk="1"/>
                      <a:r>
                        <a:rPr lang="en-US" sz="900">
                          <a:solidFill>
                            <a:srgbClr val="333333"/>
                          </a:solidFill>
                          <a:effectLst/>
                        </a:rPr>
                        <a:t>16GT/s</a:t>
                      </a:r>
                    </a:p>
                  </a:txBody>
                  <a:tcPr marL="57150" marR="57150" marT="11430" marB="11430" anchor="ctr"/>
                </a:tc>
                <a:tc>
                  <a:txBody>
                    <a:bodyPr/>
                    <a:lstStyle/>
                    <a:p>
                      <a:pPr algn="ctr" fontAlgn="ctr" latinLnBrk="1"/>
                      <a:r>
                        <a:rPr lang="en-US" sz="900">
                          <a:solidFill>
                            <a:srgbClr val="333333"/>
                          </a:solidFill>
                          <a:effectLst/>
                        </a:rPr>
                        <a:t>1.969GB/s</a:t>
                      </a:r>
                    </a:p>
                  </a:txBody>
                  <a:tcPr marL="57150" marR="57150" marT="11430" marB="11430" anchor="ctr"/>
                </a:tc>
                <a:tc>
                  <a:txBody>
                    <a:bodyPr/>
                    <a:lstStyle/>
                    <a:p>
                      <a:pPr algn="ctr" fontAlgn="ctr" latinLnBrk="1"/>
                      <a:r>
                        <a:rPr lang="en-US" sz="900">
                          <a:solidFill>
                            <a:srgbClr val="333333"/>
                          </a:solidFill>
                          <a:effectLst/>
                        </a:rPr>
                        <a:t>7.877GB/s</a:t>
                      </a:r>
                    </a:p>
                  </a:txBody>
                  <a:tcPr marL="57150" marR="57150" marT="11430" marB="11430" anchor="ctr"/>
                </a:tc>
                <a:tc>
                  <a:txBody>
                    <a:bodyPr/>
                    <a:lstStyle/>
                    <a:p>
                      <a:pPr algn="ctr" fontAlgn="ctr" latinLnBrk="1"/>
                      <a:r>
                        <a:rPr lang="en-US" sz="900">
                          <a:solidFill>
                            <a:srgbClr val="333333"/>
                          </a:solidFill>
                          <a:effectLst/>
                        </a:rPr>
                        <a:t>15.754GB/s</a:t>
                      </a:r>
                    </a:p>
                  </a:txBody>
                  <a:tcPr marL="57150" marR="57150" marT="11430" marB="11430" anchor="ctr"/>
                </a:tc>
                <a:tc>
                  <a:txBody>
                    <a:bodyPr/>
                    <a:lstStyle/>
                    <a:p>
                      <a:pPr algn="ctr" fontAlgn="ctr" latinLnBrk="1"/>
                      <a:r>
                        <a:rPr lang="en-US" sz="900" dirty="0">
                          <a:solidFill>
                            <a:srgbClr val="333333"/>
                          </a:solidFill>
                          <a:effectLst/>
                        </a:rPr>
                        <a:t>31.508GB/s</a:t>
                      </a:r>
                    </a:p>
                  </a:txBody>
                  <a:tcPr marL="57150" marR="57150" marT="11430" marB="11430" anchor="ctr"/>
                </a:tc>
                <a:extLst>
                  <a:ext uri="{0D108BD9-81ED-4DB2-BD59-A6C34878D82A}">
                    <a16:rowId xmlns:a16="http://schemas.microsoft.com/office/drawing/2014/main" val="10005"/>
                  </a:ext>
                </a:extLst>
              </a:tr>
              <a:tr h="247877">
                <a:tc>
                  <a:txBody>
                    <a:bodyPr/>
                    <a:lstStyle/>
                    <a:p>
                      <a:pPr algn="ctr" fontAlgn="ctr" latinLnBrk="1"/>
                      <a:r>
                        <a:rPr lang="en-US" altLang="zh-CN" sz="900" dirty="0">
                          <a:solidFill>
                            <a:srgbClr val="333333"/>
                          </a:solidFill>
                          <a:effectLst/>
                        </a:rPr>
                        <a:t>5.0</a:t>
                      </a:r>
                    </a:p>
                  </a:txBody>
                  <a:tcPr marL="57150" marR="57150" marT="11430" marB="11430" anchor="ctr"/>
                </a:tc>
                <a:tc>
                  <a:txBody>
                    <a:bodyPr/>
                    <a:lstStyle/>
                    <a:p>
                      <a:pPr algn="ctr" fontAlgn="ctr" latinLnBrk="1"/>
                      <a:r>
                        <a:rPr lang="en-US" sz="900" dirty="0">
                          <a:solidFill>
                            <a:srgbClr val="333333"/>
                          </a:solidFill>
                          <a:effectLst/>
                        </a:rPr>
                        <a:t>128b/130b</a:t>
                      </a:r>
                    </a:p>
                  </a:txBody>
                  <a:tcPr marL="57150" marR="57150" marT="11430" marB="11430" anchor="ctr"/>
                </a:tc>
                <a:tc>
                  <a:txBody>
                    <a:bodyPr/>
                    <a:lstStyle/>
                    <a:p>
                      <a:pPr algn="ctr" fontAlgn="ctr" latinLnBrk="1"/>
                      <a:r>
                        <a:rPr lang="en-US" sz="900" dirty="0">
                          <a:solidFill>
                            <a:srgbClr val="333333"/>
                          </a:solidFill>
                          <a:effectLst/>
                        </a:rPr>
                        <a:t>32GT/s</a:t>
                      </a:r>
                    </a:p>
                  </a:txBody>
                  <a:tcPr marL="57150" marR="57150" marT="11430" marB="11430" anchor="ctr"/>
                </a:tc>
                <a:tc>
                  <a:txBody>
                    <a:bodyPr/>
                    <a:lstStyle/>
                    <a:p>
                      <a:pPr algn="ctr" fontAlgn="ctr" latinLnBrk="1"/>
                      <a:r>
                        <a:rPr lang="en-US" sz="900" dirty="0">
                          <a:solidFill>
                            <a:srgbClr val="333333"/>
                          </a:solidFill>
                          <a:effectLst/>
                        </a:rPr>
                        <a:t>3.9GB/s</a:t>
                      </a:r>
                    </a:p>
                  </a:txBody>
                  <a:tcPr marL="57150" marR="57150" marT="11430" marB="11430" anchor="ctr"/>
                </a:tc>
                <a:tc>
                  <a:txBody>
                    <a:bodyPr/>
                    <a:lstStyle/>
                    <a:p>
                      <a:pPr algn="ctr" fontAlgn="ctr" latinLnBrk="1"/>
                      <a:r>
                        <a:rPr lang="en-US" sz="900" dirty="0">
                          <a:solidFill>
                            <a:srgbClr val="333333"/>
                          </a:solidFill>
                          <a:effectLst/>
                        </a:rPr>
                        <a:t>15.8GB/s</a:t>
                      </a:r>
                    </a:p>
                  </a:txBody>
                  <a:tcPr marL="57150" marR="57150" marT="11430" marB="11430" anchor="ctr"/>
                </a:tc>
                <a:tc>
                  <a:txBody>
                    <a:bodyPr/>
                    <a:lstStyle/>
                    <a:p>
                      <a:pPr algn="ctr" fontAlgn="ctr" latinLnBrk="1"/>
                      <a:r>
                        <a:rPr lang="en-US" sz="900" dirty="0">
                          <a:solidFill>
                            <a:srgbClr val="333333"/>
                          </a:solidFill>
                          <a:effectLst/>
                        </a:rPr>
                        <a:t>31.5GB/s</a:t>
                      </a:r>
                    </a:p>
                  </a:txBody>
                  <a:tcPr marL="57150" marR="57150" marT="11430" marB="11430" anchor="ctr"/>
                </a:tc>
                <a:tc>
                  <a:txBody>
                    <a:bodyPr/>
                    <a:lstStyle/>
                    <a:p>
                      <a:pPr algn="ctr" fontAlgn="ctr" latinLnBrk="1"/>
                      <a:r>
                        <a:rPr lang="en-US" sz="900" dirty="0">
                          <a:solidFill>
                            <a:srgbClr val="333333"/>
                          </a:solidFill>
                          <a:effectLst/>
                        </a:rPr>
                        <a:t>63.0GB/s</a:t>
                      </a:r>
                    </a:p>
                  </a:txBody>
                  <a:tcPr marL="57150" marR="57150" marT="11430" marB="11430" anchor="ctr"/>
                </a:tc>
                <a:extLst>
                  <a:ext uri="{0D108BD9-81ED-4DB2-BD59-A6C34878D82A}">
                    <a16:rowId xmlns:a16="http://schemas.microsoft.com/office/drawing/2014/main" val="10006"/>
                  </a:ext>
                </a:extLst>
              </a:tr>
              <a:tr h="231988">
                <a:tc>
                  <a:txBody>
                    <a:bodyPr/>
                    <a:lstStyle/>
                    <a:p>
                      <a:pPr algn="ctr" fontAlgn="ctr" latinLnBrk="1"/>
                      <a:r>
                        <a:rPr lang="en-US" altLang="zh-CN" sz="900" dirty="0">
                          <a:solidFill>
                            <a:srgbClr val="333333"/>
                          </a:solidFill>
                          <a:effectLst/>
                          <a:highlight>
                            <a:srgbClr val="FFFF00"/>
                          </a:highlight>
                        </a:rPr>
                        <a:t>6.0</a:t>
                      </a:r>
                    </a:p>
                  </a:txBody>
                  <a:tcPr marL="57150" marR="57150" marT="11430" marB="11430" anchor="ctr"/>
                </a:tc>
                <a:tc>
                  <a:txBody>
                    <a:bodyPr/>
                    <a:lstStyle/>
                    <a:p>
                      <a:pPr algn="ctr" fontAlgn="ctr" latinLnBrk="1"/>
                      <a:r>
                        <a:rPr lang="en-US" sz="900" dirty="0">
                          <a:solidFill>
                            <a:srgbClr val="333333"/>
                          </a:solidFill>
                          <a:effectLst/>
                          <a:highlight>
                            <a:srgbClr val="FFFF00"/>
                          </a:highlight>
                        </a:rPr>
                        <a:t>128b/130b</a:t>
                      </a:r>
                    </a:p>
                  </a:txBody>
                  <a:tcPr marL="57150" marR="57150" marT="11430" marB="11430" anchor="ctr"/>
                </a:tc>
                <a:tc>
                  <a:txBody>
                    <a:bodyPr/>
                    <a:lstStyle/>
                    <a:p>
                      <a:pPr algn="ctr" fontAlgn="ctr" latinLnBrk="1"/>
                      <a:r>
                        <a:rPr lang="en-US" sz="900" dirty="0">
                          <a:solidFill>
                            <a:srgbClr val="333333"/>
                          </a:solidFill>
                          <a:effectLst/>
                          <a:highlight>
                            <a:srgbClr val="FFFF00"/>
                          </a:highlight>
                        </a:rPr>
                        <a:t>64GT/s</a:t>
                      </a:r>
                    </a:p>
                  </a:txBody>
                  <a:tcPr marL="57150" marR="57150" marT="11430" marB="11430" anchor="ctr"/>
                </a:tc>
                <a:tc>
                  <a:txBody>
                    <a:bodyPr/>
                    <a:lstStyle/>
                    <a:p>
                      <a:pPr algn="ctr" fontAlgn="ctr" latinLnBrk="1"/>
                      <a:r>
                        <a:rPr lang="en-US" sz="900" dirty="0">
                          <a:solidFill>
                            <a:srgbClr val="333333"/>
                          </a:solidFill>
                          <a:effectLst/>
                          <a:highlight>
                            <a:srgbClr val="FFFF00"/>
                          </a:highlight>
                        </a:rPr>
                        <a:t>7.8GB/s</a:t>
                      </a:r>
                    </a:p>
                  </a:txBody>
                  <a:tcPr marL="57150" marR="57150" marT="11430" marB="11430" anchor="ctr"/>
                </a:tc>
                <a:tc>
                  <a:txBody>
                    <a:bodyPr/>
                    <a:lstStyle/>
                    <a:p>
                      <a:pPr algn="ctr" fontAlgn="ctr" latinLnBrk="1"/>
                      <a:r>
                        <a:rPr lang="en-US" sz="900" dirty="0">
                          <a:solidFill>
                            <a:srgbClr val="333333"/>
                          </a:solidFill>
                          <a:effectLst/>
                          <a:highlight>
                            <a:srgbClr val="FFFF00"/>
                          </a:highlight>
                        </a:rPr>
                        <a:t>31.6GB/s</a:t>
                      </a:r>
                    </a:p>
                  </a:txBody>
                  <a:tcPr marL="57150" marR="57150" marT="11430" marB="11430" anchor="ctr"/>
                </a:tc>
                <a:tc>
                  <a:txBody>
                    <a:bodyPr/>
                    <a:lstStyle/>
                    <a:p>
                      <a:pPr algn="ctr" fontAlgn="ctr" latinLnBrk="1"/>
                      <a:r>
                        <a:rPr lang="en-US" sz="900" dirty="0">
                          <a:solidFill>
                            <a:srgbClr val="333333"/>
                          </a:solidFill>
                          <a:effectLst/>
                          <a:highlight>
                            <a:srgbClr val="FFFF00"/>
                          </a:highlight>
                        </a:rPr>
                        <a:t>63.0GB/s</a:t>
                      </a:r>
                    </a:p>
                  </a:txBody>
                  <a:tcPr marL="57150" marR="57150" marT="11430" marB="11430" anchor="ctr"/>
                </a:tc>
                <a:tc>
                  <a:txBody>
                    <a:bodyPr/>
                    <a:lstStyle/>
                    <a:p>
                      <a:pPr algn="ctr" fontAlgn="ctr" latinLnBrk="1"/>
                      <a:r>
                        <a:rPr lang="en-US" sz="900" dirty="0">
                          <a:solidFill>
                            <a:srgbClr val="333333"/>
                          </a:solidFill>
                          <a:effectLst/>
                          <a:highlight>
                            <a:srgbClr val="FFFF00"/>
                          </a:highlight>
                        </a:rPr>
                        <a:t>126.0GB/s</a:t>
                      </a:r>
                    </a:p>
                  </a:txBody>
                  <a:tcPr marL="57150" marR="57150" marT="11430" marB="11430" anchor="ctr"/>
                </a:tc>
                <a:extLst>
                  <a:ext uri="{0D108BD9-81ED-4DB2-BD59-A6C34878D82A}">
                    <a16:rowId xmlns:a16="http://schemas.microsoft.com/office/drawing/2014/main" val="10007"/>
                  </a:ext>
                </a:extLst>
              </a:tr>
              <a:tr h="231988">
                <a:tc>
                  <a:txBody>
                    <a:bodyPr/>
                    <a:lstStyle/>
                    <a:p>
                      <a:pPr algn="ctr" fontAlgn="ctr" latinLnBrk="1"/>
                      <a:r>
                        <a:rPr lang="en-US" altLang="zh-CN" sz="900" dirty="0">
                          <a:solidFill>
                            <a:srgbClr val="333333"/>
                          </a:solidFill>
                          <a:effectLst/>
                          <a:highlight>
                            <a:srgbClr val="FFFF00"/>
                          </a:highlight>
                        </a:rPr>
                        <a:t>7.0</a:t>
                      </a:r>
                    </a:p>
                  </a:txBody>
                  <a:tcPr marL="57150" marR="57150" marT="11430" marB="11430" anchor="ctr"/>
                </a:tc>
                <a:tc>
                  <a:txBody>
                    <a:bodyPr/>
                    <a:lstStyle/>
                    <a:p>
                      <a:pPr algn="ctr" fontAlgn="ctr" latinLnBrk="1"/>
                      <a:r>
                        <a:rPr lang="en-US" sz="900" dirty="0">
                          <a:solidFill>
                            <a:srgbClr val="333333"/>
                          </a:solidFill>
                          <a:effectLst/>
                          <a:highlight>
                            <a:srgbClr val="FFFF00"/>
                          </a:highlight>
                        </a:rPr>
                        <a:t>128b/130b</a:t>
                      </a:r>
                    </a:p>
                  </a:txBody>
                  <a:tcPr marL="57150" marR="57150" marT="11430" marB="11430" anchor="ctr"/>
                </a:tc>
                <a:tc>
                  <a:txBody>
                    <a:bodyPr/>
                    <a:lstStyle/>
                    <a:p>
                      <a:pPr algn="ctr" fontAlgn="ctr" latinLnBrk="1"/>
                      <a:r>
                        <a:rPr lang="en-US" sz="900" dirty="0">
                          <a:solidFill>
                            <a:srgbClr val="333333"/>
                          </a:solidFill>
                          <a:effectLst/>
                          <a:highlight>
                            <a:srgbClr val="FFFF00"/>
                          </a:highlight>
                        </a:rPr>
                        <a:t>128GT/s</a:t>
                      </a:r>
                    </a:p>
                  </a:txBody>
                  <a:tcPr marL="57150" marR="57150" marT="11430" marB="11430" anchor="ctr"/>
                </a:tc>
                <a:tc>
                  <a:txBody>
                    <a:bodyPr/>
                    <a:lstStyle/>
                    <a:p>
                      <a:pPr algn="ctr" fontAlgn="ctr" latinLnBrk="1"/>
                      <a:r>
                        <a:rPr lang="en-US" sz="900" dirty="0">
                          <a:solidFill>
                            <a:srgbClr val="333333"/>
                          </a:solidFill>
                          <a:effectLst/>
                          <a:highlight>
                            <a:srgbClr val="FFFF00"/>
                          </a:highlight>
                        </a:rPr>
                        <a:t>31.6GB/s</a:t>
                      </a:r>
                    </a:p>
                  </a:txBody>
                  <a:tcPr marL="57150" marR="57150" marT="11430" marB="11430" anchor="ctr"/>
                </a:tc>
                <a:tc>
                  <a:txBody>
                    <a:bodyPr/>
                    <a:lstStyle/>
                    <a:p>
                      <a:pPr algn="ctr" fontAlgn="ctr" latinLnBrk="1"/>
                      <a:r>
                        <a:rPr lang="en-US" sz="900" dirty="0">
                          <a:solidFill>
                            <a:srgbClr val="333333"/>
                          </a:solidFill>
                          <a:effectLst/>
                          <a:highlight>
                            <a:srgbClr val="FFFF00"/>
                          </a:highlight>
                        </a:rPr>
                        <a:t>63GB/s</a:t>
                      </a:r>
                    </a:p>
                  </a:txBody>
                  <a:tcPr marL="57150" marR="57150" marT="11430" marB="11430" anchor="ctr"/>
                </a:tc>
                <a:tc>
                  <a:txBody>
                    <a:bodyPr/>
                    <a:lstStyle/>
                    <a:p>
                      <a:pPr algn="ctr" fontAlgn="ctr" latinLnBrk="1"/>
                      <a:r>
                        <a:rPr lang="en-US" sz="900" dirty="0">
                          <a:solidFill>
                            <a:srgbClr val="333333"/>
                          </a:solidFill>
                          <a:effectLst/>
                          <a:highlight>
                            <a:srgbClr val="FFFF00"/>
                          </a:highlight>
                        </a:rPr>
                        <a:t>126GB/s</a:t>
                      </a:r>
                    </a:p>
                  </a:txBody>
                  <a:tcPr marL="57150" marR="57150" marT="11430" marB="11430" anchor="ctr"/>
                </a:tc>
                <a:tc>
                  <a:txBody>
                    <a:bodyPr/>
                    <a:lstStyle/>
                    <a:p>
                      <a:pPr algn="ctr" fontAlgn="ctr" latinLnBrk="1"/>
                      <a:r>
                        <a:rPr lang="en-US" sz="900" dirty="0">
                          <a:solidFill>
                            <a:srgbClr val="333333"/>
                          </a:solidFill>
                          <a:effectLst/>
                          <a:highlight>
                            <a:srgbClr val="FFFF00"/>
                          </a:highlight>
                        </a:rPr>
                        <a:t>252.0GB/s</a:t>
                      </a:r>
                    </a:p>
                  </a:txBody>
                  <a:tcPr marL="57150" marR="57150" marT="11430" marB="11430" anchor="ctr"/>
                </a:tc>
                <a:extLst>
                  <a:ext uri="{0D108BD9-81ED-4DB2-BD59-A6C34878D82A}">
                    <a16:rowId xmlns:a16="http://schemas.microsoft.com/office/drawing/2014/main" val="10008"/>
                  </a:ext>
                </a:extLst>
              </a:tr>
            </a:tbl>
          </a:graphicData>
        </a:graphic>
      </p:graphicFrame>
      <p:sp>
        <p:nvSpPr>
          <p:cNvPr id="11" name="内容占位符 2"/>
          <p:cNvSpPr txBox="1"/>
          <p:nvPr/>
        </p:nvSpPr>
        <p:spPr>
          <a:xfrm>
            <a:off x="3925923" y="3265982"/>
            <a:ext cx="4112552" cy="407545"/>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050" dirty="0">
                <a:solidFill>
                  <a:srgbClr val="121212"/>
                </a:solidFill>
                <a:latin typeface="-apple-system"/>
              </a:rPr>
              <a:t>每个</a:t>
            </a:r>
            <a:r>
              <a:rPr lang="en-US" altLang="zh-CN" sz="1050" dirty="0">
                <a:solidFill>
                  <a:srgbClr val="121212"/>
                </a:solidFill>
                <a:latin typeface="-apple-system"/>
              </a:rPr>
              <a:t>PCE</a:t>
            </a:r>
            <a:r>
              <a:rPr lang="zh-CN" altLang="en-US" sz="1050" dirty="0">
                <a:solidFill>
                  <a:srgbClr val="121212"/>
                </a:solidFill>
                <a:latin typeface="-apple-system"/>
              </a:rPr>
              <a:t>通道称作一个</a:t>
            </a:r>
            <a:r>
              <a:rPr lang="en-US" altLang="zh-CN" sz="1050" dirty="0">
                <a:solidFill>
                  <a:srgbClr val="121212"/>
                </a:solidFill>
                <a:latin typeface="-apple-system"/>
              </a:rPr>
              <a:t>Lane</a:t>
            </a:r>
            <a:r>
              <a:rPr lang="zh-CN" altLang="en-US" sz="1050" dirty="0">
                <a:solidFill>
                  <a:srgbClr val="121212"/>
                </a:solidFill>
                <a:latin typeface="-apple-system"/>
              </a:rPr>
              <a:t>，每个</a:t>
            </a:r>
            <a:r>
              <a:rPr lang="en-US" altLang="zh-CN" sz="1050" dirty="0">
                <a:solidFill>
                  <a:srgbClr val="121212"/>
                </a:solidFill>
                <a:latin typeface="-apple-system"/>
              </a:rPr>
              <a:t>Lane</a:t>
            </a:r>
            <a:r>
              <a:rPr lang="zh-CN" altLang="en-US" sz="1050" dirty="0">
                <a:solidFill>
                  <a:srgbClr val="121212"/>
                </a:solidFill>
                <a:latin typeface="-apple-system"/>
              </a:rPr>
              <a:t>两对差分信号</a:t>
            </a:r>
            <a:r>
              <a:rPr lang="en-US" altLang="zh-CN" sz="1050" dirty="0">
                <a:solidFill>
                  <a:srgbClr val="121212"/>
                </a:solidFill>
                <a:latin typeface="-apple-system"/>
              </a:rPr>
              <a:t>(TX+RX)</a:t>
            </a:r>
            <a:r>
              <a:rPr lang="zh-CN" altLang="en-US" sz="1050" dirty="0">
                <a:solidFill>
                  <a:srgbClr val="121212"/>
                </a:solidFill>
                <a:latin typeface="-apple-system"/>
              </a:rPr>
              <a:t>，每对差分信号</a:t>
            </a:r>
            <a:r>
              <a:rPr lang="en-US" altLang="zh-CN" sz="1050" dirty="0">
                <a:solidFill>
                  <a:srgbClr val="121212"/>
                </a:solidFill>
                <a:latin typeface="-apple-system"/>
              </a:rPr>
              <a:t>2</a:t>
            </a:r>
            <a:r>
              <a:rPr lang="zh-CN" altLang="en-US" sz="1050" dirty="0">
                <a:solidFill>
                  <a:srgbClr val="121212"/>
                </a:solidFill>
                <a:latin typeface="-apple-system"/>
              </a:rPr>
              <a:t>根线</a:t>
            </a:r>
          </a:p>
        </p:txBody>
      </p:sp>
      <p:pic>
        <p:nvPicPr>
          <p:cNvPr id="13" name="图片 12"/>
          <p:cNvPicPr>
            <a:picLocks noChangeAspect="1"/>
          </p:cNvPicPr>
          <p:nvPr/>
        </p:nvPicPr>
        <p:blipFill>
          <a:blip r:embed="rId6"/>
          <a:stretch>
            <a:fillRect/>
          </a:stretch>
        </p:blipFill>
        <p:spPr>
          <a:xfrm>
            <a:off x="87472" y="5063752"/>
            <a:ext cx="3601013" cy="936998"/>
          </a:xfrm>
          <a:prstGeom prst="rect">
            <a:avLst/>
          </a:prstGeom>
        </p:spPr>
      </p:pic>
      <p:sp>
        <p:nvSpPr>
          <p:cNvPr id="15" name="文本框 14"/>
          <p:cNvSpPr txBox="1"/>
          <p:nvPr/>
        </p:nvSpPr>
        <p:spPr>
          <a:xfrm>
            <a:off x="3875631" y="3895311"/>
            <a:ext cx="4572936" cy="1477328"/>
          </a:xfrm>
          <a:prstGeom prst="rect">
            <a:avLst/>
          </a:prstGeom>
          <a:noFill/>
        </p:spPr>
        <p:txBody>
          <a:bodyPr wrap="square">
            <a:spAutoFit/>
          </a:bodyPr>
          <a:lstStyle/>
          <a:p>
            <a:pPr marL="214630" indent="-214630">
              <a:buFont typeface="Arial" panose="020B0604020202020204" pitchFamily="34" charset="0"/>
              <a:buChar char="•"/>
            </a:pPr>
            <a:r>
              <a:rPr lang="zh-CN" altLang="en-US" sz="900" dirty="0">
                <a:solidFill>
                  <a:srgbClr val="191919"/>
                </a:solidFill>
                <a:latin typeface="PingFang SC"/>
              </a:rPr>
              <a:t>每个</a:t>
            </a:r>
            <a:r>
              <a:rPr lang="en-US" altLang="zh-CN" sz="900" dirty="0">
                <a:solidFill>
                  <a:srgbClr val="191919"/>
                </a:solidFill>
                <a:latin typeface="PingFang SC"/>
              </a:rPr>
              <a:t>PCIE</a:t>
            </a:r>
            <a:r>
              <a:rPr lang="zh-CN" altLang="en-US" sz="900" dirty="0">
                <a:solidFill>
                  <a:srgbClr val="191919"/>
                </a:solidFill>
                <a:latin typeface="PingFang SC"/>
              </a:rPr>
              <a:t>设备在系统总线上都有自己的标识符，这个标识符就是</a:t>
            </a:r>
            <a:r>
              <a:rPr lang="en-US" altLang="zh-CN" sz="900" dirty="0">
                <a:solidFill>
                  <a:srgbClr val="191919"/>
                </a:solidFill>
                <a:latin typeface="PingFang SC"/>
              </a:rPr>
              <a:t>BDF</a:t>
            </a:r>
            <a:r>
              <a:rPr lang="zh-CN" altLang="en-US" sz="900" dirty="0">
                <a:solidFill>
                  <a:srgbClr val="191919"/>
                </a:solidFill>
                <a:latin typeface="PingFang SC"/>
              </a:rPr>
              <a:t>（</a:t>
            </a:r>
            <a:r>
              <a:rPr lang="en-US" altLang="zh-CN" sz="900" dirty="0">
                <a:solidFill>
                  <a:srgbClr val="191919"/>
                </a:solidFill>
                <a:latin typeface="PingFang SC"/>
              </a:rPr>
              <a:t>Bus</a:t>
            </a:r>
            <a:r>
              <a:rPr lang="zh-CN" altLang="en-US" sz="900" dirty="0">
                <a:solidFill>
                  <a:srgbClr val="191919"/>
                </a:solidFill>
                <a:latin typeface="PingFang SC"/>
              </a:rPr>
              <a:t>，</a:t>
            </a:r>
            <a:r>
              <a:rPr lang="en-US" altLang="zh-CN" sz="900" dirty="0">
                <a:solidFill>
                  <a:srgbClr val="191919"/>
                </a:solidFill>
                <a:latin typeface="PingFang SC"/>
              </a:rPr>
              <a:t>Device</a:t>
            </a:r>
            <a:r>
              <a:rPr lang="zh-CN" altLang="en-US" sz="900" dirty="0">
                <a:solidFill>
                  <a:srgbClr val="191919"/>
                </a:solidFill>
                <a:latin typeface="PingFang SC"/>
              </a:rPr>
              <a:t>，</a:t>
            </a:r>
            <a:r>
              <a:rPr lang="en-US" altLang="zh-CN" sz="900" dirty="0">
                <a:solidFill>
                  <a:srgbClr val="191919"/>
                </a:solidFill>
                <a:latin typeface="PingFang SC"/>
              </a:rPr>
              <a:t>Function</a:t>
            </a:r>
            <a:r>
              <a:rPr lang="zh-CN" altLang="en-US" sz="900" dirty="0">
                <a:solidFill>
                  <a:srgbClr val="191919"/>
                </a:solidFill>
                <a:latin typeface="PingFang SC"/>
              </a:rPr>
              <a:t>），</a:t>
            </a:r>
            <a:r>
              <a:rPr lang="en-US" altLang="zh-CN" sz="900" dirty="0">
                <a:solidFill>
                  <a:srgbClr val="191919"/>
                </a:solidFill>
                <a:latin typeface="PingFang SC"/>
              </a:rPr>
              <a:t>PCIE</a:t>
            </a:r>
            <a:r>
              <a:rPr lang="zh-CN" altLang="en-US" sz="900" dirty="0">
                <a:solidFill>
                  <a:srgbClr val="191919"/>
                </a:solidFill>
                <a:latin typeface="PingFang SC"/>
              </a:rPr>
              <a:t>的配置软件（即</a:t>
            </a:r>
            <a:r>
              <a:rPr lang="en-US" altLang="zh-CN" sz="900" dirty="0">
                <a:solidFill>
                  <a:srgbClr val="191919"/>
                </a:solidFill>
                <a:latin typeface="PingFang SC"/>
              </a:rPr>
              <a:t>Root</a:t>
            </a:r>
            <a:r>
              <a:rPr lang="zh-CN" altLang="en-US" sz="900" dirty="0">
                <a:solidFill>
                  <a:srgbClr val="191919"/>
                </a:solidFill>
                <a:latin typeface="PingFang SC"/>
              </a:rPr>
              <a:t>的应用层，一般是</a:t>
            </a:r>
            <a:r>
              <a:rPr lang="en-US" altLang="zh-CN" sz="900" dirty="0">
                <a:solidFill>
                  <a:srgbClr val="191919"/>
                </a:solidFill>
                <a:latin typeface="PingFang SC"/>
              </a:rPr>
              <a:t>PC</a:t>
            </a:r>
            <a:r>
              <a:rPr lang="zh-CN" altLang="en-US" sz="900" dirty="0">
                <a:solidFill>
                  <a:srgbClr val="191919"/>
                </a:solidFill>
                <a:latin typeface="PingFang SC"/>
              </a:rPr>
              <a:t>）应当有能力识别整个</a:t>
            </a:r>
            <a:r>
              <a:rPr lang="en-US" altLang="zh-CN" sz="900" dirty="0">
                <a:solidFill>
                  <a:srgbClr val="191919"/>
                </a:solidFill>
                <a:latin typeface="PingFang SC"/>
              </a:rPr>
              <a:t>PCIE</a:t>
            </a:r>
            <a:r>
              <a:rPr lang="zh-CN" altLang="en-US" sz="900" dirty="0">
                <a:solidFill>
                  <a:srgbClr val="191919"/>
                </a:solidFill>
                <a:latin typeface="PingFang SC"/>
              </a:rPr>
              <a:t>总线系统的拓扑逻辑，以及其中的每一条总线（</a:t>
            </a:r>
            <a:r>
              <a:rPr lang="en-US" altLang="zh-CN" sz="900" dirty="0">
                <a:solidFill>
                  <a:srgbClr val="191919"/>
                </a:solidFill>
                <a:latin typeface="PingFang SC"/>
              </a:rPr>
              <a:t>Bus</a:t>
            </a:r>
            <a:r>
              <a:rPr lang="zh-CN" altLang="en-US" sz="900" dirty="0">
                <a:solidFill>
                  <a:srgbClr val="191919"/>
                </a:solidFill>
                <a:latin typeface="PingFang SC"/>
              </a:rPr>
              <a:t>），每一个设备（</a:t>
            </a:r>
            <a:r>
              <a:rPr lang="en-US" altLang="zh-CN" sz="900" dirty="0">
                <a:solidFill>
                  <a:srgbClr val="191919"/>
                </a:solidFill>
                <a:latin typeface="PingFang SC"/>
              </a:rPr>
              <a:t>Device</a:t>
            </a:r>
            <a:r>
              <a:rPr lang="zh-CN" altLang="en-US" sz="900" dirty="0">
                <a:solidFill>
                  <a:srgbClr val="191919"/>
                </a:solidFill>
                <a:latin typeface="PingFang SC"/>
              </a:rPr>
              <a:t>）和每一项功能（</a:t>
            </a:r>
            <a:r>
              <a:rPr lang="en-US" altLang="zh-CN" sz="900" dirty="0">
                <a:solidFill>
                  <a:srgbClr val="191919"/>
                </a:solidFill>
                <a:latin typeface="PingFang SC"/>
              </a:rPr>
              <a:t>Function</a:t>
            </a:r>
            <a:r>
              <a:rPr lang="zh-CN" altLang="en-US" sz="900" dirty="0">
                <a:solidFill>
                  <a:srgbClr val="191919"/>
                </a:solidFill>
                <a:latin typeface="PingFang SC"/>
              </a:rPr>
              <a:t>）。</a:t>
            </a:r>
          </a:p>
          <a:p>
            <a:pPr marL="214630" indent="-214630">
              <a:buFont typeface="Arial" panose="020B0604020202020204" pitchFamily="34" charset="0"/>
              <a:buChar char="•"/>
            </a:pPr>
            <a:r>
              <a:rPr lang="zh-CN" altLang="en-US" sz="900" dirty="0">
                <a:solidFill>
                  <a:srgbClr val="191919"/>
                </a:solidFill>
                <a:latin typeface="PingFang SC"/>
              </a:rPr>
              <a:t>在</a:t>
            </a:r>
            <a:r>
              <a:rPr lang="en-US" altLang="zh-CN" sz="900" dirty="0">
                <a:solidFill>
                  <a:srgbClr val="191919"/>
                </a:solidFill>
                <a:latin typeface="PingFang SC"/>
              </a:rPr>
              <a:t>BDF</a:t>
            </a:r>
            <a:r>
              <a:rPr lang="zh-CN" altLang="en-US" sz="900" dirty="0">
                <a:solidFill>
                  <a:srgbClr val="191919"/>
                </a:solidFill>
                <a:latin typeface="PingFang SC"/>
              </a:rPr>
              <a:t>中，</a:t>
            </a:r>
            <a:r>
              <a:rPr lang="en-US" altLang="zh-CN" sz="900" dirty="0">
                <a:solidFill>
                  <a:srgbClr val="191919"/>
                </a:solidFill>
                <a:latin typeface="PingFang SC"/>
              </a:rPr>
              <a:t>Bus Number</a:t>
            </a:r>
            <a:r>
              <a:rPr lang="zh-CN" altLang="en-US" sz="900" dirty="0">
                <a:solidFill>
                  <a:srgbClr val="191919"/>
                </a:solidFill>
                <a:latin typeface="PingFang SC"/>
              </a:rPr>
              <a:t>占用</a:t>
            </a:r>
            <a:r>
              <a:rPr lang="en-US" altLang="zh-CN" sz="900" dirty="0">
                <a:solidFill>
                  <a:srgbClr val="191919"/>
                </a:solidFill>
                <a:latin typeface="PingFang SC"/>
              </a:rPr>
              <a:t>8</a:t>
            </a:r>
            <a:r>
              <a:rPr lang="zh-CN" altLang="en-US" sz="900" dirty="0">
                <a:solidFill>
                  <a:srgbClr val="191919"/>
                </a:solidFill>
                <a:latin typeface="PingFang SC"/>
              </a:rPr>
              <a:t>位，</a:t>
            </a:r>
            <a:r>
              <a:rPr lang="en-US" altLang="zh-CN" sz="900" dirty="0">
                <a:solidFill>
                  <a:srgbClr val="191919"/>
                </a:solidFill>
                <a:latin typeface="PingFang SC"/>
              </a:rPr>
              <a:t>Device Number</a:t>
            </a:r>
            <a:r>
              <a:rPr lang="zh-CN" altLang="en-US" sz="900" dirty="0">
                <a:solidFill>
                  <a:srgbClr val="191919"/>
                </a:solidFill>
                <a:latin typeface="PingFang SC"/>
              </a:rPr>
              <a:t>占用</a:t>
            </a:r>
            <a:r>
              <a:rPr lang="en-US" altLang="zh-CN" sz="900" dirty="0">
                <a:solidFill>
                  <a:srgbClr val="191919"/>
                </a:solidFill>
                <a:latin typeface="PingFang SC"/>
              </a:rPr>
              <a:t>5</a:t>
            </a:r>
            <a:r>
              <a:rPr lang="zh-CN" altLang="en-US" sz="900" dirty="0">
                <a:solidFill>
                  <a:srgbClr val="191919"/>
                </a:solidFill>
                <a:latin typeface="PingFang SC"/>
              </a:rPr>
              <a:t>位，</a:t>
            </a:r>
            <a:r>
              <a:rPr lang="en-US" altLang="zh-CN" sz="900" dirty="0">
                <a:solidFill>
                  <a:srgbClr val="191919"/>
                </a:solidFill>
                <a:latin typeface="PingFang SC"/>
              </a:rPr>
              <a:t>Function Number</a:t>
            </a:r>
            <a:r>
              <a:rPr lang="zh-CN" altLang="en-US" sz="900" dirty="0">
                <a:solidFill>
                  <a:srgbClr val="191919"/>
                </a:solidFill>
                <a:latin typeface="PingFang SC"/>
              </a:rPr>
              <a:t>占用</a:t>
            </a:r>
            <a:r>
              <a:rPr lang="en-US" altLang="zh-CN" sz="900" dirty="0">
                <a:solidFill>
                  <a:srgbClr val="191919"/>
                </a:solidFill>
                <a:latin typeface="PingFang SC"/>
              </a:rPr>
              <a:t>3</a:t>
            </a:r>
            <a:r>
              <a:rPr lang="zh-CN" altLang="en-US" sz="900" dirty="0">
                <a:solidFill>
                  <a:srgbClr val="191919"/>
                </a:solidFill>
                <a:latin typeface="PingFang SC"/>
              </a:rPr>
              <a:t>位。显然，</a:t>
            </a:r>
            <a:r>
              <a:rPr lang="en-US" altLang="zh-CN" sz="900" dirty="0">
                <a:solidFill>
                  <a:srgbClr val="191919"/>
                </a:solidFill>
                <a:latin typeface="PingFang SC"/>
              </a:rPr>
              <a:t>PCIe</a:t>
            </a:r>
            <a:r>
              <a:rPr lang="zh-CN" altLang="en-US" sz="900" dirty="0">
                <a:solidFill>
                  <a:srgbClr val="191919"/>
                </a:solidFill>
                <a:latin typeface="PingFang SC"/>
              </a:rPr>
              <a:t>总线最多支持</a:t>
            </a:r>
            <a:r>
              <a:rPr lang="en-US" altLang="zh-CN" sz="900" dirty="0">
                <a:solidFill>
                  <a:srgbClr val="191919"/>
                </a:solidFill>
                <a:latin typeface="PingFang SC"/>
              </a:rPr>
              <a:t>256</a:t>
            </a:r>
            <a:r>
              <a:rPr lang="zh-CN" altLang="en-US" sz="900" dirty="0">
                <a:solidFill>
                  <a:srgbClr val="191919"/>
                </a:solidFill>
                <a:latin typeface="PingFang SC"/>
              </a:rPr>
              <a:t>个子总线，每个子总线最多支持</a:t>
            </a:r>
            <a:r>
              <a:rPr lang="en-US" altLang="zh-CN" sz="900" dirty="0">
                <a:solidFill>
                  <a:srgbClr val="191919"/>
                </a:solidFill>
                <a:latin typeface="PingFang SC"/>
              </a:rPr>
              <a:t>32</a:t>
            </a:r>
            <a:r>
              <a:rPr lang="zh-CN" altLang="en-US" sz="900" dirty="0">
                <a:solidFill>
                  <a:srgbClr val="191919"/>
                </a:solidFill>
                <a:latin typeface="PingFang SC"/>
              </a:rPr>
              <a:t>个设备，每个设备最多支持</a:t>
            </a:r>
            <a:r>
              <a:rPr lang="en-US" altLang="zh-CN" sz="900" dirty="0">
                <a:solidFill>
                  <a:srgbClr val="191919"/>
                </a:solidFill>
                <a:latin typeface="PingFang SC"/>
              </a:rPr>
              <a:t>8</a:t>
            </a:r>
            <a:r>
              <a:rPr lang="zh-CN" altLang="en-US" sz="900" dirty="0">
                <a:solidFill>
                  <a:srgbClr val="191919"/>
                </a:solidFill>
                <a:latin typeface="PingFang SC"/>
              </a:rPr>
              <a:t>个功能，如下图所示：</a:t>
            </a:r>
          </a:p>
          <a:p>
            <a:pPr marL="214630" indent="-214630">
              <a:buFont typeface="Arial" panose="020B0604020202020204" pitchFamily="34" charset="0"/>
              <a:buChar char="•"/>
            </a:pPr>
            <a:endParaRPr lang="en-US" altLang="zh-CN" sz="900" dirty="0">
              <a:solidFill>
                <a:srgbClr val="191919"/>
              </a:solidFill>
              <a:latin typeface="PingFang SC"/>
            </a:endParaRPr>
          </a:p>
          <a:p>
            <a:pPr marL="214630" indent="-214630">
              <a:buFont typeface="Arial" panose="020B0604020202020204" pitchFamily="34" charset="0"/>
              <a:buChar char="•"/>
            </a:pPr>
            <a:r>
              <a:rPr lang="zh-CN" altLang="en-US" sz="900" dirty="0">
                <a:solidFill>
                  <a:srgbClr val="191919"/>
                </a:solidFill>
                <a:latin typeface="PingFang SC"/>
              </a:rPr>
              <a:t>需要注意的是，</a:t>
            </a:r>
            <a:r>
              <a:rPr lang="zh-CN" altLang="en-US" sz="900" b="1" dirty="0">
                <a:solidFill>
                  <a:srgbClr val="FF0000"/>
                </a:solidFill>
                <a:latin typeface="PingFang SC"/>
              </a:rPr>
              <a:t>每</a:t>
            </a:r>
            <a:r>
              <a:rPr lang="en-US" altLang="zh-CN" sz="900" b="1" dirty="0">
                <a:solidFill>
                  <a:srgbClr val="FF0000"/>
                </a:solidFill>
                <a:latin typeface="PingFang SC"/>
              </a:rPr>
              <a:t>Bus0</a:t>
            </a:r>
            <a:r>
              <a:rPr lang="zh-CN" altLang="en-US" sz="900" b="1" dirty="0">
                <a:solidFill>
                  <a:srgbClr val="FF0000"/>
                </a:solidFill>
                <a:latin typeface="PingFang SC"/>
              </a:rPr>
              <a:t>总是分配给</a:t>
            </a:r>
            <a:r>
              <a:rPr lang="en-US" altLang="zh-CN" sz="900" b="1" dirty="0">
                <a:solidFill>
                  <a:srgbClr val="FF0000"/>
                </a:solidFill>
                <a:latin typeface="PingFang SC"/>
              </a:rPr>
              <a:t>RC</a:t>
            </a:r>
            <a:r>
              <a:rPr lang="zh-CN" altLang="en-US" sz="900" b="1" dirty="0">
                <a:solidFill>
                  <a:srgbClr val="FF0000"/>
                </a:solidFill>
                <a:latin typeface="PingFang SC"/>
              </a:rPr>
              <a:t>，且每个设备必须要有功能</a:t>
            </a:r>
            <a:r>
              <a:rPr lang="en-US" altLang="zh-CN" sz="900" b="1" dirty="0">
                <a:solidFill>
                  <a:srgbClr val="FF0000"/>
                </a:solidFill>
                <a:latin typeface="PingFang SC"/>
              </a:rPr>
              <a:t>0</a:t>
            </a:r>
            <a:r>
              <a:rPr lang="zh-CN" altLang="en-US" sz="900" b="1" dirty="0">
                <a:solidFill>
                  <a:srgbClr val="FF0000"/>
                </a:solidFill>
                <a:latin typeface="PingFang SC"/>
              </a:rPr>
              <a:t>（</a:t>
            </a:r>
            <a:r>
              <a:rPr lang="en-US" altLang="zh-CN" sz="900" b="1" dirty="0">
                <a:solidFill>
                  <a:srgbClr val="FF0000"/>
                </a:solidFill>
                <a:latin typeface="PingFang SC"/>
              </a:rPr>
              <a:t>Fun0</a:t>
            </a:r>
            <a:r>
              <a:rPr lang="zh-CN" altLang="en-US" sz="900" b="1" dirty="0">
                <a:solidFill>
                  <a:srgbClr val="FF0000"/>
                </a:solidFill>
                <a:latin typeface="PingFang SC"/>
              </a:rPr>
              <a:t>），其他的</a:t>
            </a:r>
            <a:r>
              <a:rPr lang="en-US" altLang="zh-CN" sz="900" b="1" dirty="0">
                <a:solidFill>
                  <a:srgbClr val="FF0000"/>
                </a:solidFill>
                <a:latin typeface="PingFang SC"/>
              </a:rPr>
              <a:t>7</a:t>
            </a:r>
            <a:r>
              <a:rPr lang="zh-CN" altLang="en-US" sz="900" b="1" dirty="0">
                <a:solidFill>
                  <a:srgbClr val="FF0000"/>
                </a:solidFill>
                <a:latin typeface="PingFang SC"/>
              </a:rPr>
              <a:t>个功能（</a:t>
            </a:r>
            <a:r>
              <a:rPr lang="en-US" altLang="zh-CN" sz="900" b="1" dirty="0">
                <a:solidFill>
                  <a:srgbClr val="FF0000"/>
                </a:solidFill>
                <a:latin typeface="PingFang SC"/>
              </a:rPr>
              <a:t>Fun1~Fun7</a:t>
            </a:r>
            <a:r>
              <a:rPr lang="zh-CN" altLang="en-US" sz="900" b="1" dirty="0">
                <a:solidFill>
                  <a:srgbClr val="FF0000"/>
                </a:solidFill>
                <a:latin typeface="PingFang SC"/>
              </a:rPr>
              <a:t>）都是可选的。</a:t>
            </a:r>
            <a:endParaRPr lang="zh-CN" altLang="en-US" sz="900" b="1"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7"/>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sym typeface="+mn-ea"/>
              </a:rPr>
              <a:t>PCIE6 Flit</a:t>
            </a:r>
            <a:r>
              <a:rPr lang="zh-CN" altLang="en-US" sz="2800" dirty="0">
                <a:gradFill>
                  <a:gsLst>
                    <a:gs pos="0">
                      <a:srgbClr val="E30000"/>
                    </a:gs>
                    <a:gs pos="100000">
                      <a:srgbClr val="760303"/>
                    </a:gs>
                  </a:gsLst>
                  <a:lin scaled="0"/>
                </a:gradFill>
                <a:sym typeface="+mn-ea"/>
              </a:rPr>
              <a:t> </a:t>
            </a:r>
            <a:r>
              <a:rPr lang="en-US" altLang="zh-CN" sz="2800" dirty="0">
                <a:gradFill>
                  <a:gsLst>
                    <a:gs pos="0">
                      <a:srgbClr val="E30000"/>
                    </a:gs>
                    <a:gs pos="100000">
                      <a:srgbClr val="760303"/>
                    </a:gs>
                  </a:gsLst>
                  <a:lin scaled="0"/>
                </a:gradFill>
                <a:sym typeface="+mn-ea"/>
              </a:rPr>
              <a:t>layout</a:t>
            </a:r>
            <a:endParaRPr lang="zh-CN" altLang="en-US" sz="2800" dirty="0">
              <a:gradFill>
                <a:gsLst>
                  <a:gs pos="0">
                    <a:srgbClr val="E30000"/>
                  </a:gs>
                  <a:gs pos="100000">
                    <a:srgbClr val="760303"/>
                  </a:gs>
                </a:gsLst>
                <a:lin scaled="0"/>
              </a:gradFill>
              <a:sym typeface="+mn-ea"/>
            </a:endParaRPr>
          </a:p>
        </p:txBody>
      </p:sp>
      <p:pic>
        <p:nvPicPr>
          <p:cNvPr id="6" name="图片 5"/>
          <p:cNvPicPr>
            <a:picLocks noChangeAspect="1"/>
          </p:cNvPicPr>
          <p:nvPr/>
        </p:nvPicPr>
        <p:blipFill>
          <a:blip r:embed="rId7"/>
          <a:stretch>
            <a:fillRect/>
          </a:stretch>
        </p:blipFill>
        <p:spPr>
          <a:xfrm>
            <a:off x="-12628" y="554990"/>
            <a:ext cx="4512620" cy="2856393"/>
          </a:xfrm>
          <a:prstGeom prst="rect">
            <a:avLst/>
          </a:prstGeom>
        </p:spPr>
      </p:pic>
      <p:pic>
        <p:nvPicPr>
          <p:cNvPr id="8" name="图片 7"/>
          <p:cNvPicPr>
            <a:picLocks noChangeAspect="1"/>
          </p:cNvPicPr>
          <p:nvPr/>
        </p:nvPicPr>
        <p:blipFill>
          <a:blip r:embed="rId8"/>
          <a:stretch>
            <a:fillRect/>
          </a:stretch>
        </p:blipFill>
        <p:spPr>
          <a:xfrm>
            <a:off x="107315" y="3464281"/>
            <a:ext cx="4092340" cy="3393719"/>
          </a:xfrm>
          <a:prstGeom prst="rect">
            <a:avLst/>
          </a:prstGeom>
        </p:spPr>
      </p:pic>
      <p:sp>
        <p:nvSpPr>
          <p:cNvPr id="9" name="文本框 8"/>
          <p:cNvSpPr txBox="1"/>
          <p:nvPr>
            <p:custDataLst>
              <p:tags r:id="rId2"/>
            </p:custDataLst>
          </p:nvPr>
        </p:nvSpPr>
        <p:spPr>
          <a:xfrm>
            <a:off x="4644010" y="1196752"/>
            <a:ext cx="4366260" cy="1107996"/>
          </a:xfrm>
          <a:prstGeom prst="rect">
            <a:avLst/>
          </a:prstGeom>
          <a:noFill/>
        </p:spPr>
        <p:txBody>
          <a:bodyPr wrap="square" rtlCol="0">
            <a:spAutoFit/>
          </a:bodyPr>
          <a:lstStyle/>
          <a:p>
            <a:pPr marL="171450" indent="-171450">
              <a:buFont typeface="Arial" panose="020B0604020202020204" pitchFamily="34" charset="0"/>
              <a:buChar char="•"/>
            </a:pPr>
            <a:r>
              <a:rPr lang="zh-CN" altLang="en-US" sz="1100" b="1" dirty="0">
                <a:gradFill>
                  <a:gsLst>
                    <a:gs pos="0">
                      <a:srgbClr val="E30000"/>
                    </a:gs>
                    <a:gs pos="100000">
                      <a:srgbClr val="760303"/>
                    </a:gs>
                  </a:gsLst>
                  <a:lin scaled="0"/>
                </a:gradFill>
              </a:rPr>
              <a:t>一个</a:t>
            </a:r>
            <a:r>
              <a:rPr lang="en-US" altLang="zh-CN" sz="1100" b="1" dirty="0">
                <a:gradFill>
                  <a:gsLst>
                    <a:gs pos="0">
                      <a:srgbClr val="E30000"/>
                    </a:gs>
                    <a:gs pos="100000">
                      <a:srgbClr val="760303"/>
                    </a:gs>
                  </a:gsLst>
                  <a:lin scaled="0"/>
                </a:gradFill>
              </a:rPr>
              <a:t>FLIT 256B</a:t>
            </a:r>
            <a:r>
              <a:rPr lang="zh-CN" altLang="en-US" sz="1100" b="1" dirty="0">
                <a:gradFill>
                  <a:gsLst>
                    <a:gs pos="0">
                      <a:srgbClr val="E30000"/>
                    </a:gs>
                    <a:gs pos="100000">
                      <a:srgbClr val="760303"/>
                    </a:gs>
                  </a:gsLst>
                  <a:lin scaled="0"/>
                </a:gradFill>
              </a:rPr>
              <a:t>，其中</a:t>
            </a:r>
            <a:r>
              <a:rPr lang="en-US" altLang="zh-CN" sz="1100" b="1" dirty="0">
                <a:gradFill>
                  <a:gsLst>
                    <a:gs pos="0">
                      <a:srgbClr val="E30000"/>
                    </a:gs>
                    <a:gs pos="100000">
                      <a:srgbClr val="760303"/>
                    </a:gs>
                  </a:gsLst>
                  <a:lin scaled="0"/>
                </a:gradFill>
              </a:rPr>
              <a:t>236B</a:t>
            </a:r>
            <a:r>
              <a:rPr lang="zh-CN" altLang="en-US" sz="1100" b="1" dirty="0">
                <a:gradFill>
                  <a:gsLst>
                    <a:gs pos="0">
                      <a:srgbClr val="E30000"/>
                    </a:gs>
                    <a:gs pos="100000">
                      <a:srgbClr val="760303"/>
                    </a:gs>
                  </a:gsLst>
                  <a:lin scaled="0"/>
                </a:gradFill>
              </a:rPr>
              <a:t>是</a:t>
            </a:r>
            <a:r>
              <a:rPr lang="en-US" altLang="zh-CN" sz="1100" b="1" dirty="0">
                <a:gradFill>
                  <a:gsLst>
                    <a:gs pos="0">
                      <a:srgbClr val="E30000"/>
                    </a:gs>
                    <a:gs pos="100000">
                      <a:srgbClr val="760303"/>
                    </a:gs>
                  </a:gsLst>
                  <a:lin scaled="0"/>
                </a:gradFill>
              </a:rPr>
              <a:t>TLP</a:t>
            </a:r>
            <a:r>
              <a:rPr lang="zh-CN" altLang="en-US" sz="1100" b="1" dirty="0">
                <a:gradFill>
                  <a:gsLst>
                    <a:gs pos="0">
                      <a:srgbClr val="E30000"/>
                    </a:gs>
                    <a:gs pos="100000">
                      <a:srgbClr val="760303"/>
                    </a:gs>
                  </a:gsLst>
                  <a:lin scaled="0"/>
                </a:gradFill>
              </a:rPr>
              <a:t>区域，</a:t>
            </a:r>
            <a:r>
              <a:rPr lang="en-US" altLang="zh-CN" sz="1100" b="1" dirty="0">
                <a:gradFill>
                  <a:gsLst>
                    <a:gs pos="0">
                      <a:srgbClr val="E30000"/>
                    </a:gs>
                    <a:gs pos="100000">
                      <a:srgbClr val="760303"/>
                    </a:gs>
                  </a:gsLst>
                  <a:lin scaled="0"/>
                </a:gradFill>
              </a:rPr>
              <a:t>6B DLP</a:t>
            </a:r>
            <a:r>
              <a:rPr lang="zh-CN" altLang="en-US" sz="1100" b="1" dirty="0">
                <a:gradFill>
                  <a:gsLst>
                    <a:gs pos="0">
                      <a:srgbClr val="E30000"/>
                    </a:gs>
                    <a:gs pos="100000">
                      <a:srgbClr val="760303"/>
                    </a:gs>
                  </a:gsLst>
                  <a:lin scaled="0"/>
                </a:gradFill>
              </a:rPr>
              <a:t>区域，</a:t>
            </a:r>
            <a:r>
              <a:rPr lang="en-US" altLang="zh-CN" sz="1100" b="1" dirty="0">
                <a:gradFill>
                  <a:gsLst>
                    <a:gs pos="0">
                      <a:srgbClr val="E30000"/>
                    </a:gs>
                    <a:gs pos="100000">
                      <a:srgbClr val="760303"/>
                    </a:gs>
                  </a:gsLst>
                  <a:lin scaled="0"/>
                </a:gradFill>
              </a:rPr>
              <a:t>8B CRC</a:t>
            </a:r>
            <a:r>
              <a:rPr lang="zh-CN" altLang="en-US" sz="1100" b="1" dirty="0">
                <a:gradFill>
                  <a:gsLst>
                    <a:gs pos="0">
                      <a:srgbClr val="E30000"/>
                    </a:gs>
                    <a:gs pos="100000">
                      <a:srgbClr val="760303"/>
                    </a:gs>
                  </a:gsLst>
                  <a:lin scaled="0"/>
                </a:gradFill>
              </a:rPr>
              <a:t>，</a:t>
            </a:r>
            <a:r>
              <a:rPr lang="en-US" altLang="zh-CN" sz="1100" b="1" dirty="0">
                <a:gradFill>
                  <a:gsLst>
                    <a:gs pos="0">
                      <a:srgbClr val="E30000"/>
                    </a:gs>
                    <a:gs pos="100000">
                      <a:srgbClr val="760303"/>
                    </a:gs>
                  </a:gsLst>
                  <a:lin scaled="0"/>
                </a:gradFill>
              </a:rPr>
              <a:t>6B FEC</a:t>
            </a:r>
          </a:p>
          <a:p>
            <a:pPr marL="171450" indent="-171450">
              <a:buFont typeface="Arial" panose="020B0604020202020204" pitchFamily="34" charset="0"/>
              <a:buChar char="•"/>
            </a:pPr>
            <a:r>
              <a:rPr lang="zh-CN" altLang="en-US" sz="1100" b="1" dirty="0">
                <a:gradFill>
                  <a:gsLst>
                    <a:gs pos="0">
                      <a:srgbClr val="E30000"/>
                    </a:gs>
                    <a:gs pos="100000">
                      <a:srgbClr val="760303"/>
                    </a:gs>
                  </a:gsLst>
                  <a:lin scaled="0"/>
                </a:gradFill>
              </a:rPr>
              <a:t>一个</a:t>
            </a:r>
            <a:r>
              <a:rPr lang="en-US" altLang="zh-CN" sz="1100" b="1" dirty="0">
                <a:gradFill>
                  <a:gsLst>
                    <a:gs pos="0">
                      <a:srgbClr val="E30000"/>
                    </a:gs>
                    <a:gs pos="100000">
                      <a:srgbClr val="760303"/>
                    </a:gs>
                  </a:gsLst>
                  <a:lin scaled="0"/>
                </a:gradFill>
              </a:rPr>
              <a:t>TLP</a:t>
            </a:r>
            <a:r>
              <a:rPr lang="zh-CN" altLang="en-US" sz="1100" b="1" dirty="0">
                <a:gradFill>
                  <a:gsLst>
                    <a:gs pos="0">
                      <a:srgbClr val="E30000"/>
                    </a:gs>
                    <a:gs pos="100000">
                      <a:srgbClr val="760303"/>
                    </a:gs>
                  </a:gsLst>
                  <a:lin scaled="0"/>
                </a:gradFill>
              </a:rPr>
              <a:t>可以跨多个</a:t>
            </a:r>
            <a:r>
              <a:rPr lang="en-US" altLang="zh-CN" sz="1100" b="1" dirty="0">
                <a:gradFill>
                  <a:gsLst>
                    <a:gs pos="0">
                      <a:srgbClr val="E30000"/>
                    </a:gs>
                    <a:gs pos="100000">
                      <a:srgbClr val="760303"/>
                    </a:gs>
                  </a:gsLst>
                  <a:lin scaled="0"/>
                </a:gradFill>
              </a:rPr>
              <a:t>FLIT</a:t>
            </a:r>
            <a:r>
              <a:rPr lang="zh-CN" altLang="en-US" sz="1100" b="1" dirty="0">
                <a:gradFill>
                  <a:gsLst>
                    <a:gs pos="0">
                      <a:srgbClr val="E30000"/>
                    </a:gs>
                    <a:gs pos="100000">
                      <a:srgbClr val="760303"/>
                    </a:gs>
                  </a:gsLst>
                  <a:lin scaled="0"/>
                </a:gradFill>
              </a:rPr>
              <a:t>，一个</a:t>
            </a:r>
            <a:r>
              <a:rPr lang="en-US" altLang="zh-CN" sz="1100" b="1" dirty="0">
                <a:gradFill>
                  <a:gsLst>
                    <a:gs pos="0">
                      <a:srgbClr val="E30000"/>
                    </a:gs>
                    <a:gs pos="100000">
                      <a:srgbClr val="760303"/>
                    </a:gs>
                  </a:gsLst>
                  <a:lin scaled="0"/>
                </a:gradFill>
              </a:rPr>
              <a:t>FLIT</a:t>
            </a:r>
            <a:r>
              <a:rPr lang="zh-CN" altLang="en-US" sz="1100" b="1" dirty="0">
                <a:gradFill>
                  <a:gsLst>
                    <a:gs pos="0">
                      <a:srgbClr val="E30000"/>
                    </a:gs>
                    <a:gs pos="100000">
                      <a:srgbClr val="760303"/>
                    </a:gs>
                  </a:gsLst>
                  <a:lin scaled="0"/>
                </a:gradFill>
              </a:rPr>
              <a:t>也可以放多个</a:t>
            </a:r>
            <a:r>
              <a:rPr lang="en-US" altLang="zh-CN" sz="1100" b="1" dirty="0">
                <a:gradFill>
                  <a:gsLst>
                    <a:gs pos="0">
                      <a:srgbClr val="E30000"/>
                    </a:gs>
                    <a:gs pos="100000">
                      <a:srgbClr val="760303"/>
                    </a:gs>
                  </a:gsLst>
                  <a:lin scaled="0"/>
                </a:gradFill>
              </a:rPr>
              <a:t>TLP(</a:t>
            </a:r>
            <a:r>
              <a:rPr lang="zh-CN" altLang="en-US" sz="1100" b="1" dirty="0">
                <a:gradFill>
                  <a:gsLst>
                    <a:gs pos="0">
                      <a:srgbClr val="E30000"/>
                    </a:gs>
                    <a:gs pos="100000">
                      <a:srgbClr val="760303"/>
                    </a:gs>
                  </a:gsLst>
                  <a:lin scaled="0"/>
                </a:gradFill>
              </a:rPr>
              <a:t>不超过</a:t>
            </a:r>
            <a:r>
              <a:rPr lang="en-US" altLang="zh-CN" sz="1100" b="1" dirty="0">
                <a:gradFill>
                  <a:gsLst>
                    <a:gs pos="0">
                      <a:srgbClr val="E30000"/>
                    </a:gs>
                    <a:gs pos="100000">
                      <a:srgbClr val="760303"/>
                    </a:gs>
                  </a:gsLst>
                  <a:lin scaled="0"/>
                </a:gradFill>
              </a:rPr>
              <a:t>8</a:t>
            </a:r>
            <a:r>
              <a:rPr lang="zh-CN" altLang="en-US" sz="1100" b="1" dirty="0">
                <a:gradFill>
                  <a:gsLst>
                    <a:gs pos="0">
                      <a:srgbClr val="E30000"/>
                    </a:gs>
                    <a:gs pos="100000">
                      <a:srgbClr val="760303"/>
                    </a:gs>
                  </a:gsLst>
                  <a:lin scaled="0"/>
                </a:gradFill>
              </a:rPr>
              <a:t>个</a:t>
            </a:r>
            <a:r>
              <a:rPr lang="en-US" altLang="zh-CN" sz="1100" b="1" dirty="0">
                <a:gradFill>
                  <a:gsLst>
                    <a:gs pos="0">
                      <a:srgbClr val="E30000"/>
                    </a:gs>
                    <a:gs pos="100000">
                      <a:srgbClr val="760303"/>
                    </a:gs>
                  </a:gsLst>
                  <a:lin scaled="0"/>
                </a:gradFill>
              </a:rPr>
              <a:t>)</a:t>
            </a:r>
          </a:p>
          <a:p>
            <a:pPr marL="171450" indent="-171450">
              <a:buFont typeface="Arial" panose="020B0604020202020204" pitchFamily="34" charset="0"/>
              <a:buChar char="•"/>
            </a:pPr>
            <a:r>
              <a:rPr lang="zh-CN" altLang="en-US" sz="1100" b="1" dirty="0">
                <a:gradFill>
                  <a:gsLst>
                    <a:gs pos="0">
                      <a:srgbClr val="E30000"/>
                    </a:gs>
                    <a:gs pos="100000">
                      <a:srgbClr val="760303"/>
                    </a:gs>
                  </a:gsLst>
                  <a:lin scaled="0"/>
                </a:gradFill>
              </a:rPr>
              <a:t>无数据时可以使用</a:t>
            </a:r>
            <a:r>
              <a:rPr lang="en-US" altLang="zh-CN" sz="1100" b="1" dirty="0">
                <a:gradFill>
                  <a:gsLst>
                    <a:gs pos="0">
                      <a:srgbClr val="E30000"/>
                    </a:gs>
                    <a:gs pos="100000">
                      <a:srgbClr val="760303"/>
                    </a:gs>
                  </a:gsLst>
                  <a:lin scaled="0"/>
                </a:gradFill>
              </a:rPr>
              <a:t>NOP TLP</a:t>
            </a:r>
          </a:p>
          <a:p>
            <a:pPr marL="628650" lvl="1" indent="-171450">
              <a:buFont typeface="Arial" panose="020B0604020202020204" pitchFamily="34" charset="0"/>
              <a:buChar char="•"/>
            </a:pPr>
            <a:endParaRPr lang="zh-CN" altLang="en-US" sz="1100" b="1" dirty="0">
              <a:gradFill>
                <a:gsLst>
                  <a:gs pos="0">
                    <a:srgbClr val="E30000"/>
                  </a:gs>
                  <a:gs pos="100000">
                    <a:srgbClr val="760303"/>
                  </a:gs>
                </a:gsLst>
                <a:lin scaled="0"/>
              </a:gradFill>
            </a:endParaRPr>
          </a:p>
        </p:txBody>
      </p:sp>
      <p:pic>
        <p:nvPicPr>
          <p:cNvPr id="10" name="图片 9"/>
          <p:cNvPicPr>
            <a:picLocks noChangeAspect="1"/>
          </p:cNvPicPr>
          <p:nvPr>
            <p:custDataLst>
              <p:tags r:id="rId3"/>
            </p:custDataLst>
          </p:nvPr>
        </p:nvPicPr>
        <p:blipFill>
          <a:blip r:embed="rId9"/>
          <a:stretch>
            <a:fillRect/>
          </a:stretch>
        </p:blipFill>
        <p:spPr>
          <a:xfrm>
            <a:off x="4644010" y="4308951"/>
            <a:ext cx="4115753" cy="2455069"/>
          </a:xfrm>
          <a:prstGeom prst="rect">
            <a:avLst/>
          </a:prstGeom>
        </p:spPr>
      </p:pic>
      <p:pic>
        <p:nvPicPr>
          <p:cNvPr id="11" name="图片 10"/>
          <p:cNvPicPr>
            <a:picLocks noChangeAspect="1"/>
          </p:cNvPicPr>
          <p:nvPr>
            <p:custDataLst>
              <p:tags r:id="rId4"/>
            </p:custDataLst>
          </p:nvPr>
        </p:nvPicPr>
        <p:blipFill>
          <a:blip r:embed="rId10"/>
          <a:stretch>
            <a:fillRect/>
          </a:stretch>
        </p:blipFill>
        <p:spPr>
          <a:xfrm>
            <a:off x="4548218" y="2420888"/>
            <a:ext cx="4483418" cy="1730216"/>
          </a:xfrm>
          <a:prstGeom prst="rect">
            <a:avLst/>
          </a:prstGeom>
        </p:spPr>
      </p:pic>
      <p:sp>
        <p:nvSpPr>
          <p:cNvPr id="12" name="矩形 11"/>
          <p:cNvSpPr/>
          <p:nvPr/>
        </p:nvSpPr>
        <p:spPr>
          <a:xfrm>
            <a:off x="5148064" y="4308951"/>
            <a:ext cx="792088" cy="3441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p:nvPr>
            <p:custDataLst>
              <p:tags r:id="rId5"/>
            </p:custDataLst>
          </p:nvPr>
        </p:nvCxnSpPr>
        <p:spPr>
          <a:xfrm flipH="1" flipV="1">
            <a:off x="1475656" y="1124744"/>
            <a:ext cx="3960440" cy="3168352"/>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7"/>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sym typeface="+mn-ea"/>
              </a:rPr>
              <a:t>PCIE6 FLIT</a:t>
            </a:r>
            <a:r>
              <a:rPr lang="zh-CN" altLang="en-US" sz="2800" dirty="0">
                <a:gradFill>
                  <a:gsLst>
                    <a:gs pos="0">
                      <a:srgbClr val="E30000"/>
                    </a:gs>
                    <a:gs pos="100000">
                      <a:srgbClr val="760303"/>
                    </a:gs>
                  </a:gsLst>
                  <a:lin scaled="0"/>
                </a:gradFill>
                <a:sym typeface="+mn-ea"/>
              </a:rPr>
              <a:t>模式的</a:t>
            </a:r>
            <a:r>
              <a:rPr lang="en-US" altLang="zh-CN" sz="2800" dirty="0">
                <a:gradFill>
                  <a:gsLst>
                    <a:gs pos="0">
                      <a:srgbClr val="E30000"/>
                    </a:gs>
                    <a:gs pos="100000">
                      <a:srgbClr val="760303"/>
                    </a:gs>
                  </a:gsLst>
                  <a:lin scaled="0"/>
                </a:gradFill>
                <a:sym typeface="+mn-ea"/>
              </a:rPr>
              <a:t>TLP</a:t>
            </a:r>
            <a:r>
              <a:rPr lang="zh-CN" altLang="en-US" sz="2800" dirty="0">
                <a:gradFill>
                  <a:gsLst>
                    <a:gs pos="0">
                      <a:srgbClr val="E30000"/>
                    </a:gs>
                    <a:gs pos="100000">
                      <a:srgbClr val="760303"/>
                    </a:gs>
                  </a:gsLst>
                  <a:lin scaled="0"/>
                </a:gradFill>
                <a:sym typeface="+mn-ea"/>
              </a:rPr>
              <a:t>定义</a:t>
            </a:r>
          </a:p>
        </p:txBody>
      </p:sp>
      <p:pic>
        <p:nvPicPr>
          <p:cNvPr id="8" name="图片 7"/>
          <p:cNvPicPr>
            <a:picLocks noChangeAspect="1"/>
          </p:cNvPicPr>
          <p:nvPr/>
        </p:nvPicPr>
        <p:blipFill>
          <a:blip r:embed="rId3"/>
          <a:stretch>
            <a:fillRect/>
          </a:stretch>
        </p:blipFill>
        <p:spPr>
          <a:xfrm>
            <a:off x="35496" y="3087534"/>
            <a:ext cx="5010065" cy="973995"/>
          </a:xfrm>
          <a:prstGeom prst="rect">
            <a:avLst/>
          </a:prstGeom>
        </p:spPr>
      </p:pic>
      <p:pic>
        <p:nvPicPr>
          <p:cNvPr id="10" name="图片 9"/>
          <p:cNvPicPr>
            <a:picLocks noChangeAspect="1"/>
          </p:cNvPicPr>
          <p:nvPr/>
        </p:nvPicPr>
        <p:blipFill>
          <a:blip r:embed="rId4"/>
          <a:stretch>
            <a:fillRect/>
          </a:stretch>
        </p:blipFill>
        <p:spPr>
          <a:xfrm>
            <a:off x="107315" y="764704"/>
            <a:ext cx="6622891" cy="1633647"/>
          </a:xfrm>
          <a:prstGeom prst="rect">
            <a:avLst/>
          </a:prstGeom>
        </p:spPr>
      </p:pic>
      <p:pic>
        <p:nvPicPr>
          <p:cNvPr id="12" name="图片 11"/>
          <p:cNvPicPr>
            <a:picLocks noChangeAspect="1"/>
          </p:cNvPicPr>
          <p:nvPr/>
        </p:nvPicPr>
        <p:blipFill>
          <a:blip r:embed="rId5"/>
          <a:stretch>
            <a:fillRect/>
          </a:stretch>
        </p:blipFill>
        <p:spPr>
          <a:xfrm>
            <a:off x="251520" y="4156875"/>
            <a:ext cx="4176464" cy="1369939"/>
          </a:xfrm>
          <a:prstGeom prst="rect">
            <a:avLst/>
          </a:prstGeom>
        </p:spPr>
      </p:pic>
      <p:grpSp>
        <p:nvGrpSpPr>
          <p:cNvPr id="17" name="组合 16"/>
          <p:cNvGrpSpPr/>
          <p:nvPr/>
        </p:nvGrpSpPr>
        <p:grpSpPr>
          <a:xfrm>
            <a:off x="4644011" y="4221088"/>
            <a:ext cx="4499989" cy="1675711"/>
            <a:chOff x="5220073" y="3268816"/>
            <a:chExt cx="4499989" cy="1675711"/>
          </a:xfrm>
        </p:grpSpPr>
        <p:pic>
          <p:nvPicPr>
            <p:cNvPr id="14" name="图片 13"/>
            <p:cNvPicPr>
              <a:picLocks noChangeAspect="1"/>
            </p:cNvPicPr>
            <p:nvPr/>
          </p:nvPicPr>
          <p:blipFill>
            <a:blip r:embed="rId6"/>
            <a:stretch>
              <a:fillRect/>
            </a:stretch>
          </p:blipFill>
          <p:spPr>
            <a:xfrm>
              <a:off x="5220073" y="3268816"/>
              <a:ext cx="2232248" cy="486792"/>
            </a:xfrm>
            <a:prstGeom prst="rect">
              <a:avLst/>
            </a:prstGeom>
          </p:spPr>
        </p:pic>
        <p:pic>
          <p:nvPicPr>
            <p:cNvPr id="16" name="图片 15"/>
            <p:cNvPicPr>
              <a:picLocks noChangeAspect="1"/>
            </p:cNvPicPr>
            <p:nvPr/>
          </p:nvPicPr>
          <p:blipFill>
            <a:blip r:embed="rId7"/>
            <a:stretch>
              <a:fillRect/>
            </a:stretch>
          </p:blipFill>
          <p:spPr>
            <a:xfrm>
              <a:off x="5292080" y="3789040"/>
              <a:ext cx="4427982" cy="1155487"/>
            </a:xfrm>
            <a:prstGeom prst="rect">
              <a:avLst/>
            </a:prstGeom>
          </p:spPr>
        </p:pic>
      </p:grpSp>
      <p:pic>
        <p:nvPicPr>
          <p:cNvPr id="19" name="图片 18"/>
          <p:cNvPicPr>
            <a:picLocks noChangeAspect="1"/>
          </p:cNvPicPr>
          <p:nvPr/>
        </p:nvPicPr>
        <p:blipFill>
          <a:blip r:embed="rId8"/>
          <a:stretch>
            <a:fillRect/>
          </a:stretch>
        </p:blipFill>
        <p:spPr>
          <a:xfrm>
            <a:off x="5784427" y="2221737"/>
            <a:ext cx="3223320" cy="132175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7"/>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sym typeface="+mn-ea"/>
              </a:rPr>
              <a:t>PCIE6 Flit mode request</a:t>
            </a:r>
            <a:endParaRPr lang="zh-CN" altLang="en-US" sz="2800" dirty="0">
              <a:gradFill>
                <a:gsLst>
                  <a:gs pos="0">
                    <a:srgbClr val="E30000"/>
                  </a:gs>
                  <a:gs pos="100000">
                    <a:srgbClr val="760303"/>
                  </a:gs>
                </a:gsLst>
                <a:lin scaled="0"/>
              </a:gradFill>
              <a:sym typeface="+mn-ea"/>
            </a:endParaRPr>
          </a:p>
        </p:txBody>
      </p:sp>
      <p:pic>
        <p:nvPicPr>
          <p:cNvPr id="6" name="图片 5"/>
          <p:cNvPicPr>
            <a:picLocks noChangeAspect="1"/>
          </p:cNvPicPr>
          <p:nvPr/>
        </p:nvPicPr>
        <p:blipFill>
          <a:blip r:embed="rId3"/>
          <a:stretch>
            <a:fillRect/>
          </a:stretch>
        </p:blipFill>
        <p:spPr>
          <a:xfrm>
            <a:off x="0" y="836712"/>
            <a:ext cx="4427984" cy="1538707"/>
          </a:xfrm>
          <a:prstGeom prst="rect">
            <a:avLst/>
          </a:prstGeom>
        </p:spPr>
      </p:pic>
      <p:pic>
        <p:nvPicPr>
          <p:cNvPr id="8" name="图片 7"/>
          <p:cNvPicPr>
            <a:picLocks noChangeAspect="1"/>
          </p:cNvPicPr>
          <p:nvPr/>
        </p:nvPicPr>
        <p:blipFill>
          <a:blip r:embed="rId4"/>
          <a:stretch>
            <a:fillRect/>
          </a:stretch>
        </p:blipFill>
        <p:spPr>
          <a:xfrm>
            <a:off x="0" y="2420888"/>
            <a:ext cx="4427984" cy="1329755"/>
          </a:xfrm>
          <a:prstGeom prst="rect">
            <a:avLst/>
          </a:prstGeom>
        </p:spPr>
      </p:pic>
      <p:pic>
        <p:nvPicPr>
          <p:cNvPr id="10" name="图片 9"/>
          <p:cNvPicPr>
            <a:picLocks noChangeAspect="1"/>
          </p:cNvPicPr>
          <p:nvPr/>
        </p:nvPicPr>
        <p:blipFill>
          <a:blip r:embed="rId5"/>
          <a:stretch>
            <a:fillRect/>
          </a:stretch>
        </p:blipFill>
        <p:spPr>
          <a:xfrm>
            <a:off x="0" y="4077072"/>
            <a:ext cx="4427984" cy="1337265"/>
          </a:xfrm>
          <a:prstGeom prst="rect">
            <a:avLst/>
          </a:prstGeom>
        </p:spPr>
      </p:pic>
      <p:pic>
        <p:nvPicPr>
          <p:cNvPr id="12" name="图片 11"/>
          <p:cNvPicPr>
            <a:picLocks noChangeAspect="1"/>
          </p:cNvPicPr>
          <p:nvPr/>
        </p:nvPicPr>
        <p:blipFill>
          <a:blip r:embed="rId6"/>
          <a:stretch>
            <a:fillRect/>
          </a:stretch>
        </p:blipFill>
        <p:spPr>
          <a:xfrm>
            <a:off x="0" y="5499220"/>
            <a:ext cx="4427984" cy="1358780"/>
          </a:xfrm>
          <a:prstGeom prst="rect">
            <a:avLst/>
          </a:prstGeom>
        </p:spPr>
      </p:pic>
      <p:pic>
        <p:nvPicPr>
          <p:cNvPr id="14" name="图片 13"/>
          <p:cNvPicPr>
            <a:picLocks noChangeAspect="1"/>
          </p:cNvPicPr>
          <p:nvPr/>
        </p:nvPicPr>
        <p:blipFill>
          <a:blip r:embed="rId7"/>
          <a:stretch>
            <a:fillRect/>
          </a:stretch>
        </p:blipFill>
        <p:spPr>
          <a:xfrm>
            <a:off x="4644008" y="832358"/>
            <a:ext cx="4427984" cy="154741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7"/>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sym typeface="+mn-ea"/>
              </a:rPr>
              <a:t>PCIE6 OHCA</a:t>
            </a:r>
            <a:endParaRPr lang="zh-CN" altLang="en-US" sz="2800" dirty="0">
              <a:gradFill>
                <a:gsLst>
                  <a:gs pos="0">
                    <a:srgbClr val="E30000"/>
                  </a:gs>
                  <a:gs pos="100000">
                    <a:srgbClr val="760303"/>
                  </a:gs>
                </a:gsLst>
                <a:lin scaled="0"/>
              </a:gradFill>
              <a:sym typeface="+mn-ea"/>
            </a:endParaRPr>
          </a:p>
        </p:txBody>
      </p:sp>
      <p:pic>
        <p:nvPicPr>
          <p:cNvPr id="4" name="图片 3"/>
          <p:cNvPicPr>
            <a:picLocks noChangeAspect="1"/>
          </p:cNvPicPr>
          <p:nvPr/>
        </p:nvPicPr>
        <p:blipFill>
          <a:blip r:embed="rId4"/>
          <a:stretch>
            <a:fillRect/>
          </a:stretch>
        </p:blipFill>
        <p:spPr>
          <a:xfrm>
            <a:off x="83443" y="696468"/>
            <a:ext cx="5904845" cy="1147500"/>
          </a:xfrm>
          <a:prstGeom prst="rect">
            <a:avLst/>
          </a:prstGeom>
        </p:spPr>
      </p:pic>
      <p:pic>
        <p:nvPicPr>
          <p:cNvPr id="6" name="图片 5"/>
          <p:cNvPicPr>
            <a:picLocks noChangeAspect="1"/>
          </p:cNvPicPr>
          <p:nvPr/>
        </p:nvPicPr>
        <p:blipFill>
          <a:blip r:embed="rId5"/>
          <a:stretch>
            <a:fillRect/>
          </a:stretch>
        </p:blipFill>
        <p:spPr>
          <a:xfrm>
            <a:off x="7496" y="1874748"/>
            <a:ext cx="5904845" cy="1147835"/>
          </a:xfrm>
          <a:prstGeom prst="rect">
            <a:avLst/>
          </a:prstGeom>
        </p:spPr>
      </p:pic>
      <p:pic>
        <p:nvPicPr>
          <p:cNvPr id="8" name="图片 7"/>
          <p:cNvPicPr>
            <a:picLocks noChangeAspect="1"/>
          </p:cNvPicPr>
          <p:nvPr/>
        </p:nvPicPr>
        <p:blipFill>
          <a:blip r:embed="rId6"/>
          <a:stretch>
            <a:fillRect/>
          </a:stretch>
        </p:blipFill>
        <p:spPr>
          <a:xfrm>
            <a:off x="66179" y="3119228"/>
            <a:ext cx="5904845" cy="1092897"/>
          </a:xfrm>
          <a:prstGeom prst="rect">
            <a:avLst/>
          </a:prstGeom>
        </p:spPr>
      </p:pic>
      <p:pic>
        <p:nvPicPr>
          <p:cNvPr id="10" name="图片 9"/>
          <p:cNvPicPr>
            <a:picLocks noChangeAspect="1"/>
          </p:cNvPicPr>
          <p:nvPr/>
        </p:nvPicPr>
        <p:blipFill>
          <a:blip r:embed="rId7"/>
          <a:stretch>
            <a:fillRect/>
          </a:stretch>
        </p:blipFill>
        <p:spPr>
          <a:xfrm>
            <a:off x="7496" y="4414292"/>
            <a:ext cx="6108554" cy="1174250"/>
          </a:xfrm>
          <a:prstGeom prst="rect">
            <a:avLst/>
          </a:prstGeom>
        </p:spPr>
      </p:pic>
      <p:pic>
        <p:nvPicPr>
          <p:cNvPr id="12" name="图片 11"/>
          <p:cNvPicPr>
            <a:picLocks noChangeAspect="1"/>
          </p:cNvPicPr>
          <p:nvPr/>
        </p:nvPicPr>
        <p:blipFill>
          <a:blip r:embed="rId8"/>
          <a:stretch>
            <a:fillRect/>
          </a:stretch>
        </p:blipFill>
        <p:spPr>
          <a:xfrm>
            <a:off x="83443" y="5635954"/>
            <a:ext cx="5904845" cy="114649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a:fillRect/>
          </a:stretch>
        </p:blipFill>
        <p:spPr>
          <a:xfrm>
            <a:off x="179512" y="980728"/>
            <a:ext cx="5904845" cy="1123204"/>
          </a:xfrm>
          <a:prstGeom prst="rect">
            <a:avLst/>
          </a:prstGeom>
        </p:spPr>
      </p:pic>
      <p:sp>
        <p:nvSpPr>
          <p:cNvPr id="4" name="标题 7"/>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sym typeface="+mn-ea"/>
              </a:rPr>
              <a:t>PCIE6 OHC </a:t>
            </a:r>
            <a:r>
              <a:rPr lang="en-US" altLang="zh-CN" sz="2800" dirty="0" err="1">
                <a:gradFill>
                  <a:gsLst>
                    <a:gs pos="0">
                      <a:srgbClr val="E30000"/>
                    </a:gs>
                    <a:gs pos="100000">
                      <a:srgbClr val="760303"/>
                    </a:gs>
                  </a:gsLst>
                  <a:lin scaled="0"/>
                </a:gradFill>
                <a:sym typeface="+mn-ea"/>
              </a:rPr>
              <a:t>cont</a:t>
            </a:r>
            <a:endParaRPr lang="zh-CN" altLang="en-US" sz="2800" dirty="0">
              <a:gradFill>
                <a:gsLst>
                  <a:gs pos="0">
                    <a:srgbClr val="E30000"/>
                  </a:gs>
                  <a:gs pos="100000">
                    <a:srgbClr val="760303"/>
                  </a:gs>
                </a:gsLst>
                <a:lin scaled="0"/>
              </a:gradFill>
              <a:sym typeface="+mn-ea"/>
            </a:endParaRPr>
          </a:p>
        </p:txBody>
      </p:sp>
      <p:pic>
        <p:nvPicPr>
          <p:cNvPr id="6" name="图片 5"/>
          <p:cNvPicPr>
            <a:picLocks noChangeAspect="1"/>
          </p:cNvPicPr>
          <p:nvPr/>
        </p:nvPicPr>
        <p:blipFill>
          <a:blip r:embed="rId4"/>
          <a:stretch>
            <a:fillRect/>
          </a:stretch>
        </p:blipFill>
        <p:spPr>
          <a:xfrm>
            <a:off x="179512" y="2325328"/>
            <a:ext cx="5904845" cy="110367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7"/>
          <p:cNvSpPr>
            <a:spLocks noGrp="1"/>
          </p:cNvSpPr>
          <p:nvPr>
            <p:ph type="title"/>
            <p:custDataLst>
              <p:tags r:id="rId1"/>
            </p:custDataLst>
          </p:nvPr>
        </p:nvSpPr>
        <p:spPr>
          <a:xfrm>
            <a:off x="107315" y="93980"/>
            <a:ext cx="8508365" cy="461010"/>
          </a:xfrm>
        </p:spPr>
        <p:txBody>
          <a:bodyPr/>
          <a:lstStyle/>
          <a:p>
            <a:pPr algn="l"/>
            <a:r>
              <a:rPr lang="en-US" altLang="zh-CN" sz="2800" dirty="0">
                <a:gradFill>
                  <a:gsLst>
                    <a:gs pos="0">
                      <a:srgbClr val="E30000"/>
                    </a:gs>
                    <a:gs pos="100000">
                      <a:srgbClr val="760303"/>
                    </a:gs>
                  </a:gsLst>
                  <a:lin scaled="0"/>
                </a:gradFill>
                <a:sym typeface="+mn-ea"/>
              </a:rPr>
              <a:t>PCIE6 FLIT</a:t>
            </a:r>
            <a:r>
              <a:rPr lang="zh-CN" altLang="en-US" sz="2800" dirty="0">
                <a:gradFill>
                  <a:gsLst>
                    <a:gs pos="0">
                      <a:srgbClr val="E30000"/>
                    </a:gs>
                    <a:gs pos="100000">
                      <a:srgbClr val="760303"/>
                    </a:gs>
                  </a:gsLst>
                  <a:lin scaled="0"/>
                </a:gradFill>
                <a:sym typeface="+mn-ea"/>
              </a:rPr>
              <a:t>模式</a:t>
            </a:r>
            <a:r>
              <a:rPr lang="en-US" altLang="zh-CN" sz="2800" dirty="0" err="1">
                <a:gradFill>
                  <a:gsLst>
                    <a:gs pos="0">
                      <a:srgbClr val="E30000"/>
                    </a:gs>
                    <a:gs pos="100000">
                      <a:srgbClr val="760303"/>
                    </a:gs>
                  </a:gsLst>
                  <a:lin scaled="0"/>
                </a:gradFill>
                <a:sym typeface="+mn-ea"/>
              </a:rPr>
              <a:t>DLP~</a:t>
            </a:r>
            <a:r>
              <a:rPr lang="en-US" altLang="zh-CN" sz="2800" dirty="0" err="1">
                <a:gradFill>
                  <a:gsLst>
                    <a:gs pos="0">
                      <a:srgbClr val="E30000"/>
                    </a:gs>
                    <a:gs pos="100000">
                      <a:srgbClr val="760303"/>
                    </a:gs>
                  </a:gsLst>
                  <a:lin scaled="0"/>
                </a:gradFill>
              </a:rPr>
              <a:t>Type</a:t>
            </a:r>
            <a:r>
              <a:rPr lang="en-US" altLang="zh-CN" sz="2800" dirty="0">
                <a:gradFill>
                  <a:gsLst>
                    <a:gs pos="0">
                      <a:srgbClr val="E30000"/>
                    </a:gs>
                    <a:gs pos="100000">
                      <a:srgbClr val="760303"/>
                    </a:gs>
                  </a:gsLst>
                  <a:lin scaled="0"/>
                </a:gradFill>
              </a:rPr>
              <a:t> of DLLP Payload is 0</a:t>
            </a:r>
            <a:endParaRPr lang="zh-CN" altLang="en-US" sz="2800" dirty="0">
              <a:gradFill>
                <a:gsLst>
                  <a:gs pos="0">
                    <a:srgbClr val="E30000"/>
                  </a:gs>
                  <a:gs pos="100000">
                    <a:srgbClr val="760303"/>
                  </a:gs>
                </a:gsLst>
                <a:lin scaled="0"/>
              </a:gradFill>
              <a:sym typeface="+mn-ea"/>
            </a:endParaRPr>
          </a:p>
        </p:txBody>
      </p:sp>
      <p:pic>
        <p:nvPicPr>
          <p:cNvPr id="6" name="图片 5"/>
          <p:cNvPicPr>
            <a:picLocks noChangeAspect="1"/>
          </p:cNvPicPr>
          <p:nvPr/>
        </p:nvPicPr>
        <p:blipFill>
          <a:blip r:embed="rId4"/>
          <a:stretch>
            <a:fillRect/>
          </a:stretch>
        </p:blipFill>
        <p:spPr>
          <a:xfrm>
            <a:off x="107315" y="1460000"/>
            <a:ext cx="5184765" cy="715926"/>
          </a:xfrm>
          <a:prstGeom prst="rect">
            <a:avLst/>
          </a:prstGeom>
        </p:spPr>
      </p:pic>
      <p:pic>
        <p:nvPicPr>
          <p:cNvPr id="8" name="图片 7"/>
          <p:cNvPicPr>
            <a:picLocks noChangeAspect="1"/>
          </p:cNvPicPr>
          <p:nvPr/>
        </p:nvPicPr>
        <p:blipFill>
          <a:blip r:embed="rId5"/>
          <a:stretch>
            <a:fillRect/>
          </a:stretch>
        </p:blipFill>
        <p:spPr>
          <a:xfrm>
            <a:off x="179512" y="2233986"/>
            <a:ext cx="5940152" cy="1266003"/>
          </a:xfrm>
          <a:prstGeom prst="rect">
            <a:avLst/>
          </a:prstGeom>
        </p:spPr>
      </p:pic>
      <p:pic>
        <p:nvPicPr>
          <p:cNvPr id="10" name="图片 9"/>
          <p:cNvPicPr>
            <a:picLocks noChangeAspect="1"/>
          </p:cNvPicPr>
          <p:nvPr/>
        </p:nvPicPr>
        <p:blipFill>
          <a:blip r:embed="rId6"/>
          <a:stretch>
            <a:fillRect/>
          </a:stretch>
        </p:blipFill>
        <p:spPr>
          <a:xfrm>
            <a:off x="144016" y="3617401"/>
            <a:ext cx="5940152" cy="1983593"/>
          </a:xfrm>
          <a:prstGeom prst="rect">
            <a:avLst/>
          </a:prstGeom>
        </p:spPr>
      </p:pic>
      <p:pic>
        <p:nvPicPr>
          <p:cNvPr id="12" name="图片 11"/>
          <p:cNvPicPr>
            <a:picLocks noChangeAspect="1"/>
          </p:cNvPicPr>
          <p:nvPr/>
        </p:nvPicPr>
        <p:blipFill>
          <a:blip r:embed="rId7"/>
          <a:stretch>
            <a:fillRect/>
          </a:stretch>
        </p:blipFill>
        <p:spPr>
          <a:xfrm>
            <a:off x="5384568" y="954230"/>
            <a:ext cx="3759432" cy="710002"/>
          </a:xfrm>
          <a:prstGeom prst="rect">
            <a:avLst/>
          </a:prstGeom>
        </p:spPr>
      </p:pic>
      <p:cxnSp>
        <p:nvCxnSpPr>
          <p:cNvPr id="13" name="直接箭头连接符 12"/>
          <p:cNvCxnSpPr/>
          <p:nvPr>
            <p:custDataLst>
              <p:tags r:id="rId2"/>
            </p:custDataLst>
          </p:nvPr>
        </p:nvCxnSpPr>
        <p:spPr>
          <a:xfrm flipV="1">
            <a:off x="4716016" y="1889209"/>
            <a:ext cx="1368152" cy="576064"/>
          </a:xfrm>
          <a:prstGeom prst="straightConnector1">
            <a:avLst/>
          </a:prstGeom>
          <a:ln w="63500" cmpd="sng">
            <a:solidFill>
              <a:srgbClr val="92D050"/>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19" name="图片 18"/>
          <p:cNvPicPr>
            <a:picLocks noChangeAspect="1"/>
          </p:cNvPicPr>
          <p:nvPr/>
        </p:nvPicPr>
        <p:blipFill>
          <a:blip r:embed="rId8"/>
          <a:stretch>
            <a:fillRect/>
          </a:stretch>
        </p:blipFill>
        <p:spPr>
          <a:xfrm>
            <a:off x="6219677" y="1664232"/>
            <a:ext cx="2917021" cy="1359422"/>
          </a:xfrm>
          <a:prstGeom prst="rect">
            <a:avLst/>
          </a:prstGeom>
        </p:spPr>
      </p:pic>
      <p:pic>
        <p:nvPicPr>
          <p:cNvPr id="21" name="图片 20"/>
          <p:cNvPicPr>
            <a:picLocks noChangeAspect="1"/>
          </p:cNvPicPr>
          <p:nvPr/>
        </p:nvPicPr>
        <p:blipFill>
          <a:blip r:embed="rId9"/>
          <a:stretch>
            <a:fillRect/>
          </a:stretch>
        </p:blipFill>
        <p:spPr>
          <a:xfrm>
            <a:off x="6305781" y="3041337"/>
            <a:ext cx="2744811" cy="1701211"/>
          </a:xfrm>
          <a:prstGeom prst="rect">
            <a:avLst/>
          </a:prstGeom>
        </p:spPr>
      </p:pic>
      <p:pic>
        <p:nvPicPr>
          <p:cNvPr id="23" name="图片 22"/>
          <p:cNvPicPr>
            <a:picLocks noChangeAspect="1"/>
          </p:cNvPicPr>
          <p:nvPr/>
        </p:nvPicPr>
        <p:blipFill>
          <a:blip r:embed="rId10"/>
          <a:stretch>
            <a:fillRect/>
          </a:stretch>
        </p:blipFill>
        <p:spPr>
          <a:xfrm>
            <a:off x="6305781" y="4760231"/>
            <a:ext cx="2244747" cy="11890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a:stretch>
            <a:fillRect/>
          </a:stretch>
        </p:blipFill>
        <p:spPr>
          <a:xfrm>
            <a:off x="179512" y="1794738"/>
            <a:ext cx="4860032" cy="3057867"/>
          </a:xfrm>
          <a:prstGeom prst="rect">
            <a:avLst/>
          </a:prstGeom>
        </p:spPr>
      </p:pic>
      <p:pic>
        <p:nvPicPr>
          <p:cNvPr id="27" name="图片 26"/>
          <p:cNvPicPr>
            <a:picLocks noChangeAspect="1"/>
          </p:cNvPicPr>
          <p:nvPr/>
        </p:nvPicPr>
        <p:blipFill>
          <a:blip r:embed="rId4"/>
          <a:stretch>
            <a:fillRect/>
          </a:stretch>
        </p:blipFill>
        <p:spPr>
          <a:xfrm>
            <a:off x="107504" y="4828568"/>
            <a:ext cx="5323544" cy="1983593"/>
          </a:xfrm>
          <a:prstGeom prst="rect">
            <a:avLst/>
          </a:prstGeom>
        </p:spPr>
      </p:pic>
      <p:pic>
        <p:nvPicPr>
          <p:cNvPr id="4" name="图片 3"/>
          <p:cNvPicPr>
            <a:picLocks noChangeAspect="1"/>
          </p:cNvPicPr>
          <p:nvPr/>
        </p:nvPicPr>
        <p:blipFill>
          <a:blip r:embed="rId5"/>
          <a:stretch>
            <a:fillRect/>
          </a:stretch>
        </p:blipFill>
        <p:spPr>
          <a:xfrm>
            <a:off x="133535" y="548680"/>
            <a:ext cx="5940152" cy="1266003"/>
          </a:xfrm>
          <a:prstGeom prst="rect">
            <a:avLst/>
          </a:prstGeom>
        </p:spPr>
      </p:pic>
      <p:sp>
        <p:nvSpPr>
          <p:cNvPr id="5" name="标题 7"/>
          <p:cNvSpPr>
            <a:spLocks noGrp="1"/>
          </p:cNvSpPr>
          <p:nvPr>
            <p:ph type="title"/>
            <p:custDataLst>
              <p:tags r:id="rId1"/>
            </p:custDataLst>
          </p:nvPr>
        </p:nvSpPr>
        <p:spPr>
          <a:xfrm>
            <a:off x="107315" y="15662"/>
            <a:ext cx="8508365" cy="461010"/>
          </a:xfrm>
        </p:spPr>
        <p:txBody>
          <a:bodyPr/>
          <a:lstStyle/>
          <a:p>
            <a:pPr algn="l"/>
            <a:r>
              <a:rPr lang="en-US" altLang="zh-CN" sz="2800" dirty="0">
                <a:gradFill>
                  <a:gsLst>
                    <a:gs pos="0">
                      <a:srgbClr val="E30000"/>
                    </a:gs>
                    <a:gs pos="100000">
                      <a:srgbClr val="760303"/>
                    </a:gs>
                  </a:gsLst>
                  <a:lin scaled="0"/>
                </a:gradFill>
                <a:sym typeface="+mn-ea"/>
              </a:rPr>
              <a:t>PCIE6 FLIT</a:t>
            </a:r>
            <a:r>
              <a:rPr lang="zh-CN" altLang="en-US" sz="2800" dirty="0">
                <a:gradFill>
                  <a:gsLst>
                    <a:gs pos="0">
                      <a:srgbClr val="E30000"/>
                    </a:gs>
                    <a:gs pos="100000">
                      <a:srgbClr val="760303"/>
                    </a:gs>
                  </a:gsLst>
                  <a:lin scaled="0"/>
                </a:gradFill>
                <a:sym typeface="+mn-ea"/>
              </a:rPr>
              <a:t>模式</a:t>
            </a:r>
            <a:r>
              <a:rPr lang="en-US" altLang="zh-CN" sz="2800" dirty="0" err="1">
                <a:gradFill>
                  <a:gsLst>
                    <a:gs pos="0">
                      <a:srgbClr val="E30000"/>
                    </a:gs>
                    <a:gs pos="100000">
                      <a:srgbClr val="760303"/>
                    </a:gs>
                  </a:gsLst>
                  <a:lin scaled="0"/>
                </a:gradFill>
                <a:sym typeface="+mn-ea"/>
              </a:rPr>
              <a:t>DLP~</a:t>
            </a:r>
            <a:r>
              <a:rPr lang="en-US" altLang="zh-CN" sz="2800" dirty="0" err="1">
                <a:gradFill>
                  <a:gsLst>
                    <a:gs pos="0">
                      <a:srgbClr val="E30000"/>
                    </a:gs>
                    <a:gs pos="100000">
                      <a:srgbClr val="760303"/>
                    </a:gs>
                  </a:gsLst>
                  <a:lin scaled="0"/>
                </a:gradFill>
              </a:rPr>
              <a:t>Type</a:t>
            </a:r>
            <a:r>
              <a:rPr lang="en-US" altLang="zh-CN" sz="2800" dirty="0">
                <a:gradFill>
                  <a:gsLst>
                    <a:gs pos="0">
                      <a:srgbClr val="E30000"/>
                    </a:gs>
                    <a:gs pos="100000">
                      <a:srgbClr val="760303"/>
                    </a:gs>
                  </a:gsLst>
                  <a:lin scaled="0"/>
                </a:gradFill>
              </a:rPr>
              <a:t> of DLLP Payload is 1</a:t>
            </a:r>
            <a:endParaRPr lang="zh-CN" altLang="en-US" sz="2800" dirty="0">
              <a:gradFill>
                <a:gsLst>
                  <a:gs pos="0">
                    <a:srgbClr val="E30000"/>
                  </a:gs>
                  <a:gs pos="100000">
                    <a:srgbClr val="760303"/>
                  </a:gs>
                </a:gsLst>
                <a:lin scaled="0"/>
              </a:gradFill>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7"/>
          <a:stretch>
            <a:fillRect/>
          </a:stretch>
        </p:blipFill>
        <p:spPr>
          <a:xfrm>
            <a:off x="50721" y="884057"/>
            <a:ext cx="2976563" cy="1440180"/>
          </a:xfrm>
          <a:prstGeom prst="rect">
            <a:avLst/>
          </a:prstGeom>
        </p:spPr>
      </p:pic>
      <p:sp>
        <p:nvSpPr>
          <p:cNvPr id="5" name="标题 6"/>
          <p:cNvSpPr>
            <a:spLocks noGrp="1"/>
          </p:cNvSpPr>
          <p:nvPr>
            <p:ph type="title"/>
            <p:custDataLst>
              <p:tags r:id="rId2"/>
            </p:custDataLst>
          </p:nvPr>
        </p:nvSpPr>
        <p:spPr>
          <a:xfrm>
            <a:off x="113658" y="145256"/>
            <a:ext cx="6381274" cy="345758"/>
          </a:xfrm>
        </p:spPr>
        <p:txBody>
          <a:bodyPr>
            <a:noAutofit/>
          </a:bodyPr>
          <a:lstStyle/>
          <a:p>
            <a:pPr algn="l"/>
            <a:r>
              <a:rPr lang="en-US" sz="2100" b="1" dirty="0">
                <a:gradFill>
                  <a:gsLst>
                    <a:gs pos="0">
                      <a:srgbClr val="E30000"/>
                    </a:gs>
                    <a:gs pos="100000">
                      <a:srgbClr val="760303"/>
                    </a:gs>
                  </a:gsLst>
                  <a:lin scaled="0"/>
                </a:gradFill>
                <a:latin typeface="宋体" pitchFamily="2" charset="-122"/>
                <a:ea typeface="宋体" pitchFamily="2" charset="-122"/>
              </a:rPr>
              <a:t>Flit mode: PCIE 6.0</a:t>
            </a:r>
            <a:r>
              <a:rPr lang="zh-CN" altLang="en-US" sz="2100" b="1" dirty="0">
                <a:gradFill>
                  <a:gsLst>
                    <a:gs pos="0">
                      <a:srgbClr val="E30000"/>
                    </a:gs>
                    <a:gs pos="100000">
                      <a:srgbClr val="760303"/>
                    </a:gs>
                  </a:gsLst>
                  <a:lin scaled="0"/>
                </a:gradFill>
                <a:latin typeface="宋体" pitchFamily="2" charset="-122"/>
                <a:ea typeface="宋体" pitchFamily="2" charset="-122"/>
              </a:rPr>
              <a:t>引入</a:t>
            </a:r>
          </a:p>
        </p:txBody>
      </p:sp>
      <p:sp>
        <p:nvSpPr>
          <p:cNvPr id="6" name="文本框 5"/>
          <p:cNvSpPr txBox="1"/>
          <p:nvPr/>
        </p:nvSpPr>
        <p:spPr>
          <a:xfrm>
            <a:off x="4427984" y="3509487"/>
            <a:ext cx="4280059" cy="646331"/>
          </a:xfrm>
          <a:prstGeom prst="rect">
            <a:avLst/>
          </a:prstGeom>
          <a:noFill/>
        </p:spPr>
        <p:txBody>
          <a:bodyPr wrap="square" rtlCol="0" anchor="t">
            <a:spAutoFit/>
          </a:bodyPr>
          <a:lstStyle/>
          <a:p>
            <a:r>
              <a:rPr lang="zh-CN" altLang="en-US" sz="1200" b="1" dirty="0">
                <a:highlight>
                  <a:srgbClr val="FFFF00"/>
                </a:highlight>
              </a:rPr>
              <a:t>PCIe 6.0被认为是PCIe问世近20年以来变化最大的一次</a:t>
            </a:r>
          </a:p>
          <a:p>
            <a:pPr marL="214630" indent="-214630">
              <a:buFont typeface="Arial" panose="020B0604020202020204" pitchFamily="34" charset="0"/>
              <a:buChar char="•"/>
            </a:pPr>
            <a:r>
              <a:rPr lang="zh-CN" altLang="en-US" sz="1200" b="1" dirty="0">
                <a:highlight>
                  <a:srgbClr val="FFFF00"/>
                </a:highlight>
              </a:rPr>
              <a:t>改用PAM4脉冲调幅信令，</a:t>
            </a:r>
            <a:r>
              <a:rPr lang="en-US" altLang="zh-CN" sz="1200" b="1" dirty="0">
                <a:highlight>
                  <a:srgbClr val="FFFF00"/>
                </a:highlight>
              </a:rPr>
              <a:t>1</a:t>
            </a:r>
            <a:r>
              <a:rPr lang="zh-CN" altLang="en-US" sz="1200" b="1" dirty="0">
                <a:highlight>
                  <a:srgbClr val="FFFF00"/>
                </a:highlight>
              </a:rPr>
              <a:t>个信号有</a:t>
            </a:r>
            <a:r>
              <a:rPr lang="en-US" altLang="zh-CN" sz="1200" b="1" dirty="0">
                <a:highlight>
                  <a:srgbClr val="FFFF00"/>
                </a:highlight>
              </a:rPr>
              <a:t>4</a:t>
            </a:r>
            <a:r>
              <a:rPr lang="zh-CN" altLang="en-US" sz="1200" b="1" dirty="0">
                <a:highlight>
                  <a:srgbClr val="FFFF00"/>
                </a:highlight>
              </a:rPr>
              <a:t>种编码</a:t>
            </a:r>
          </a:p>
          <a:p>
            <a:pPr marL="214630" indent="-214630">
              <a:buFont typeface="Arial" panose="020B0604020202020204" pitchFamily="34" charset="0"/>
              <a:buChar char="•"/>
            </a:pPr>
            <a:r>
              <a:rPr lang="zh-CN" altLang="en-US" sz="1200" b="1" dirty="0">
                <a:highlight>
                  <a:srgbClr val="FFFF00"/>
                </a:highlight>
              </a:rPr>
              <a:t>1b/1b编码，速率到达</a:t>
            </a:r>
            <a:r>
              <a:rPr lang="en-US" altLang="zh-CN" sz="1200" b="1" dirty="0">
                <a:highlight>
                  <a:srgbClr val="FFFF00"/>
                </a:highlight>
              </a:rPr>
              <a:t>64GT/s</a:t>
            </a:r>
          </a:p>
        </p:txBody>
      </p:sp>
      <p:pic>
        <p:nvPicPr>
          <p:cNvPr id="8" name="图片 7"/>
          <p:cNvPicPr>
            <a:picLocks noChangeAspect="1"/>
          </p:cNvPicPr>
          <p:nvPr>
            <p:custDataLst>
              <p:tags r:id="rId3"/>
            </p:custDataLst>
          </p:nvPr>
        </p:nvPicPr>
        <p:blipFill>
          <a:blip r:embed="rId8"/>
          <a:stretch>
            <a:fillRect/>
          </a:stretch>
        </p:blipFill>
        <p:spPr>
          <a:xfrm>
            <a:off x="2928343" y="844631"/>
            <a:ext cx="3259931" cy="2155984"/>
          </a:xfrm>
          <a:prstGeom prst="rect">
            <a:avLst/>
          </a:prstGeom>
        </p:spPr>
      </p:pic>
      <p:pic>
        <p:nvPicPr>
          <p:cNvPr id="9" name="图片 8"/>
          <p:cNvPicPr>
            <a:picLocks noChangeAspect="1"/>
          </p:cNvPicPr>
          <p:nvPr>
            <p:custDataLst>
              <p:tags r:id="rId4"/>
            </p:custDataLst>
          </p:nvPr>
        </p:nvPicPr>
        <p:blipFill>
          <a:blip r:embed="rId9"/>
          <a:stretch>
            <a:fillRect/>
          </a:stretch>
        </p:blipFill>
        <p:spPr>
          <a:xfrm>
            <a:off x="6106306" y="873792"/>
            <a:ext cx="2941796" cy="204168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07504" y="1429119"/>
            <a:ext cx="7067531" cy="5283004"/>
          </a:xfrm>
          <a:prstGeom prst="rect">
            <a:avLst/>
          </a:prstGeom>
        </p:spPr>
      </p:pic>
      <p:pic>
        <p:nvPicPr>
          <p:cNvPr id="7" name="图片 6"/>
          <p:cNvPicPr>
            <a:picLocks noChangeAspect="1"/>
          </p:cNvPicPr>
          <p:nvPr/>
        </p:nvPicPr>
        <p:blipFill>
          <a:blip r:embed="rId3"/>
          <a:stretch>
            <a:fillRect/>
          </a:stretch>
        </p:blipFill>
        <p:spPr>
          <a:xfrm>
            <a:off x="4359222" y="0"/>
            <a:ext cx="4788024" cy="142911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JjOTRhZWE0ZDBkZDdkOTRlNDYzMmNlMWJjZGFjODUifQ=="/>
  <p:tag name="KSO_WPP_MARK_KEY" val="b3e8ff99-107a-4903-8eaa-0d2cdf221fdd"/>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1212</TotalTime>
  <Words>2732</Words>
  <Application>Microsoft Office PowerPoint</Application>
  <PresentationFormat>全屏显示(4:3)</PresentationFormat>
  <Paragraphs>254</Paragraphs>
  <Slides>50</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50</vt:i4>
      </vt:variant>
    </vt:vector>
  </HeadingPairs>
  <TitlesOfParts>
    <vt:vector size="58" baseType="lpstr">
      <vt:lpstr>-apple-system</vt:lpstr>
      <vt:lpstr>PalatinoLinotype-Roman</vt:lpstr>
      <vt:lpstr>PingFang SC</vt:lpstr>
      <vt:lpstr>等线</vt:lpstr>
      <vt:lpstr>宋体</vt:lpstr>
      <vt:lpstr>Arial</vt:lpstr>
      <vt:lpstr>Wingdings</vt:lpstr>
      <vt:lpstr>默认设计模板</vt:lpstr>
      <vt:lpstr>PCI与PCIE</vt:lpstr>
      <vt:lpstr>数据链路层</vt:lpstr>
      <vt:lpstr>LLFC：FC概念</vt:lpstr>
      <vt:lpstr>LLFC：Init通告</vt:lpstr>
      <vt:lpstr>LLFC：Init过程</vt:lpstr>
      <vt:lpstr>LLFC：FC 过程</vt:lpstr>
      <vt:lpstr>LLFC：举例</vt:lpstr>
      <vt:lpstr>数据链路层</vt:lpstr>
      <vt:lpstr>数据链路层：ACK/NACK</vt:lpstr>
      <vt:lpstr>数据链路层：ACK/NACK举例</vt:lpstr>
      <vt:lpstr>事务层</vt:lpstr>
      <vt:lpstr>TLP前缀</vt:lpstr>
      <vt:lpstr>TLP格式</vt:lpstr>
      <vt:lpstr>TLP格式-Byte Enable</vt:lpstr>
      <vt:lpstr>TLP格式-各种请求格式</vt:lpstr>
      <vt:lpstr>TLP格式-Message</vt:lpstr>
      <vt:lpstr>TLP格式-Message</vt:lpstr>
      <vt:lpstr>QOS：VC概念</vt:lpstr>
      <vt:lpstr>QOS：VC仲裁</vt:lpstr>
      <vt:lpstr>QOS：VC仲裁表</vt:lpstr>
      <vt:lpstr>QOS：Port仲裁</vt:lpstr>
      <vt:lpstr>QOS：Port仲裁表</vt:lpstr>
      <vt:lpstr>中断-Legacy模式</vt:lpstr>
      <vt:lpstr>中断-PCI消息</vt:lpstr>
      <vt:lpstr>MSI</vt:lpstr>
      <vt:lpstr>MSI-X</vt:lpstr>
      <vt:lpstr>MSI/MSI-消息格式</vt:lpstr>
      <vt:lpstr>事务的序</vt:lpstr>
      <vt:lpstr>事务的序-弹性序</vt:lpstr>
      <vt:lpstr>事务的序-弱序</vt:lpstr>
      <vt:lpstr>事务的序-ID序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PCIE6 Flit layout</vt:lpstr>
      <vt:lpstr>PCIE6 FLIT模式的TLP定义</vt:lpstr>
      <vt:lpstr>PCIE6 Flit mode request</vt:lpstr>
      <vt:lpstr>PCIE6 OHCA</vt:lpstr>
      <vt:lpstr>PCIE6 OHC cont</vt:lpstr>
      <vt:lpstr>PCIE6 FLIT模式DLP~Type of DLLP Payload is 0</vt:lpstr>
      <vt:lpstr>PCIE6 FLIT模式DLP~Type of DLLP Payload is 1</vt:lpstr>
      <vt:lpstr>PowerPoint 演示文稿</vt:lpstr>
      <vt:lpstr>PowerPoint 演示文稿</vt:lpstr>
      <vt:lpstr>Flit mode: PCIE 6.0引入</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PCI与PCIE</dc:title>
  <dc:creator>86139</dc:creator>
  <cp:lastModifiedBy>Jayden Han</cp:lastModifiedBy>
  <cp:revision>1</cp:revision>
  <dcterms:created xsi:type="dcterms:W3CDTF">2025-04-07T10:56:34Z</dcterms:created>
  <dcterms:modified xsi:type="dcterms:W3CDTF">2025-04-10T02:53:25Z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57711F6B33DB4235822B3AAF9B1F135E_12</vt:lpwstr>
  </property>
</Properties>
</file>