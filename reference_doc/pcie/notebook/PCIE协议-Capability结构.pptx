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65" r:id="rId14"/>
    <p:sldId id="266" r:id="rId15"/>
    <p:sldId id="270" r:id="rId16"/>
    <p:sldId id="281" r:id="rId17"/>
    <p:sldId id="282" r:id="rId18"/>
    <p:sldId id="271" r:id="rId19"/>
    <p:sldId id="274" r:id="rId20"/>
    <p:sldId id="275" r:id="rId21"/>
    <p:sldId id="276" r:id="rId22"/>
    <p:sldId id="273" r:id="rId23"/>
    <p:sldId id="272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040" autoAdjust="0"/>
    <p:restoredTop sz="93333" autoAdjust="0"/>
  </p:normalViewPr>
  <p:slideViewPr>
    <p:cSldViewPr snapToGrid="0">
      <p:cViewPr varScale="1">
        <p:scale>
          <a:sx n="93" d="100"/>
          <a:sy n="93" d="100"/>
        </p:scale>
        <p:origin x="9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DA5B1-98BD-49C8-AEB8-FBCADE7D2823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4472F-BD2A-4751-A01F-F3704EC373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86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4472F-BD2A-4751-A01F-F3704EC3730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115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PCIe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设备可以包含多个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结构，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包括与电源管理相关、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PCIe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总线相关的结构、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与中断请求相关的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PCIe 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结构和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PCIe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扩展的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结构。在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PCIe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总线规范中，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定义了较多的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ea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结构，</a:t>
            </a:r>
            <a:r>
              <a:rPr lang="zh-CN" altLang="zh-CN" sz="1800" dirty="0">
                <a:effectLst/>
                <a:ea typeface="Times New Roman" panose="02020603050405020304" pitchFamily="18" charset="0"/>
              </a:rPr>
              <a:t>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这些结构适用于不同的应用场合。在一个指定的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PCIE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设备中，不一定支持所有的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capability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结构，系统软件程序员也不需要完全掌握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PCIE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总线规范定义的这些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capability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4472F-BD2A-4751-A01F-F3704EC3730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35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4472F-BD2A-4751-A01F-F3704EC3730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650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Mask Bits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字段的相应位为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如果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设备需要发送对应的中断请求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Pending Bits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字段的对应位将被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设备的内部逻辑置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此时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设备并不会使用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MSI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报文向中断控制器提交中断请求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；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当系统软件将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Mask Bits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字段的相应位从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1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改写为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0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设备将发送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MSI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报文向处理器提交中断请求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同时将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Pending Bit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字段的对应位清零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。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在设备驱动程序的开发中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E-BZ"/>
              </a:rPr>
              <a:t>，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有时需要联合使用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Mask Bits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E-BZ"/>
              </a:rPr>
              <a:t>Pending Bits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FZSSK--GBK1-0"/>
              </a:rPr>
              <a:t>字段防止处理器丢弃中断请求</a:t>
            </a:r>
            <a:r>
              <a:rPr lang="zh-CN" altLang="en-US" dirty="0"/>
              <a:t> 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4472F-BD2A-4751-A01F-F3704EC3730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841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9AB375-0E1A-29A9-3AF1-F5C1EB5FA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524D427-3982-79A6-D240-71E501C818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6346AE-CE81-DA5A-48C0-8347DE51D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226722-95D8-413F-73E2-B153F300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A98F52-F681-4B7C-9699-FB30752CE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36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A58144-0495-1D58-749E-72173E0E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C4E45-0235-FBEE-DB16-07CBA29D0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F9E35-19D7-53BE-F712-5001E4862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8C7038-BA2B-B155-617C-DA9BD6C15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E48DB-52EA-61A6-E1C7-6193DA64A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06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039B5-3C4E-935F-5EE9-5CBE718D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62D0E7-5C47-86FF-415C-B9CBD4D18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D8590-C840-415F-4E88-5EA12753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ED3A6-3DE1-0427-D159-4BCC03EC6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96BDF-FD21-E9B6-A75E-0E9D35A4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518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F39233-E1B7-61EB-1407-46EB2F3D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947DEB-7A2A-EBD7-EB14-DDD6ADE818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AE7718-2AC3-18C3-7E5A-8307CA087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71C278-F272-0554-07EF-84F7B979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530884-C5E4-298A-291C-AFE35175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6631D9-BE50-D472-780A-84371695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81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0E045-E304-B6BF-E39C-DB174605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513E15-A3E0-AFE3-96BC-6E1F846B6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FABC88-D59D-E3E8-EFBF-5EE8AE4BE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6937B2C-EF75-2514-52AD-D98F9653A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D30A5F-B9B1-6301-67B9-1A18330F85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2E3CEC-2ABC-6DD9-4521-B46FFF761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8D5951-6ABA-22F5-0AE8-55CA96CD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7910A7E-44A1-A09F-31C4-608F97BDA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65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D92731-6067-06FF-5AF4-718F290BA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7692B1-6721-79D8-ED27-D3C356BCE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DCBBADD-6CBB-8CAA-AD7D-D5E6756D7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FAC3B6-9D0B-94D4-914B-06A13A2F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38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82C1D2-A86A-A741-5268-284BA410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157220-49DB-189A-4479-8C8A5B7E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CEC4A-1A8D-B05A-3499-A0936B71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0516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E276F-C801-914A-7C85-98754455E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759AEA-51B6-4FD1-B8CE-4D6AD9605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3672ABF-6605-23E3-6262-005B06D17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70791-6021-5126-EB93-29ED52F0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2C3314-5A54-585A-9B0A-2EBE8FAF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403585-B083-CEEF-EFB5-B77DDDFD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263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A91A0-B019-3066-C1C1-265D3FF4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0517BF-F3D0-ABAB-B5BB-B1E1761F04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401712-F4D0-7092-21C9-7FAFC5E8C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97248-91F6-7A1D-12F6-B65D87F4C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637661-7716-D429-5B23-FE45613F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144DD3-7FF1-CE8F-5C14-10ACECDA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36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5D140-4E10-D36B-D014-87B8F5B36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066A62-55D2-E182-CA9D-C1079DF1D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F7DC4B-3E58-5AE3-8E61-B07443A2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42A655-4594-D8B0-3DCA-AC2F54E58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70CA6-E017-020B-A102-D105064A0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90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CEA1A5-1C1B-FA9C-85B3-F3AC5A893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4992F8-115D-7E1A-C222-3932CC34A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74FE7B-9382-39F4-0581-59B91176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EBC82B-D8E1-B73B-9BF7-FF6235807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33B606-220C-F484-26B4-2A17389C7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25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704406-0FD7-A665-C838-711F4D8C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9D3445-C8D6-3CA1-FD70-9C224803E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341251-61CB-A23C-79FD-3F6E61242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11CC0D-85EA-4F4D-90BA-514A7641B90E}" type="datetimeFigureOut">
              <a:rPr lang="zh-CN" altLang="en-US" smtClean="0"/>
              <a:t>2025/6/26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9BE46A-B44C-F730-258D-CD2FC5574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31C973-D3D1-66D1-8687-9074D6AA12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FA8C62-CFEB-40FA-B625-4FB9B7545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24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4F45F7-12EA-F3B6-9D27-A2B79FBB72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PCIE</a:t>
            </a:r>
            <a:r>
              <a:rPr lang="zh-CN" altLang="en-US" dirty="0"/>
              <a:t>协议</a:t>
            </a:r>
            <a:r>
              <a:rPr lang="en-US" altLang="zh-CN" dirty="0"/>
              <a:t>-Capability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6146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A8FD8780-1963-E6C9-8BCE-8C2C47A7F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69" y="-545"/>
            <a:ext cx="9028062" cy="685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03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F065C-27B8-84A0-6158-E18EAF7D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6CC668DA-2B02-DC30-70B6-5A5A6D6F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669" y="0"/>
            <a:ext cx="7640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81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6BD21-91CA-4DE1-7750-B2322588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图示&#10;&#10;AI 生成的内容可能不正确。">
            <a:extLst>
              <a:ext uri="{FF2B5EF4-FFF2-40B4-BE49-F238E27FC236}">
                <a16:creationId xmlns:a16="http://schemas.microsoft.com/office/drawing/2014/main" id="{0E07CE3B-E4B5-25EB-7050-714F787BF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079" y="343948"/>
            <a:ext cx="3981842" cy="379973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8CECF20-DFBB-FD74-4B32-58E0195D1E59}"/>
              </a:ext>
            </a:extLst>
          </p:cNvPr>
          <p:cNvSpPr txBox="1"/>
          <p:nvPr/>
        </p:nvSpPr>
        <p:spPr>
          <a:xfrm>
            <a:off x="1112939" y="4470738"/>
            <a:ext cx="996612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总线的基本配置空间中， 包含一个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Capabilities Pointer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寄存器， 该寄存器存放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Capabilities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结构链表的头指针。在一个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设备中， 可能含有多个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结构， 这些寄存器组成一个链表。其中每一个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结构都有唯一的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号， 每一个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寄存器都有一个指针，这个指针指向下一个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结构， 从而组成一个单向链表结构， 这个链表的最后一个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结构的指针为 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902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F457-13C1-5337-50FD-8A3C8436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15D4CE9A-A960-0512-E460-96420054C51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Power Management Capability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F6D4498-E302-0854-AA0C-9F96ED7D8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214" y="1662340"/>
            <a:ext cx="6593570" cy="15262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417A55B-1F19-6B7F-D089-CCF66B4DF48D}"/>
              </a:ext>
            </a:extLst>
          </p:cNvPr>
          <p:cNvSpPr txBox="1"/>
          <p:nvPr/>
        </p:nvSpPr>
        <p:spPr>
          <a:xfrm>
            <a:off x="1112939" y="3669441"/>
            <a:ext cx="996612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总线使用的软件电源管理机制与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PM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兼容。 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总线的电源管理机制需要使用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结构， 该结构由一些和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/ PCI⁃X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总线的电源管理相关的寄存器组成， 包括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Capabilities Regis⁃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ter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PMCSR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Control and Status Register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ID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字段记载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号， 其值为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0x01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637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D9A9C-D705-D52E-53CC-95F902D06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D2A90F9-36EA-A3E5-B4F1-40699341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282" y="325417"/>
            <a:ext cx="6557431" cy="195501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D50D737-D013-7A08-0DD5-6EA79762A148}"/>
              </a:ext>
            </a:extLst>
          </p:cNvPr>
          <p:cNvSpPr txBox="1"/>
          <p:nvPr/>
        </p:nvSpPr>
        <p:spPr>
          <a:xfrm>
            <a:off x="588626" y="2505670"/>
            <a:ext cx="110147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位组成， 其中所有位和字段都是只读的。 该寄存器的主要目的是记录当前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设备的物理属性， 系统软件需要从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寄存器中获得当前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设备的信息后， 才能对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PMCSR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寄存器进行修改。 </a:t>
            </a:r>
            <a:b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结构的第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字节中。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61FAA5-0323-7ADF-8EB8-7B734EA3E253}"/>
              </a:ext>
            </a:extLst>
          </p:cNvPr>
          <p:cNvSpPr txBox="1"/>
          <p:nvPr/>
        </p:nvSpPr>
        <p:spPr>
          <a:xfrm>
            <a:off x="496345" y="3429000"/>
            <a:ext cx="11199303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Version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字段只读， 记录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Power Management Capability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结构的版本号。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Clock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位只读， 该位没有被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总线使用㊀， 硬件逻辑必须将其接为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设备可以使用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PME#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信号通知设备改变电源状态， 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总线中， 如果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PME#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信号需要使用时钟 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Clock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时， 该位为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； 否则该位为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设备改变电源状态时， 将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PME#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信号置为有效， 向处理器系统提交请求。 系统软件将这个请求处理完毕后， 将通知这个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设备， 之后该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设备将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PME#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信号置为无效。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㊀　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总线使用消息报文 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Message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进行电源管理，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设备不支持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PME#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信号。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RsvdP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字段为系统保留字段。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Specific Initialization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位只读。 某些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设备在上电时处于某种工作模式， 之后可以通过重新配置运行在其他工作模式中， 此时该设备需要使用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位表示该设备可以使用自定义的电源工作方式。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AUX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（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Auxiliary device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）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Current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字段只读， 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设备需要使用辅助电源的电流强度。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设备需要使用两种电源， 一个是主电源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Vcc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另一个是辅助电源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Vaux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设备进入某种节能状态时， 主电源将停止供电， 而辅助电源需要继续供电。 该字段记录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Vaux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使用的电流强度， 其最大值为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375 mA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最小值为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即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不使用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Vaux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位只读。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设备支持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状态；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设备支持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PM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机制规定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设备可以支持四种状态， 分别为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状态。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状态时的功耗最高， 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状态时最低。 多数支持电源管理的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设备仅支持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状态， 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状态可选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Support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字段只读， 存放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设备支持的电源状态。 第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27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可以发送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消息； 第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28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状态时， 可以发送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消息； 第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29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状态时可以发送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消息； 第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D3hot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状态时可以发送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消息；第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时， 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设备处于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D3cold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状态时可以发送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消息。</a:t>
            </a:r>
            <a:r>
              <a:rPr lang="zh-CN" altLang="en-US" sz="12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581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019BE-41FF-84FB-8EB4-82AA50B3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DAA22B3-F885-2C60-6486-EA71E0139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528" y="1211229"/>
            <a:ext cx="7774944" cy="27864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F8A501D-023F-7B67-659F-23CD21416A7E}"/>
              </a:ext>
            </a:extLst>
          </p:cNvPr>
          <p:cNvSpPr txBox="1"/>
          <p:nvPr/>
        </p:nvSpPr>
        <p:spPr>
          <a:xfrm>
            <a:off x="2388066" y="4086285"/>
            <a:ext cx="7415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系统软件可以通过操作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PMCSR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寄存器， 完成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设备电源状态的迁移。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988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21208-9437-73A8-329B-FFC8F85CB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069F2AE-270D-B198-1E2E-020F7AC6459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PCIE Capability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E4F905-C8A2-FA6D-5387-0CB6FF8C4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905" y="649650"/>
            <a:ext cx="6904189" cy="42156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7D8D48-EF4A-7410-FB13-7966CEB99C54}"/>
              </a:ext>
            </a:extLst>
          </p:cNvPr>
          <p:cNvSpPr txBox="1"/>
          <p:nvPr/>
        </p:nvSpPr>
        <p:spPr>
          <a:xfrm>
            <a:off x="534098" y="4865292"/>
            <a:ext cx="11123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Express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结构存放一些和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总线相关的信息， 包括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链路和插槽的信息。 有些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设备不一定实现了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Express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结构中的所有寄存器， 或者并没有提供这些配置寄存器供系统软件访问。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DA27BD-4A53-18C2-D31D-79CE68C50906}"/>
              </a:ext>
            </a:extLst>
          </p:cNvPr>
          <p:cNvSpPr txBox="1"/>
          <p:nvPr/>
        </p:nvSpPr>
        <p:spPr>
          <a:xfrm>
            <a:off x="534098" y="5608185"/>
            <a:ext cx="111238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 ID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</a:t>
            </a:r>
            <a:r>
              <a:rPr lang="en-US" altLang="zh-CN" sz="1800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Expresss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结构使用的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号， 其值为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0x10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字段存放下一个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寄存器的地址。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Express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结构由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Express Capability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Capability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Control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Status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Capabilities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Status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Link Control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Slot Capabilities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Slot Status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等一系列寄存器组成。 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762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FDD25-CEF5-0773-D5A8-46FF9717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B52F5B5-EEDA-5252-1051-257A292B5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067" y="1101088"/>
            <a:ext cx="7893362" cy="117769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13AEF2-8A45-3058-F438-2F85655F4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824" y="2278784"/>
            <a:ext cx="7907605" cy="279927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997D2DF-F27E-740D-522E-5DB3DAB9DDFE}"/>
              </a:ext>
            </a:extLst>
          </p:cNvPr>
          <p:cNvSpPr txBox="1"/>
          <p:nvPr/>
        </p:nvSpPr>
        <p:spPr>
          <a:xfrm>
            <a:off x="9737561" y="2676674"/>
            <a:ext cx="18163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Event Collector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RC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集成的一个功能部件， 进行错误检查和处理 </a:t>
            </a:r>
            <a:r>
              <a:rPr lang="en-US" altLang="zh-CN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PME </a:t>
            </a:r>
            <a:r>
              <a:rPr lang="zh-CN" altLang="en-US" sz="11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消息， 该部件可选</a:t>
            </a:r>
            <a:r>
              <a:rPr lang="zh-CN" altLang="en-US" sz="11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9C20A6-DF89-267C-138F-F27D191F2998}"/>
              </a:ext>
            </a:extLst>
          </p:cNvPr>
          <p:cNvSpPr txBox="1"/>
          <p:nvPr/>
        </p:nvSpPr>
        <p:spPr>
          <a:xfrm>
            <a:off x="1008404" y="5343436"/>
            <a:ext cx="102634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 Express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寄存器存放与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设备相关的一些参数， 包括版本号信息、 端口描述， 当前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链路是与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插槽直接连接还是作为内置的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设备等一系列信息。 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71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D168-1F64-B6EE-5AF4-365256154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837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3D57-8515-B5AE-42E4-4818A922B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401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12DA-70A5-361F-0DFF-CCBF012C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A4147ABF-3AB2-A2C6-0DE8-AC39BBB00363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MSI Capability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95B2CE-8723-18CE-8CBC-387910C03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712" y="0"/>
            <a:ext cx="451728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6CCD204-6B4A-624D-55A0-A77A9DAB8B37}"/>
              </a:ext>
            </a:extLst>
          </p:cNvPr>
          <p:cNvSpPr txBox="1"/>
          <p:nvPr/>
        </p:nvSpPr>
        <p:spPr>
          <a:xfrm>
            <a:off x="44985" y="1101154"/>
            <a:ext cx="76297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Capability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结构共有四种组成方式， 分别是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64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位的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位和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64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位带中断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Masking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的结构。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报文可以使用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位地址或者 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64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位地址， 而且可以使用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Masking 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机制使能或者禁止某个中断源。 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172FEC-96F5-A9BF-A1A1-283ADA355A83}"/>
              </a:ext>
            </a:extLst>
          </p:cNvPr>
          <p:cNvSpPr txBox="1"/>
          <p:nvPr/>
        </p:nvSpPr>
        <p:spPr>
          <a:xfrm>
            <a:off x="107504" y="2475989"/>
            <a:ext cx="7300164" cy="3893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Capability ID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字段记载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Capability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结构的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号， 其值为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0x05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 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设备中， 每一个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结构都有唯一的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ID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号。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Next Pointer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字段存放下一个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Capability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结构的地址。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Control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字段。 该字段存放当前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机制进行中断请求的状态与控制信息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Address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字段。 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Enable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位有效时， 该字段存放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存储器写事务的目的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地址的低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位。 该字段的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31∶ 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字段有效， 系统软件可以对该字段进行读写操作； 该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字段的第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～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Upper Address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字段。 如果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64 bit Address Capable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位有效， 该字段存放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存储器写事务的目的地址的高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Data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字段， 该字段可读写。 当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Enable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位有效时， 该字段存放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报文使用的数据。 该字段保存的数值与处理器系统相关， 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设备进行初始化时， 处理器将初始化该字段， 而且不同的处理器填写该字段的规则并不相同。 如果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Multiple Message Enable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0b000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 （即该设备支持多个中断请求时），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设备可以通过改变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Message Data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字段的低位数据发送不同的中断请求。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Mask Bits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总线规定当一个设备使用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中断机制时， 最多可以使用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个中断向量， 从而一个设备最多可以发送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种中断请求。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Mask Bits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字段由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位组成，其中每一位对应一种中断请求。 当相应位为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时表示对应的中断请求被屏蔽， 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时表示允许该中断请求。 系统软件可读写该字段， 系统初始化时该字段为全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 表示允许所有中断请求。 该字段和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Pending Bits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字段对于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中断机制是可选字段， 但是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总线规范强烈建议所有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设备支持这两个字段。</a:t>
            </a:r>
          </a:p>
          <a:p>
            <a:pPr>
              <a:buNone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●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Pending Bits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字段。 该字段对于系统软件是只读位，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设备内部逻辑可以改变该字段的值。 该字段由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位组成， 并与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设备使用的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中断一一对应。 该字段需与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Mask Bits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字段联合使用。</a:t>
            </a:r>
            <a:r>
              <a:rPr lang="zh-CN" altLang="en-US" sz="1200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385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7344E-1AD2-8233-D616-EB89868B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53F1E58-5F25-E718-73F0-3DD1044D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76" y="596430"/>
            <a:ext cx="7697527" cy="51157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E9C3509-CA7A-8DE2-518E-4C940DB33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20" y="0"/>
            <a:ext cx="28614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186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1C3CE-A830-BEEE-382F-BB859E3D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5EE36B1-B426-CE2E-F230-67236CA74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627" y="0"/>
            <a:ext cx="7169373" cy="6858000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D9C25598-79E1-5D30-6BC2-CFBC008E8CE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MSI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报文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4F2237-DB94-833A-C32B-9A93CDB2E9C6}"/>
              </a:ext>
            </a:extLst>
          </p:cNvPr>
          <p:cNvSpPr txBox="1"/>
          <p:nvPr/>
        </p:nvSpPr>
        <p:spPr>
          <a:xfrm>
            <a:off x="107504" y="1180285"/>
            <a:ext cx="50441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上报中断以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memory write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报文的形式。</a:t>
            </a:r>
            <a:endParaRPr lang="en-US" altLang="zh-CN" sz="1800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发送到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GIC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去写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GIC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ITS GITS_TRANSLATOR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寄存器来产生中断通知到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CPU</a:t>
            </a:r>
          </a:p>
          <a:p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 Message Data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作为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event id</a:t>
            </a:r>
          </a:p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id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作为随路信号传输给</a:t>
            </a:r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GIC ITS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21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7D8C-D73A-8395-18A5-CF09A621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3D0BD224-9C48-2267-150A-E27C0B65FB1D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MSIX</a:t>
            </a:r>
            <a:endParaRPr lang="zh-CN" altLang="en-US" sz="3600" dirty="0">
              <a:gradFill>
                <a:gsLst>
                  <a:gs pos="0">
                    <a:srgbClr val="E30000"/>
                  </a:gs>
                  <a:gs pos="100000">
                    <a:srgbClr val="760303"/>
                  </a:gs>
                </a:gsLst>
                <a:lin scaled="0"/>
              </a:gra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759FE9-CA81-A02C-A672-64DFD3C6C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207" y="0"/>
            <a:ext cx="6972793" cy="42261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38DDE4-0A70-C07C-1A36-6291BF93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5746030"/>
            <a:ext cx="5250098" cy="92333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1916696-2CA7-E72B-ACC4-D525644F568D}"/>
              </a:ext>
            </a:extLst>
          </p:cNvPr>
          <p:cNvSpPr txBox="1"/>
          <p:nvPr/>
        </p:nvSpPr>
        <p:spPr>
          <a:xfrm>
            <a:off x="107504" y="1180285"/>
            <a:ext cx="50441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跟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的差异是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MSIX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放在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BAR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空间里，由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Table BIR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PBA BIR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指定。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Index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是指向的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BAR-index</a:t>
            </a:r>
            <a:endParaRPr lang="zh-CN" altLang="en-US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050" name="Picture 2" descr="请添加图片描述">
            <a:extLst>
              <a:ext uri="{FF2B5EF4-FFF2-40B4-BE49-F238E27FC236}">
                <a16:creationId xmlns:a16="http://schemas.microsoft.com/office/drawing/2014/main" id="{84943100-B5A9-6141-254C-8775998E0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207" y="4226119"/>
            <a:ext cx="6972793" cy="2490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4546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CFDB-6BD8-AAD5-E2DB-5131DE8A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A2F068-7284-A8B7-53B5-574ADD972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40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925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B1D0-DA23-F79C-5362-EAC47B603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4859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96F9A-963B-A692-AFE4-F8E1A801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">
            <a:extLst>
              <a:ext uri="{FF2B5EF4-FFF2-40B4-BE49-F238E27FC236}">
                <a16:creationId xmlns:a16="http://schemas.microsoft.com/office/drawing/2014/main" id="{49C65CE1-0D4C-C604-C1A5-908A65FE36AC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4" y="188640"/>
            <a:ext cx="8508365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ARI Capability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93BBFF-22F6-6B7E-5C92-78C4298A21BD}"/>
              </a:ext>
            </a:extLst>
          </p:cNvPr>
          <p:cNvSpPr txBox="1"/>
          <p:nvPr/>
        </p:nvSpPr>
        <p:spPr>
          <a:xfrm>
            <a:off x="107503" y="872060"/>
            <a:ext cx="1165640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ARI: Alternative Routing-ID Interpretation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可替换的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Routing ID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，意味着这是一种要把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Routing ID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的部分或全部替换掉的机制。通常来讲，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Requester ID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 err="1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Comleter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ID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等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Routing ID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Bus Number, Device Number, Function Number (BDF) 3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个字段组成，其中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Bus Number 8-bit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Number 5-bit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 Number 3-bit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，一共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16-bit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。即最多支持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256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Bus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32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及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。由于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采用端到端的传输方式，每一个链路仅挂载一个设备，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数量为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恒为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，采用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5-bit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宽的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没有意义；此外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3-bit Function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最高支持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，对有多个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VM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SR-IOV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系统而言，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稍显不足。  </a:t>
            </a:r>
            <a:endParaRPr lang="en-US" altLang="zh-CN" dirty="0">
              <a:latin typeface="Times New Roman" panose="02020603050405020304" pitchFamily="18" charset="0"/>
              <a:ea typeface="华文宋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基于以上原因，从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PCIe Gen3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开始提供一种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ARI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机制，取消了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Device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字段，合并到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字段中，这样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Routing ID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便变成了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8-bit Bus Number + 8-bit Function Number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的格式，最多支持的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Bus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数量不变，支持的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Function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数量增大到</a:t>
            </a:r>
            <a:r>
              <a:rPr lang="en-US" altLang="zh-CN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256</a:t>
            </a:r>
            <a:r>
              <a:rPr lang="zh-CN" altLang="en-US" dirty="0">
                <a:latin typeface="Times New Roman" panose="02020603050405020304" pitchFamily="18" charset="0"/>
                <a:ea typeface="华文宋体" panose="02010600040101010101" pitchFamily="2" charset="-122"/>
                <a:cs typeface="Times New Roman" panose="02020603050405020304" pitchFamily="18" charset="0"/>
              </a:rPr>
              <a:t>个。</a:t>
            </a:r>
          </a:p>
        </p:txBody>
      </p:sp>
      <p:pic>
        <p:nvPicPr>
          <p:cNvPr id="7" name="Picture 2" descr="图1 ARI Extended Capability">
            <a:extLst>
              <a:ext uri="{FF2B5EF4-FFF2-40B4-BE49-F238E27FC236}">
                <a16:creationId xmlns:a16="http://schemas.microsoft.com/office/drawing/2014/main" id="{63775C2A-CE65-345A-0DC7-6ACF47E6C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3" y="4972587"/>
            <a:ext cx="12014599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5D6C37E-05E7-4A2B-2A91-AEE751FF8458}"/>
              </a:ext>
            </a:extLst>
          </p:cNvPr>
          <p:cNvSpPr txBox="1"/>
          <p:nvPr/>
        </p:nvSpPr>
        <p:spPr>
          <a:xfrm>
            <a:off x="1441398" y="4049257"/>
            <a:ext cx="98687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具备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能力的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PCIe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设备需实现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扩展能力结构。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扩展能力结构如下图图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所示，有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扩展能力头标、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控制寄存器、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能力寄存器三部分。以下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ARI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扩展能力结构仅适用于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Device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，不适用于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RP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Switch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下行端口、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RCiEP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、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RC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事件收集器等。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2225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C32AD-303C-F7F6-CC8B-CE5C1550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D265B886-DE41-0FCA-3723-5BB50DB28DA2}"/>
              </a:ext>
            </a:extLst>
          </p:cNvPr>
          <p:cNvSpPr txBox="1"/>
          <p:nvPr/>
        </p:nvSpPr>
        <p:spPr>
          <a:xfrm>
            <a:off x="467269" y="3244334"/>
            <a:ext cx="11257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ARI Extend Capability Header: ARI</a:t>
            </a:r>
            <a:r>
              <a:rPr lang="zh-CN" altLang="en-US" dirty="0"/>
              <a:t>扩展能力头，用于指示该设备具备</a:t>
            </a:r>
            <a:r>
              <a:rPr lang="en-US" altLang="zh-CN" dirty="0"/>
              <a:t>ARI</a:t>
            </a:r>
            <a:r>
              <a:rPr lang="zh-CN" altLang="en-US" dirty="0"/>
              <a:t>能力、</a:t>
            </a:r>
            <a:r>
              <a:rPr lang="en-US" altLang="zh-CN" dirty="0"/>
              <a:t>ARI</a:t>
            </a:r>
            <a:r>
              <a:rPr lang="zh-CN" altLang="en-US" dirty="0"/>
              <a:t>能力版本以及下一能力偏移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6A494B5-C5DF-EC20-2E1C-F30ECDCB9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75" y="331580"/>
            <a:ext cx="10409524" cy="2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58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AA5A-7C3B-54D9-61D7-8D546C9F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98618B84-3682-1EF3-E4C2-BD825452B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321" y="109290"/>
            <a:ext cx="7331357" cy="299751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EC1BEAB-A9E1-445D-3032-1A670F72A886}"/>
              </a:ext>
            </a:extLst>
          </p:cNvPr>
          <p:cNvSpPr txBox="1"/>
          <p:nvPr/>
        </p:nvSpPr>
        <p:spPr>
          <a:xfrm>
            <a:off x="467268" y="3106804"/>
            <a:ext cx="113993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ARI Capability</a:t>
            </a:r>
            <a:r>
              <a:rPr lang="zh-CN" altLang="en-US" dirty="0"/>
              <a:t>寄存器：</a:t>
            </a:r>
            <a:r>
              <a:rPr lang="en-US" altLang="zh-CN" dirty="0"/>
              <a:t>ARI</a:t>
            </a:r>
            <a:r>
              <a:rPr lang="zh-CN" altLang="en-US" dirty="0"/>
              <a:t>能力寄存器</a:t>
            </a:r>
            <a:endParaRPr lang="en-US" altLang="zh-CN" dirty="0"/>
          </a:p>
          <a:p>
            <a:r>
              <a:rPr lang="en-US" altLang="zh-CN" dirty="0"/>
              <a:t>	MFVC(multi-function VC) Function Groups capability</a:t>
            </a:r>
            <a:r>
              <a:rPr lang="zh-CN" altLang="en-US" dirty="0"/>
              <a:t>用以指示具备</a:t>
            </a:r>
            <a:r>
              <a:rPr lang="en-US" altLang="zh-CN" dirty="0"/>
              <a:t>MFVC</a:t>
            </a:r>
            <a:r>
              <a:rPr lang="zh-CN" altLang="en-US" dirty="0"/>
              <a:t>能力的</a:t>
            </a:r>
            <a:r>
              <a:rPr lang="en-US" altLang="zh-CN" dirty="0"/>
              <a:t>ARI</a:t>
            </a:r>
            <a:r>
              <a:rPr lang="zh-CN" altLang="en-US" dirty="0"/>
              <a:t>设备是否支持</a:t>
            </a:r>
            <a:r>
              <a:rPr lang="en-US" altLang="zh-CN" dirty="0"/>
              <a:t>Function Group</a:t>
            </a:r>
            <a:r>
              <a:rPr lang="zh-CN" altLang="en-US" dirty="0"/>
              <a:t>粒度的仲裁</a:t>
            </a:r>
            <a:endParaRPr lang="en-US" altLang="zh-CN" dirty="0"/>
          </a:p>
          <a:p>
            <a:r>
              <a:rPr lang="en-US" altLang="zh-CN" dirty="0"/>
              <a:t>	ACS Function Groups capability</a:t>
            </a:r>
            <a:r>
              <a:rPr lang="zh-CN" altLang="en-US" dirty="0"/>
              <a:t>用以指示具备</a:t>
            </a:r>
            <a:r>
              <a:rPr lang="en-US" altLang="zh-CN" dirty="0"/>
              <a:t>ACS P2P</a:t>
            </a:r>
            <a:r>
              <a:rPr lang="zh-CN" altLang="en-US" dirty="0"/>
              <a:t>出口控制的</a:t>
            </a:r>
            <a:r>
              <a:rPr lang="en-US" altLang="zh-CN" dirty="0"/>
              <a:t>ARI</a:t>
            </a:r>
            <a:r>
              <a:rPr lang="zh-CN" altLang="en-US" dirty="0"/>
              <a:t>设备是否支持</a:t>
            </a:r>
            <a:r>
              <a:rPr lang="en-US" altLang="zh-CN" dirty="0"/>
              <a:t>Function Group</a:t>
            </a:r>
            <a:r>
              <a:rPr lang="zh-CN" altLang="en-US" dirty="0"/>
              <a:t>粒度的访问。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这两个字段引用与</a:t>
            </a:r>
            <a:r>
              <a:rPr lang="en-US" altLang="zh-CN" dirty="0"/>
              <a:t>Function0,</a:t>
            </a:r>
            <a:r>
              <a:rPr lang="zh-CN" altLang="en-US" dirty="0"/>
              <a:t>其余</a:t>
            </a:r>
            <a:r>
              <a:rPr lang="en-US" altLang="zh-CN" dirty="0"/>
              <a:t>Function</a:t>
            </a:r>
            <a:r>
              <a:rPr lang="zh-CN" altLang="en-US" dirty="0"/>
              <a:t>该字段置零。</a:t>
            </a:r>
            <a:endParaRPr lang="en-US" altLang="zh-CN" dirty="0"/>
          </a:p>
          <a:p>
            <a:r>
              <a:rPr lang="en-US" altLang="zh-CN" dirty="0"/>
              <a:t>	Next Function Number</a:t>
            </a:r>
            <a:r>
              <a:rPr lang="zh-CN" altLang="en-US" dirty="0"/>
              <a:t>用以指示该</a:t>
            </a:r>
            <a:r>
              <a:rPr lang="en-US" altLang="zh-CN" dirty="0"/>
              <a:t>Device</a:t>
            </a:r>
            <a:r>
              <a:rPr lang="zh-CN" altLang="en-US" dirty="0"/>
              <a:t>中的下一</a:t>
            </a:r>
            <a:r>
              <a:rPr lang="en-US" altLang="zh-CN" dirty="0"/>
              <a:t>Function Number</a:t>
            </a:r>
            <a:r>
              <a:rPr lang="zh-CN" altLang="en-US" dirty="0"/>
              <a:t>。若没有则置零</a:t>
            </a:r>
          </a:p>
        </p:txBody>
      </p:sp>
    </p:spTree>
    <p:extLst>
      <p:ext uri="{BB962C8B-B14F-4D97-AF65-F5344CB8AC3E}">
        <p14:creationId xmlns:p14="http://schemas.microsoft.com/office/powerpoint/2010/main" val="12574200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302A9-C69F-77DE-C98B-1BEBDF3C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CBC7AD-DA42-456A-2264-0DBBFA2E7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762" y="0"/>
            <a:ext cx="8990476" cy="398095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C9305BF-FF76-0658-6342-2FAB66251029}"/>
              </a:ext>
            </a:extLst>
          </p:cNvPr>
          <p:cNvSpPr txBox="1"/>
          <p:nvPr/>
        </p:nvSpPr>
        <p:spPr>
          <a:xfrm>
            <a:off x="508365" y="4302572"/>
            <a:ext cx="114610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ARI Control Register: ARI</a:t>
            </a:r>
            <a:r>
              <a:rPr lang="zh-CN" altLang="en-US" dirty="0"/>
              <a:t>控制寄存器，用以开启</a:t>
            </a:r>
            <a:r>
              <a:rPr lang="en-US" altLang="zh-CN" dirty="0"/>
              <a:t>MFVS Function Group capability</a:t>
            </a:r>
            <a:r>
              <a:rPr lang="zh-CN" altLang="en-US" dirty="0"/>
              <a:t>及</a:t>
            </a:r>
            <a:r>
              <a:rPr lang="en-US" altLang="zh-CN" dirty="0"/>
              <a:t>ACS Function Groups capability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Fcuntion</a:t>
            </a:r>
            <a:r>
              <a:rPr lang="en-US" altLang="zh-CN" dirty="0"/>
              <a:t> Group</a:t>
            </a:r>
            <a:r>
              <a:rPr lang="zh-CN" altLang="en-US" dirty="0"/>
              <a:t>字段用以指示当前</a:t>
            </a:r>
            <a:r>
              <a:rPr lang="en-US" altLang="zh-CN" dirty="0"/>
              <a:t>Function</a:t>
            </a:r>
            <a:r>
              <a:rPr lang="zh-CN" altLang="en-US" dirty="0"/>
              <a:t>所属的</a:t>
            </a:r>
            <a:r>
              <a:rPr lang="en-US" altLang="zh-CN" dirty="0"/>
              <a:t>Function Group Number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8815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54BC4-CCF2-ED8F-6B99-DEE856ED9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45B69B-E4B0-57DD-122A-B2DD93867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315" y="0"/>
            <a:ext cx="6883369" cy="6858000"/>
          </a:xfrm>
          <a:prstGeom prst="rect">
            <a:avLst/>
          </a:prstGeom>
        </p:spPr>
      </p:pic>
      <p:sp>
        <p:nvSpPr>
          <p:cNvPr id="4" name="标题 6">
            <a:extLst>
              <a:ext uri="{FF2B5EF4-FFF2-40B4-BE49-F238E27FC236}">
                <a16:creationId xmlns:a16="http://schemas.microsoft.com/office/drawing/2014/main" id="{B7C9BDFB-3268-E741-8662-1F2F55AB3D2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7505" y="188640"/>
            <a:ext cx="2546810" cy="46101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ARI</a:t>
            </a:r>
            <a:r>
              <a:rPr lang="zh-CN" altLang="en-US" sz="3600" dirty="0"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</a:rPr>
              <a:t>设备拓扑</a:t>
            </a:r>
          </a:p>
        </p:txBody>
      </p:sp>
    </p:spTree>
    <p:extLst>
      <p:ext uri="{BB962C8B-B14F-4D97-AF65-F5344CB8AC3E}">
        <p14:creationId xmlns:p14="http://schemas.microsoft.com/office/powerpoint/2010/main" val="18260908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666D-5988-119A-27AD-86F2B6F0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740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020F3-33C2-1412-7172-67C45293D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227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AC43E-A436-B5CE-2378-9A114140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016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3EDA-8910-273B-1493-C901C5D7E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168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22369-B6AC-1AD0-BD55-B4130CFAD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29621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34573</TotalTime>
  <Words>2143</Words>
  <Application>Microsoft Office PowerPoint</Application>
  <PresentationFormat>宽屏</PresentationFormat>
  <Paragraphs>60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-apple-system</vt:lpstr>
      <vt:lpstr>E-BZ</vt:lpstr>
      <vt:lpstr>FZSSK--GBK1-0</vt:lpstr>
      <vt:lpstr>等线</vt:lpstr>
      <vt:lpstr>等线 Light</vt:lpstr>
      <vt:lpstr>Arial</vt:lpstr>
      <vt:lpstr>Times New Roman</vt:lpstr>
      <vt:lpstr>Office 主题​​</vt:lpstr>
      <vt:lpstr>PCIE协议-Capability</vt:lpstr>
      <vt:lpstr>PowerPoint 演示文稿</vt:lpstr>
      <vt:lpstr>PowerPoint 演示文稿</vt:lpstr>
      <vt:lpstr>PowerPoint 演示文稿</vt:lpstr>
      <vt:lpstr>Power Management Capability结构</vt:lpstr>
      <vt:lpstr>PowerPoint 演示文稿</vt:lpstr>
      <vt:lpstr>PowerPoint 演示文稿</vt:lpstr>
      <vt:lpstr>PCIE Capability结构</vt:lpstr>
      <vt:lpstr>PowerPoint 演示文稿</vt:lpstr>
      <vt:lpstr>PowerPoint 演示文稿</vt:lpstr>
      <vt:lpstr>PowerPoint 演示文稿</vt:lpstr>
      <vt:lpstr>MSI Capability结构</vt:lpstr>
      <vt:lpstr>PowerPoint 演示文稿</vt:lpstr>
      <vt:lpstr>MSI报文</vt:lpstr>
      <vt:lpstr>MSIX</vt:lpstr>
      <vt:lpstr>PowerPoint 演示文稿</vt:lpstr>
      <vt:lpstr>PowerPoint 演示文稿</vt:lpstr>
      <vt:lpstr>ARI Capability结构</vt:lpstr>
      <vt:lpstr>PowerPoint 演示文稿</vt:lpstr>
      <vt:lpstr>PowerPoint 演示文稿</vt:lpstr>
      <vt:lpstr>PowerPoint 演示文稿</vt:lpstr>
      <vt:lpstr>ARI设备拓扑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Jayden Han</dc:creator>
  <cp:lastModifiedBy>Jayden Han</cp:lastModifiedBy>
  <cp:revision>97</cp:revision>
  <dcterms:created xsi:type="dcterms:W3CDTF">2025-04-22T02:36:28Z</dcterms:created>
  <dcterms:modified xsi:type="dcterms:W3CDTF">2025-07-03T07:19:26Z</dcterms:modified>
</cp:coreProperties>
</file>