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3" r:id="rId7"/>
    <p:sldId id="264" r:id="rId8"/>
    <p:sldId id="261" r:id="rId9"/>
    <p:sldId id="262" r:id="rId10"/>
    <p:sldId id="267" r:id="rId11"/>
    <p:sldId id="268" r:id="rId12"/>
    <p:sldId id="269" r:id="rId13"/>
    <p:sldId id="265" r:id="rId14"/>
    <p:sldId id="266" r:id="rId15"/>
    <p:sldId id="275" r:id="rId16"/>
    <p:sldId id="273" r:id="rId17"/>
    <p:sldId id="274" r:id="rId18"/>
    <p:sldId id="271" r:id="rId19"/>
    <p:sldId id="272" r:id="rId20"/>
    <p:sldId id="270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5E5D5-C6B4-68C5-AB7B-A08C53099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0FDE79-668D-143B-5D1A-684E4E9E1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4BB45-2773-92D8-D513-8658C2F6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3747A-D8EE-8563-B732-C5A6ABD7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DC67A-DFE6-E2FC-C640-D1D846E9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68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7E6B9-FF80-D18E-B8B6-5A3DB5C0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452102-7DE3-56D5-C9CA-1B94EAC2E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5AB35B-1F30-1346-1EF7-97BB036E1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67CD21-604B-1378-1C7B-D8E0FA96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2B72CC-F2B1-69D3-322F-2F59FEF6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382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1854A-32EE-97B0-09EC-B4F74AFB1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D64DE8-1BCA-9BBE-2AD7-BFD6D7027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1FA18B-66CD-F854-15D3-8194ED08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5C6784-4149-6B50-868D-ADB00A96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1BEF6-5DC2-B7A7-B9F9-BBF8176D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32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1F8D2-8D2F-7E09-2158-EB4495C1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8D0D21-0215-3ED6-B376-4E9F193E2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78440-5DC7-0EC1-E4EF-A665D7AEC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9A1079-C7AF-7842-29E9-29D85E9C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529C2B-A4BA-CBB2-4EBA-110FCAA87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D803AE-1179-6283-B1F8-E28862C5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21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21F90-0C9E-1893-B093-0875AB2F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BB603F-EC3D-C5F6-AD4C-B33C770A7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465DDA-F0E2-15B6-7998-F6BC50197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AB73EB5-E5DA-51D1-D89D-7E6021022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72B9B9-2A18-2EF8-EB99-30A15AF73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908C67-BD76-EB6E-364A-933DD6A3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E51699-AE59-0A7F-1662-7DCE46A0C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1D7930-B4CF-8EA5-95C7-9F13E413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65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2A9D0-5BF5-6E27-3588-97E181EC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2EDFFE-70D7-F0CC-B109-70ECE5ADF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4BB737-212B-DAF8-D25C-FA697D8E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D64E98-60C8-A309-B592-375A63F3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82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E295FD-7C30-24B3-E047-5E3166C4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7044C4-4546-DA3C-DE47-4842E9308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511474-892C-1B8E-EA54-56929E30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0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C07BA-73F2-9CDF-1C9B-EA73E08B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A40211-F88F-AC7C-61A7-FB4BEF101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870FA2-AD12-80DA-ECD0-F64C7D775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35EA25-9ABB-2A38-2D18-EC54D8C15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068C92-A826-A06A-8B8E-BB8A245DD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31FEDF-158D-AB71-439C-1B68EEF1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03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7F02D-0500-30D0-7373-E00CD007E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C10419-54FE-C496-DD91-F8AF7120B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CD50B3-6583-FAFA-916D-ADD22408C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A65B59-1B52-F6DF-39B8-8DC4B61B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995B0E-0889-B194-36B4-4E2BCC82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05D9BF-9125-44BB-D63A-FAA6137F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336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9233B6-4D06-E983-691F-CDB55406D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25F4BC-1568-2484-E03A-8EB3C3004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07ACC0-7077-0C23-6650-B39DFF94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8C6F05-0515-C70F-58FC-7BFFFC07F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19A860-8F0E-16C9-FF43-139E5E18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96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F3E5A9-D361-D347-FFB4-73FF7DBCD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718D8A-127E-D38E-D4D3-ACD49443A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3BB445-5684-B2B3-C5C4-FDE16B76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3AAA4-8B06-5270-176F-AF21CF383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F88CAF-3E26-682D-F331-1D9A58BF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38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82C0A0-D7DF-458E-0DE5-B7198FF2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939231-09BD-B34F-6931-BD5A6EA9C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12C59-4D83-67BC-CD2C-C5DE2389D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43A6E-F523-4040-9714-5ECF3DDD241B}" type="datetimeFigureOut">
              <a:rPr lang="zh-CN" altLang="en-US" smtClean="0"/>
              <a:t>2025/5/12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B08C1B-FE1F-DE91-2AE6-E29FE4DF0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FBDFF-EC70-1142-ED3A-F55FEDE3E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35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zhida.zhihu.com/search?content_id=251447775&amp;content_type=Article&amp;match_order=1&amp;q=ATS&amp;zhida_source=entit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65248-3961-5F25-8660-96F9E20294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Synopsys Controller IP PCIe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8825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9D5FC-C7DB-42D7-56CF-3BDF4CE2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11D05D-E4FA-516F-4ED8-1223B1DC4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964" y="0"/>
            <a:ext cx="5994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2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127DA-1EFA-F03A-62B4-9C173867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C8ACEA6-F4F0-8B31-6025-014BE212E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857" y="0"/>
            <a:ext cx="5857143" cy="56857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6174915-3E7C-9A4F-C71E-BDEE97F4C38B}"/>
              </a:ext>
            </a:extLst>
          </p:cNvPr>
          <p:cNvSpPr txBox="1"/>
          <p:nvPr/>
        </p:nvSpPr>
        <p:spPr>
          <a:xfrm>
            <a:off x="0" y="0"/>
            <a:ext cx="7180219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Common Express Port Logic(CXPL) Module</a:t>
            </a:r>
          </a:p>
          <a:p>
            <a:pPr lvl="1"/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的物理层、链路层、传输层基本功能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Transmit Application-Dependent Module(XADM)</a:t>
            </a:r>
          </a:p>
          <a:p>
            <a:pPr lvl="1"/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传输层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packet transmission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Application-specific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功能：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Abitration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Flow control credit 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Transmit Application Interface Module(XAIM)</a:t>
            </a:r>
          </a:p>
          <a:p>
            <a:pPr lvl="1"/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Application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接口用于实现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packet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传输，封装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TLP header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，可选实现地址转换功能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Receive Application-Dependent Module(RADM)</a:t>
            </a:r>
          </a:p>
          <a:p>
            <a:pPr lvl="1"/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传输层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packet reception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Application-specific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功能：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TLP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进行排序和过滤。过滤规则和路由可配置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缓存和入队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TLP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TLP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路由到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controller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receive interface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RADM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维持有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cpl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lookup table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，用于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cpl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追踪和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Tx non-posted req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cpl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超时监控。指示了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cpl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没有在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timeout period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内抵达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Configuration-Dependent Module(CDM)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标准的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配置空间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Controller-specific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寄存器空间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(Port Logic Register)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Controller(PMC)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features of 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Data Bus Interface(DBI)</a:t>
            </a: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提供了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local </a:t>
            </a:r>
            <a:r>
              <a:rPr lang="en-US" altLang="zh-CN" sz="16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internal 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寄存器的机制</a:t>
            </a:r>
            <a:endParaRPr lang="en-US" altLang="zh-CN" sz="16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Message Generation Module(MSG_GEN)</a:t>
            </a: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controller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产生的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Hot Plug Control Module(HOTPLUG)</a:t>
            </a: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产生热插拔事件的中断逻辑</a:t>
            </a:r>
            <a:endParaRPr lang="en-US" altLang="zh-CN" sz="16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CXS Controller</a:t>
            </a:r>
          </a:p>
          <a:p>
            <a:pPr lvl="1"/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给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Coherent Multichip Link(CML)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用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503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6234F0C-ABA9-20C4-4091-09971F354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593" y="0"/>
            <a:ext cx="55364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1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9169E-BB84-F4ED-341B-1EF11ECD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F73EF9-E98E-55DA-B990-F7B96DA1F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751" y="0"/>
            <a:ext cx="72402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1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52154-6104-A041-7B4F-6D470F61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B9F87E-DA29-A5C7-E716-73B285F85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08" y="0"/>
            <a:ext cx="7346092" cy="6858000"/>
          </a:xfrm>
          <a:prstGeom prst="rect">
            <a:avLst/>
          </a:prstGeom>
        </p:spPr>
      </p:pic>
      <p:sp>
        <p:nvSpPr>
          <p:cNvPr id="4" name="标题 6">
            <a:extLst>
              <a:ext uri="{FF2B5EF4-FFF2-40B4-BE49-F238E27FC236}">
                <a16:creationId xmlns:a16="http://schemas.microsoft.com/office/drawing/2014/main" id="{DA3F2A16-FC26-F0A9-2252-D0F51284A5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8795" y="214765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AXI-bridge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14939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F23FF-C88F-016B-60B6-8934DED3A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457331-D4D2-79C0-5AE7-34C5C7EE0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42857" cy="13666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3AEAF50-6CBA-E2AD-392E-280E4B061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6667"/>
            <a:ext cx="5742857" cy="9842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C42570-52BA-C14B-2F9B-D089E51C8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885" y="2017987"/>
            <a:ext cx="6377115" cy="484001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EDFF775-BDE1-3440-2D6F-91A4AAB0B81C}"/>
              </a:ext>
            </a:extLst>
          </p:cNvPr>
          <p:cNvSpPr txBox="1"/>
          <p:nvPr/>
        </p:nvSpPr>
        <p:spPr>
          <a:xfrm>
            <a:off x="165462" y="2586446"/>
            <a:ext cx="5742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AXI-bridge</a:t>
            </a:r>
            <a:r>
              <a:rPr lang="zh-CN" altLang="en-US" dirty="0"/>
              <a:t>把</a:t>
            </a:r>
            <a:r>
              <a:rPr lang="en-US" altLang="zh-CN" dirty="0"/>
              <a:t>AXI</a:t>
            </a:r>
            <a:r>
              <a:rPr lang="zh-CN" altLang="en-US" dirty="0"/>
              <a:t>总线访问事务转换成</a:t>
            </a:r>
            <a:r>
              <a:rPr lang="en-US" altLang="zh-CN" dirty="0"/>
              <a:t>PCIE</a:t>
            </a:r>
            <a:r>
              <a:rPr lang="zh-CN" altLang="en-US" dirty="0"/>
              <a:t>总线访问事务</a:t>
            </a:r>
            <a:r>
              <a:rPr lang="en-US" altLang="zh-CN" dirty="0"/>
              <a:t>2</a:t>
            </a:r>
            <a:r>
              <a:rPr lang="zh-CN" altLang="en-US" dirty="0"/>
              <a:t>种方法：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 err="1"/>
              <a:t>iATU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sideband</a:t>
            </a:r>
            <a:r>
              <a:rPr lang="zh-CN" altLang="en-US" dirty="0"/>
              <a:t>信号线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7D20C95-6A0D-384A-2477-C4EE8AEB9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8" y="3899405"/>
            <a:ext cx="5667139" cy="284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3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699CC-E070-6F4B-CED9-F1D57082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0A5D22-A558-BDEC-B580-E3D83DAC0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21" y="0"/>
            <a:ext cx="90252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88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4EA4A-F875-A97B-4843-5E2B17F32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31E2AEE9-A142-F647-2EFB-EAA53F755A5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 err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iATU</a:t>
            </a:r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(Internal Address Translation Unit)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8C76AB-3722-67FE-3BAD-5E8F65B5C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675" y="649650"/>
            <a:ext cx="6856325" cy="61221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9611EE9-B445-1187-6715-C0ED01A49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70374"/>
            <a:ext cx="5335675" cy="348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20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EC4A-2F95-CB40-6BB1-F69948E3A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0DBDD89-3879-A854-3905-5C010E354FCB}"/>
              </a:ext>
            </a:extLst>
          </p:cNvPr>
          <p:cNvSpPr txBox="1"/>
          <p:nvPr/>
        </p:nvSpPr>
        <p:spPr>
          <a:xfrm>
            <a:off x="1715588" y="335336"/>
            <a:ext cx="87608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iATU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提供了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Address translation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，为不同内存域提供了地址翻译服务（与</a:t>
            </a:r>
            <a:r>
              <a:rPr lang="en-US" altLang="zh-CN" b="0" i="0" u="none" strike="noStrike" dirty="0">
                <a:solidFill>
                  <a:srgbClr val="09408E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  <a:hlinkClick r:id="rId2"/>
              </a:rPr>
              <a:t>ATS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区分），该部分寄存器可以通过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DBI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CFG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进行访问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文档中给出了一个计算公式：</a:t>
            </a:r>
          </a:p>
          <a:p>
            <a:pPr algn="l">
              <a:buNone/>
            </a:pPr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TranslatedAddress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OriginalAddress−BaseAddress+TargetAddress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具体来看看这个公式是怎么产生的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9C89CA-39C6-0E16-4F25-C99E26F5C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542" y="2176248"/>
            <a:ext cx="8328914" cy="388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34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E3CFE-35B1-18C2-503C-48EFC328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22232F-6CB0-E781-CEF3-129F9374C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059" y="0"/>
            <a:ext cx="7270083" cy="34059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2139559-AD3A-76C8-BE8B-D064AC458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124" y="3633528"/>
            <a:ext cx="7339751" cy="322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669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76CC-8692-1F83-90EA-AADCFCA6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3CF16FD7-C079-4FD6-0DF3-37C8BBE7E56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Register Configuration Space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ED16BD-7D0A-718E-2424-48C793A53535}"/>
              </a:ext>
            </a:extLst>
          </p:cNvPr>
          <p:cNvSpPr txBox="1"/>
          <p:nvPr/>
        </p:nvSpPr>
        <p:spPr>
          <a:xfrm>
            <a:off x="524691" y="892684"/>
            <a:ext cx="5860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4096 Bytes 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register space (0x000 - 0xFFF)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254669-65BD-8752-F200-002BC3DB42A9}"/>
              </a:ext>
            </a:extLst>
          </p:cNvPr>
          <p:cNvSpPr txBox="1"/>
          <p:nvPr/>
        </p:nvSpPr>
        <p:spPr>
          <a:xfrm>
            <a:off x="524691" y="1262016"/>
            <a:ext cx="1114261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 Dependent Module(CDM) Registers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solidFill>
                <a:srgbClr val="191B1F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包含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PCI-SIG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寄存器和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Port Logic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</a:t>
            </a:r>
            <a:endParaRPr lang="en-US" altLang="zh-CN" dirty="0">
              <a:solidFill>
                <a:srgbClr val="191B1F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PCI-SIG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协议里定义的寄存器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(PCI Configuration Header, Standard Capability, Extended Capability)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，配置空间范围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0x000 – 0xFFF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Port Logic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(PL)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：非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协议里定义的寄存器，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synopsys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自己定义的寄存器。有特定的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pre-defined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用途。可以再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controller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hardware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配置种移除。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寄存器的位置由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DISABLE_CFG_MAP_PL_REG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参数决定。</a:t>
            </a:r>
            <a:endParaRPr lang="en-US" altLang="zh-CN" dirty="0">
              <a:solidFill>
                <a:srgbClr val="191B1F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DISABLE_CFG_MAP_PL_REG=0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寄存器在配置空间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(0x000-0xFFF)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内部，可以通过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CFG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寄存器可以被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memory-mapped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IO-mapped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到一个可配置的地址范围，并通过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MEM/IO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endParaRPr lang="en-US" altLang="zh-CN" dirty="0">
              <a:solidFill>
                <a:srgbClr val="191B1F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DISABLE_CFG_MAP_PL_REG=1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寄存器独立于配置空间外部，地址范围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0x000-0xFFF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。不能通过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CFG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PL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寄存器可以被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memory-mapped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到一个可配置的地址范围，并通过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A0178-BC04-1C3B-1205-147D0D17CED6}"/>
              </a:ext>
            </a:extLst>
          </p:cNvPr>
          <p:cNvSpPr txBox="1"/>
          <p:nvPr/>
        </p:nvSpPr>
        <p:spPr>
          <a:xfrm>
            <a:off x="779417" y="4585133"/>
            <a:ext cx="10887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所有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共享一组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iATU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Port Logic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寄存器。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iATU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Port Logic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寄存器位于配置空间外部一个地址范围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0x000-0xFFF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内。不能通过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CFG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请求访问到。可以被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memory-mapped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到一个可配置的地址范围，并通过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F07F78-978A-1D51-30BB-C6103E26E562}"/>
              </a:ext>
            </a:extLst>
          </p:cNvPr>
          <p:cNvSpPr txBox="1"/>
          <p:nvPr/>
        </p:nvSpPr>
        <p:spPr>
          <a:xfrm>
            <a:off x="779416" y="5595984"/>
            <a:ext cx="109510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所有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共享一组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DMA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Port Logic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寄存器。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iATU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Port Logic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寄存器位于配置空间外部一个地址范围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0x000-0xFFF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内。不能通过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CFG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请求访问到。可以被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memory-mapped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到一个可配置的地址范围，并通过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840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064E0-F091-9B69-9567-4551275E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9D1BEC-24E8-065F-D75F-EDBE370E6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89" y="0"/>
            <a:ext cx="105716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26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4C1-AD9D-0CE2-8C56-25E34A6F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08D7742-A3D6-2AA6-8061-0EAF4FB07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57" y="0"/>
            <a:ext cx="10689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5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B6322-C3F9-9613-82E6-E45FAE63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11E893-84B8-7F24-88C1-048E5095A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47707"/>
            <a:ext cx="12192000" cy="2110293"/>
          </a:xfrm>
          <a:prstGeom prst="rect">
            <a:avLst/>
          </a:prstGeom>
        </p:spPr>
      </p:pic>
      <p:sp>
        <p:nvSpPr>
          <p:cNvPr id="4" name="标题 6">
            <a:extLst>
              <a:ext uri="{FF2B5EF4-FFF2-40B4-BE49-F238E27FC236}">
                <a16:creationId xmlns:a16="http://schemas.microsoft.com/office/drawing/2014/main" id="{EAC1C5E1-A338-86D1-19DD-37FAAE06DBA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AXI DBI Access Details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EDF1D2-6195-0F07-A1EE-E6F195B6B68F}"/>
              </a:ext>
            </a:extLst>
          </p:cNvPr>
          <p:cNvSpPr txBox="1"/>
          <p:nvPr/>
        </p:nvSpPr>
        <p:spPr>
          <a:xfrm>
            <a:off x="315684" y="718513"/>
            <a:ext cx="117805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DBI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地址必须是一个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地址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addr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[1:0]=2b00)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，并且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CDM selection=0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selection bit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bit[13]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AXI shared DBI subordinate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模式下，必须设置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slv_armisc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_info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[21]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slv_awmis_info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[21]=1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来指示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request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是发往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DBI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的，并不是一个普通的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outbound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PF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个数大于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时，必须编码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DBI_FUNCTION_BANK_CTRL_REG_OFF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寄存器来选择合适的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范围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去访问映射到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ELBI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的配置空间，也是通过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AXI DBI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接口访问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822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12C9-681B-CA24-F99A-2124017B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34F682F3-3F13-9D02-20FF-6C3D852A5B9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ECAM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662B85-7DD1-183C-5B1A-90C3270EC5FB}"/>
              </a:ext>
            </a:extLst>
          </p:cNvPr>
          <p:cNvSpPr txBox="1"/>
          <p:nvPr/>
        </p:nvSpPr>
        <p:spPr>
          <a:xfrm>
            <a:off x="524691" y="892684"/>
            <a:ext cx="5860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CX_SBSA_ECAM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参数控制是否使能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ECAM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特性</a:t>
            </a:r>
          </a:p>
        </p:txBody>
      </p:sp>
    </p:spTree>
    <p:extLst>
      <p:ext uri="{BB962C8B-B14F-4D97-AF65-F5344CB8AC3E}">
        <p14:creationId xmlns:p14="http://schemas.microsoft.com/office/powerpoint/2010/main" val="1052365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762A0-3849-A866-E10C-5A7295D37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862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F269-E121-0A5C-81A0-96F785119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603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6D77-1778-A6AE-F54C-B6F948073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143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29A6-9EA1-64E3-157E-542EA183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615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51BDD-9B7E-E34F-694E-84C55D59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616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76FA-C91F-A57D-D8FD-B0984028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5537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24611</TotalTime>
  <Words>771</Words>
  <Application>Microsoft Office PowerPoint</Application>
  <PresentationFormat>宽屏</PresentationFormat>
  <Paragraphs>54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等线 Light</vt:lpstr>
      <vt:lpstr>Arial</vt:lpstr>
      <vt:lpstr>Times New Roman</vt:lpstr>
      <vt:lpstr>Wingdings</vt:lpstr>
      <vt:lpstr>Office 主题​​</vt:lpstr>
      <vt:lpstr>Synopsys Controller IP PCIe</vt:lpstr>
      <vt:lpstr>PowerPoint 演示文稿</vt:lpstr>
      <vt:lpstr>PowerPoint 演示文稿</vt:lpstr>
      <vt:lpstr>PowerPoint 演示文稿</vt:lpstr>
      <vt:lpstr>PowerPoint 演示文稿</vt:lpstr>
      <vt:lpstr>AXI-bridge</vt:lpstr>
      <vt:lpstr>PowerPoint 演示文稿</vt:lpstr>
      <vt:lpstr>PowerPoint 演示文稿</vt:lpstr>
      <vt:lpstr>iATU(Internal Address Translation Unit)</vt:lpstr>
      <vt:lpstr>PowerPoint 演示文稿</vt:lpstr>
      <vt:lpstr>PowerPoint 演示文稿</vt:lpstr>
      <vt:lpstr>Register Configuration Space</vt:lpstr>
      <vt:lpstr>PowerPoint 演示文稿</vt:lpstr>
      <vt:lpstr>PowerPoint 演示文稿</vt:lpstr>
      <vt:lpstr>AXI DBI Access Details</vt:lpstr>
      <vt:lpstr>ECAM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Jayden Han</dc:creator>
  <cp:lastModifiedBy>Jayden Han</cp:lastModifiedBy>
  <cp:revision>124</cp:revision>
  <dcterms:created xsi:type="dcterms:W3CDTF">2025-04-22T08:40:12Z</dcterms:created>
  <dcterms:modified xsi:type="dcterms:W3CDTF">2025-05-13T06:58:37Z</dcterms:modified>
</cp:coreProperties>
</file>