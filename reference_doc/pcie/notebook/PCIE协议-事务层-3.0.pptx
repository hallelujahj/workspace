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15"/>
    <p:sldId id="269" r:id="rId16"/>
    <p:sldId id="270" r:id="rId17"/>
    <p:sldId id="271" r:id="rId18"/>
    <p:sldId id="272" r:id="rId19"/>
    <p:sldId id="274" r:id="rId20"/>
    <p:sldId id="283" r:id="rId21"/>
    <p:sldId id="275" r:id="rId22"/>
    <p:sldId id="278" r:id="rId23"/>
    <p:sldId id="279" r:id="rId24"/>
    <p:sldId id="280" r:id="rId25"/>
    <p:sldId id="281" r:id="rId26"/>
    <p:sldId id="282" r:id="rId27"/>
    <p:sldId id="276" r:id="rId28"/>
    <p:sldId id="277"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48" autoAdjust="0"/>
  </p:normalViewPr>
  <p:slideViewPr>
    <p:cSldViewPr snapToGrid="0">
      <p:cViewPr varScale="1">
        <p:scale>
          <a:sx n="101" d="100"/>
          <a:sy n="101" d="100"/>
        </p:scale>
        <p:origin x="6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AA8A96-094B-4A18-81A3-C48DB1DF3CA0}" type="datetimeFigureOut">
              <a:rPr lang="zh-CN" altLang="en-US" smtClean="0"/>
              <a:t>2025/5/12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B3D97D-0215-411C-B390-5D5891D681D8}" type="slidenum">
              <a:rPr lang="zh-CN" altLang="en-US" smtClean="0"/>
              <a:t>‹#›</a:t>
            </a:fld>
            <a:endParaRPr lang="zh-CN" altLang="en-US"/>
          </a:p>
        </p:txBody>
      </p:sp>
    </p:spTree>
    <p:extLst>
      <p:ext uri="{BB962C8B-B14F-4D97-AF65-F5344CB8AC3E}">
        <p14:creationId xmlns:p14="http://schemas.microsoft.com/office/powerpoint/2010/main" val="89851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5"/>
          </p:nvPr>
        </p:nvSpPr>
        <p:spPr/>
        <p:txBody>
          <a:bodyPr/>
          <a:lstStyle/>
          <a:p>
            <a:fld id="{FEB3D97D-0215-411C-B390-5D5891D681D8}" type="slidenum">
              <a:rPr lang="zh-CN" altLang="en-US" smtClean="0"/>
              <a:t>4</a:t>
            </a:fld>
            <a:endParaRPr lang="zh-CN" altLang="en-US"/>
          </a:p>
        </p:txBody>
      </p:sp>
    </p:spTree>
    <p:extLst>
      <p:ext uri="{BB962C8B-B14F-4D97-AF65-F5344CB8AC3E}">
        <p14:creationId xmlns:p14="http://schemas.microsoft.com/office/powerpoint/2010/main" val="3457607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FZSSK--GBK1-0"/>
              </a:rPr>
              <a:t>存储器读和写请求</a:t>
            </a:r>
            <a:r>
              <a:rPr lang="zh-CN" altLang="en-US" sz="1800" b="0" i="0" dirty="0">
                <a:solidFill>
                  <a:srgbClr val="000000"/>
                </a:solidFill>
                <a:effectLst/>
                <a:latin typeface="E-BZ"/>
              </a:rPr>
              <a:t>， </a:t>
            </a:r>
            <a:r>
              <a:rPr lang="en-US" altLang="zh-CN" sz="1800" b="0" i="0" dirty="0">
                <a:solidFill>
                  <a:srgbClr val="000000"/>
                </a:solidFill>
                <a:effectLst/>
                <a:latin typeface="E-BZ"/>
              </a:rPr>
              <a:t>IO </a:t>
            </a:r>
            <a:r>
              <a:rPr lang="zh-CN" altLang="en-US" sz="1800" b="0" i="0" dirty="0">
                <a:solidFill>
                  <a:srgbClr val="000000"/>
                </a:solidFill>
                <a:effectLst/>
                <a:latin typeface="FZSSK--GBK1-0"/>
              </a:rPr>
              <a:t>读和写请求</a:t>
            </a:r>
            <a:r>
              <a:rPr lang="zh-CN" altLang="en-US" sz="1800" b="0" i="0" dirty="0">
                <a:solidFill>
                  <a:srgbClr val="000000"/>
                </a:solidFill>
                <a:effectLst/>
                <a:latin typeface="E-BZ"/>
              </a:rPr>
              <a:t>， </a:t>
            </a:r>
            <a:r>
              <a:rPr lang="zh-CN" altLang="en-US" sz="1800" b="0" i="0" dirty="0">
                <a:solidFill>
                  <a:srgbClr val="000000"/>
                </a:solidFill>
                <a:effectLst/>
                <a:latin typeface="FZSSK--GBK1-0"/>
              </a:rPr>
              <a:t>及配置读和写请求的 </a:t>
            </a:r>
            <a:r>
              <a:rPr lang="en-US" altLang="zh-CN" sz="1800" b="0" i="0" dirty="0">
                <a:solidFill>
                  <a:srgbClr val="000000"/>
                </a:solidFill>
                <a:effectLst/>
                <a:latin typeface="E-BZ"/>
              </a:rPr>
              <a:t>type </a:t>
            </a:r>
            <a:r>
              <a:rPr lang="zh-CN" altLang="en-US" sz="1800" b="0" i="0" dirty="0">
                <a:solidFill>
                  <a:srgbClr val="000000"/>
                </a:solidFill>
                <a:effectLst/>
                <a:latin typeface="FZSSK--GBK1-0"/>
              </a:rPr>
              <a:t>字段相同</a:t>
            </a:r>
            <a:r>
              <a:rPr lang="zh-CN" altLang="en-US" sz="1800" b="0" i="0" dirty="0">
                <a:solidFill>
                  <a:srgbClr val="000000"/>
                </a:solidFill>
                <a:effectLst/>
                <a:latin typeface="E-BZ"/>
              </a:rPr>
              <a:t>， </a:t>
            </a:r>
            <a:r>
              <a:rPr lang="zh-CN" altLang="en-US" sz="1800" b="0" i="0" dirty="0">
                <a:solidFill>
                  <a:srgbClr val="000000"/>
                </a:solidFill>
                <a:effectLst/>
                <a:latin typeface="FZSSK--GBK1-0"/>
              </a:rPr>
              <a:t>如存储器读和写请求的 </a:t>
            </a:r>
            <a:r>
              <a:rPr lang="en-US" altLang="zh-CN" sz="1800" b="0" i="0" dirty="0">
                <a:solidFill>
                  <a:srgbClr val="000000"/>
                </a:solidFill>
                <a:effectLst/>
                <a:latin typeface="E-BZ"/>
              </a:rPr>
              <a:t>Type </a:t>
            </a:r>
            <a:r>
              <a:rPr lang="zh-CN" altLang="en-US" sz="1800" b="0" i="0" dirty="0">
                <a:solidFill>
                  <a:srgbClr val="000000"/>
                </a:solidFill>
                <a:effectLst/>
                <a:latin typeface="FZSSK--GBK1-0"/>
              </a:rPr>
              <a:t>字段都为 </a:t>
            </a:r>
            <a:r>
              <a:rPr lang="en-US" altLang="zh-CN" sz="1800" b="0" i="0" dirty="0">
                <a:solidFill>
                  <a:srgbClr val="000000"/>
                </a:solidFill>
                <a:effectLst/>
                <a:latin typeface="E-BZ"/>
              </a:rPr>
              <a:t>0b0 0000</a:t>
            </a:r>
            <a:r>
              <a:rPr lang="zh-CN" altLang="en-US" sz="1800" b="0" i="0" dirty="0">
                <a:solidFill>
                  <a:srgbClr val="000000"/>
                </a:solidFill>
                <a:effectLst/>
                <a:latin typeface="E-BZ"/>
              </a:rPr>
              <a:t>。 </a:t>
            </a:r>
            <a:r>
              <a:rPr lang="zh-CN" altLang="en-US" sz="1800" b="0" i="0" dirty="0">
                <a:solidFill>
                  <a:srgbClr val="000000"/>
                </a:solidFill>
                <a:effectLst/>
                <a:latin typeface="FZSSK--GBK1-0"/>
              </a:rPr>
              <a:t>此时 </a:t>
            </a:r>
            <a:r>
              <a:rPr lang="en-US" altLang="zh-CN" sz="1800" b="0" i="0" dirty="0">
                <a:solidFill>
                  <a:srgbClr val="000000"/>
                </a:solidFill>
                <a:effectLst/>
                <a:latin typeface="E-BZ"/>
              </a:rPr>
              <a:t>PCIe </a:t>
            </a:r>
            <a:r>
              <a:rPr lang="zh-CN" altLang="en-US" sz="1800" b="0" i="0" dirty="0">
                <a:solidFill>
                  <a:srgbClr val="000000"/>
                </a:solidFill>
                <a:effectLst/>
                <a:latin typeface="FZSSK--GBK1-0"/>
              </a:rPr>
              <a:t>总线规范使用 </a:t>
            </a:r>
            <a:r>
              <a:rPr lang="en-US" altLang="zh-CN" sz="1800" b="0" i="0" dirty="0" err="1">
                <a:solidFill>
                  <a:srgbClr val="000000"/>
                </a:solidFill>
                <a:effectLst/>
                <a:latin typeface="E-BZ"/>
              </a:rPr>
              <a:t>Fmt</a:t>
            </a:r>
            <a:r>
              <a:rPr lang="en-US" altLang="zh-CN" sz="1800" b="0" i="0" dirty="0">
                <a:solidFill>
                  <a:srgbClr val="000000"/>
                </a:solidFill>
                <a:effectLst/>
                <a:latin typeface="E-BZ"/>
              </a:rPr>
              <a:t> </a:t>
            </a:r>
            <a:r>
              <a:rPr lang="zh-CN" altLang="en-US" sz="1800" b="0" i="0" dirty="0">
                <a:solidFill>
                  <a:srgbClr val="000000"/>
                </a:solidFill>
                <a:effectLst/>
                <a:latin typeface="FZSSK--GBK1-0"/>
              </a:rPr>
              <a:t>字段区分读写请求</a:t>
            </a:r>
            <a:r>
              <a:rPr lang="zh-CN" altLang="en-US" sz="1800" b="0" i="0" dirty="0">
                <a:solidFill>
                  <a:srgbClr val="000000"/>
                </a:solidFill>
                <a:effectLst/>
                <a:latin typeface="E-BZ"/>
              </a:rPr>
              <a:t>， </a:t>
            </a:r>
            <a:r>
              <a:rPr lang="zh-CN" altLang="en-US" sz="1800" b="0" i="0" dirty="0">
                <a:solidFill>
                  <a:srgbClr val="000000"/>
                </a:solidFill>
                <a:effectLst/>
                <a:latin typeface="FZSSK--GBK1-0"/>
              </a:rPr>
              <a:t>当</a:t>
            </a:r>
            <a:r>
              <a:rPr lang="en-US" altLang="zh-CN" sz="1800" b="0" i="0" dirty="0" err="1">
                <a:solidFill>
                  <a:srgbClr val="000000"/>
                </a:solidFill>
                <a:effectLst/>
                <a:latin typeface="E-BZ"/>
              </a:rPr>
              <a:t>Fmt</a:t>
            </a:r>
            <a:r>
              <a:rPr lang="en-US" altLang="zh-CN" sz="1800" b="0" i="0" dirty="0">
                <a:solidFill>
                  <a:srgbClr val="000000"/>
                </a:solidFill>
                <a:effectLst/>
                <a:latin typeface="E-BZ"/>
              </a:rPr>
              <a:t> </a:t>
            </a:r>
            <a:r>
              <a:rPr lang="zh-CN" altLang="en-US" sz="1800" b="0" i="0" dirty="0">
                <a:solidFill>
                  <a:srgbClr val="000000"/>
                </a:solidFill>
                <a:effectLst/>
                <a:latin typeface="FZSSK--GBK1-0"/>
              </a:rPr>
              <a:t>字段是 </a:t>
            </a:r>
            <a:r>
              <a:rPr lang="zh-CN" altLang="en-US" sz="1800" b="0" i="0" dirty="0">
                <a:solidFill>
                  <a:srgbClr val="000000"/>
                </a:solidFill>
                <a:effectLst/>
                <a:latin typeface="E-BZ"/>
              </a:rPr>
              <a:t>“</a:t>
            </a:r>
            <a:r>
              <a:rPr lang="zh-CN" altLang="en-US" sz="1800" b="0" i="0" dirty="0">
                <a:solidFill>
                  <a:srgbClr val="000000"/>
                </a:solidFill>
                <a:effectLst/>
                <a:latin typeface="FZSSK--GBK1-0"/>
              </a:rPr>
              <a:t>带数据</a:t>
            </a:r>
            <a:r>
              <a:rPr lang="zh-CN" altLang="en-US" sz="1800" b="0" i="0" dirty="0">
                <a:solidFill>
                  <a:srgbClr val="000000"/>
                </a:solidFill>
                <a:effectLst/>
                <a:latin typeface="E-BZ"/>
              </a:rPr>
              <a:t>” </a:t>
            </a:r>
            <a:r>
              <a:rPr lang="zh-CN" altLang="en-US" sz="1800" b="0" i="0" dirty="0">
                <a:solidFill>
                  <a:srgbClr val="000000"/>
                </a:solidFill>
                <a:effectLst/>
                <a:latin typeface="FZSSK--GBK1-0"/>
              </a:rPr>
              <a:t>的报文</a:t>
            </a:r>
            <a:r>
              <a:rPr lang="zh-CN" altLang="en-US" sz="1800" b="0" i="0" dirty="0">
                <a:solidFill>
                  <a:srgbClr val="000000"/>
                </a:solidFill>
                <a:effectLst/>
                <a:latin typeface="E-BZ"/>
              </a:rPr>
              <a:t>， </a:t>
            </a:r>
            <a:r>
              <a:rPr lang="zh-CN" altLang="en-US" sz="1800" b="0" i="0" dirty="0">
                <a:solidFill>
                  <a:srgbClr val="000000"/>
                </a:solidFill>
                <a:effectLst/>
                <a:latin typeface="FZSSK--GBK1-0"/>
              </a:rPr>
              <a:t>一定是 </a:t>
            </a:r>
            <a:r>
              <a:rPr lang="zh-CN" altLang="en-US" sz="1800" b="0" i="0" dirty="0">
                <a:solidFill>
                  <a:srgbClr val="000000"/>
                </a:solidFill>
                <a:effectLst/>
                <a:latin typeface="E-BZ"/>
              </a:rPr>
              <a:t>“</a:t>
            </a:r>
            <a:r>
              <a:rPr lang="zh-CN" altLang="en-US" sz="1800" b="0" i="0" dirty="0">
                <a:solidFill>
                  <a:srgbClr val="000000"/>
                </a:solidFill>
                <a:effectLst/>
                <a:latin typeface="FZSSK--GBK1-0"/>
              </a:rPr>
              <a:t>写报文</a:t>
            </a:r>
            <a:r>
              <a:rPr lang="zh-CN" altLang="en-US" sz="1800" b="0" i="0" dirty="0">
                <a:solidFill>
                  <a:srgbClr val="000000"/>
                </a:solidFill>
                <a:effectLst/>
                <a:latin typeface="E-BZ"/>
              </a:rPr>
              <a:t>”； </a:t>
            </a:r>
            <a:r>
              <a:rPr lang="zh-CN" altLang="en-US" sz="1800" b="0" i="0" dirty="0">
                <a:solidFill>
                  <a:srgbClr val="000000"/>
                </a:solidFill>
                <a:effectLst/>
                <a:latin typeface="FZSSK--GBK1-0"/>
              </a:rPr>
              <a:t>当 </a:t>
            </a:r>
            <a:r>
              <a:rPr lang="en-US" altLang="zh-CN" sz="1800" b="0" i="0" dirty="0" err="1">
                <a:solidFill>
                  <a:srgbClr val="000000"/>
                </a:solidFill>
                <a:effectLst/>
                <a:latin typeface="E-BZ"/>
              </a:rPr>
              <a:t>Fmt</a:t>
            </a:r>
            <a:r>
              <a:rPr lang="en-US" altLang="zh-CN" sz="1800" b="0" i="0" dirty="0">
                <a:solidFill>
                  <a:srgbClr val="000000"/>
                </a:solidFill>
                <a:effectLst/>
                <a:latin typeface="E-BZ"/>
              </a:rPr>
              <a:t> </a:t>
            </a:r>
            <a:r>
              <a:rPr lang="zh-CN" altLang="en-US" sz="1800" b="0" i="0" dirty="0">
                <a:solidFill>
                  <a:srgbClr val="000000"/>
                </a:solidFill>
                <a:effectLst/>
                <a:latin typeface="FZSSK--GBK1-0"/>
              </a:rPr>
              <a:t>字段是 </a:t>
            </a:r>
            <a:r>
              <a:rPr lang="zh-CN" altLang="en-US" sz="1800" b="0" i="0" dirty="0">
                <a:solidFill>
                  <a:srgbClr val="000000"/>
                </a:solidFill>
                <a:effectLst/>
                <a:latin typeface="E-BZ"/>
              </a:rPr>
              <a:t>“</a:t>
            </a:r>
            <a:r>
              <a:rPr lang="zh-CN" altLang="en-US" sz="1800" b="0" i="0" dirty="0">
                <a:solidFill>
                  <a:srgbClr val="000000"/>
                </a:solidFill>
                <a:effectLst/>
                <a:latin typeface="FZSSK--GBK1-0"/>
              </a:rPr>
              <a:t>不带数据</a:t>
            </a:r>
            <a:r>
              <a:rPr lang="zh-CN" altLang="en-US" sz="1800" b="0" i="0" dirty="0">
                <a:solidFill>
                  <a:srgbClr val="000000"/>
                </a:solidFill>
                <a:effectLst/>
                <a:latin typeface="E-BZ"/>
              </a:rPr>
              <a:t>” </a:t>
            </a:r>
            <a:r>
              <a:rPr lang="zh-CN" altLang="en-US" sz="1800" b="0" i="0" dirty="0">
                <a:solidFill>
                  <a:srgbClr val="000000"/>
                </a:solidFill>
                <a:effectLst/>
                <a:latin typeface="FZSSK--GBK1-0"/>
              </a:rPr>
              <a:t>的报文</a:t>
            </a:r>
            <a:r>
              <a:rPr lang="zh-CN" altLang="en-US" sz="1800" b="0" i="0" dirty="0">
                <a:solidFill>
                  <a:srgbClr val="000000"/>
                </a:solidFill>
                <a:effectLst/>
                <a:latin typeface="E-BZ"/>
              </a:rPr>
              <a:t>， </a:t>
            </a:r>
            <a:r>
              <a:rPr lang="zh-CN" altLang="en-US" sz="1800" b="0" i="0" dirty="0">
                <a:solidFill>
                  <a:srgbClr val="000000"/>
                </a:solidFill>
                <a:effectLst/>
                <a:latin typeface="FZSSK--GBK1-0"/>
              </a:rPr>
              <a:t>一定是 </a:t>
            </a:r>
            <a:r>
              <a:rPr lang="zh-CN" altLang="en-US" sz="1800" b="0" i="0" dirty="0">
                <a:solidFill>
                  <a:srgbClr val="000000"/>
                </a:solidFill>
                <a:effectLst/>
                <a:latin typeface="E-BZ"/>
              </a:rPr>
              <a:t>“</a:t>
            </a:r>
            <a:r>
              <a:rPr lang="zh-CN" altLang="en-US" sz="1800" b="0" i="0" dirty="0">
                <a:solidFill>
                  <a:srgbClr val="000000"/>
                </a:solidFill>
                <a:effectLst/>
                <a:latin typeface="FZSSK--GBK1-0"/>
              </a:rPr>
              <a:t>读报文</a:t>
            </a:r>
            <a:r>
              <a:rPr lang="zh-CN" altLang="en-US" sz="1800" b="0" i="0" dirty="0">
                <a:solidFill>
                  <a:srgbClr val="000000"/>
                </a:solidFill>
                <a:effectLst/>
                <a:latin typeface="E-BZ"/>
              </a:rPr>
              <a:t>”。</a:t>
            </a:r>
            <a:r>
              <a:rPr lang="zh-CN" altLang="en-US" dirty="0"/>
              <a:t> </a:t>
            </a:r>
            <a:br>
              <a:rPr lang="zh-CN" altLang="en-US" dirty="0"/>
            </a:br>
            <a:endParaRPr lang="zh-CN" altLang="en-US" dirty="0"/>
          </a:p>
        </p:txBody>
      </p:sp>
      <p:sp>
        <p:nvSpPr>
          <p:cNvPr id="4" name="灯片编号占位符 3"/>
          <p:cNvSpPr>
            <a:spLocks noGrp="1"/>
          </p:cNvSpPr>
          <p:nvPr>
            <p:ph type="sldNum" sz="quarter" idx="5"/>
          </p:nvPr>
        </p:nvSpPr>
        <p:spPr/>
        <p:txBody>
          <a:bodyPr/>
          <a:lstStyle/>
          <a:p>
            <a:fld id="{FEB3D97D-0215-411C-B390-5D5891D681D8}" type="slidenum">
              <a:rPr lang="zh-CN" altLang="en-US" smtClean="0"/>
              <a:t>5</a:t>
            </a:fld>
            <a:endParaRPr lang="zh-CN" altLang="en-US"/>
          </a:p>
        </p:txBody>
      </p:sp>
    </p:spTree>
    <p:extLst>
      <p:ext uri="{BB962C8B-B14F-4D97-AF65-F5344CB8AC3E}">
        <p14:creationId xmlns:p14="http://schemas.microsoft.com/office/powerpoint/2010/main" val="1912822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r>
              <a:rPr lang="zh-CN" altLang="en-US" sz="1800" b="0" i="0" dirty="0">
                <a:solidFill>
                  <a:srgbClr val="000000"/>
                </a:solidFill>
                <a:effectLst/>
                <a:latin typeface="FZSSK--GBK1-0"/>
              </a:rPr>
              <a:t>当使用标准的强序模型时</a:t>
            </a:r>
            <a:r>
              <a:rPr lang="zh-CN" altLang="en-US" sz="1800" b="0" i="0" dirty="0">
                <a:solidFill>
                  <a:srgbClr val="000000"/>
                </a:solidFill>
                <a:effectLst/>
                <a:latin typeface="E-BZ"/>
              </a:rPr>
              <a:t>， </a:t>
            </a:r>
            <a:r>
              <a:rPr lang="zh-CN" altLang="en-US" sz="1800" b="0" i="0" dirty="0">
                <a:solidFill>
                  <a:srgbClr val="000000"/>
                </a:solidFill>
                <a:effectLst/>
                <a:latin typeface="FZSSK--GBK1-0"/>
              </a:rPr>
              <a:t>在数据的整个传送路径中</a:t>
            </a:r>
            <a:r>
              <a:rPr lang="zh-CN" altLang="en-US" sz="1800" b="0" i="0" dirty="0">
                <a:solidFill>
                  <a:srgbClr val="000000"/>
                </a:solidFill>
                <a:effectLst/>
                <a:latin typeface="E-BZ"/>
              </a:rPr>
              <a:t>，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设备在处理相同类型的</a:t>
            </a:r>
            <a:r>
              <a:rPr lang="en-US" altLang="zh-CN" sz="1800" b="0" i="0" dirty="0">
                <a:solidFill>
                  <a:srgbClr val="000000"/>
                </a:solidFill>
                <a:effectLst/>
                <a:latin typeface="E-BZ"/>
              </a:rPr>
              <a:t>TLP </a:t>
            </a:r>
            <a:r>
              <a:rPr lang="zh-CN" altLang="en-US" sz="1800" b="0" i="0" dirty="0">
                <a:solidFill>
                  <a:srgbClr val="000000"/>
                </a:solidFill>
                <a:effectLst/>
                <a:latin typeface="FZSSK--GBK1-0"/>
              </a:rPr>
              <a:t>时</a:t>
            </a:r>
            <a:r>
              <a:rPr lang="zh-CN" altLang="en-US" sz="1800" b="0" i="0" dirty="0">
                <a:solidFill>
                  <a:srgbClr val="000000"/>
                </a:solidFill>
                <a:effectLst/>
                <a:latin typeface="E-BZ"/>
              </a:rPr>
              <a:t>， </a:t>
            </a:r>
            <a:r>
              <a:rPr lang="zh-CN" altLang="en-US" sz="1800" b="0" i="0" dirty="0">
                <a:solidFill>
                  <a:srgbClr val="000000"/>
                </a:solidFill>
                <a:effectLst/>
                <a:latin typeface="FZSSK--GBK1-0"/>
              </a:rPr>
              <a:t>如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设备发送两个存储器写 </a:t>
            </a:r>
            <a:r>
              <a:rPr lang="en-US" altLang="zh-CN" sz="1800" b="0" i="0" dirty="0">
                <a:solidFill>
                  <a:srgbClr val="000000"/>
                </a:solidFill>
                <a:effectLst/>
                <a:latin typeface="E-BZ"/>
              </a:rPr>
              <a:t>TLP </a:t>
            </a:r>
            <a:r>
              <a:rPr lang="zh-CN" altLang="en-US" sz="1800" b="0" i="0" dirty="0">
                <a:solidFill>
                  <a:srgbClr val="000000"/>
                </a:solidFill>
                <a:effectLst/>
                <a:latin typeface="FZSSK--GBK1-0"/>
              </a:rPr>
              <a:t>时</a:t>
            </a:r>
            <a:r>
              <a:rPr lang="zh-CN" altLang="en-US" sz="1800" b="0" i="0" dirty="0">
                <a:solidFill>
                  <a:srgbClr val="000000"/>
                </a:solidFill>
                <a:effectLst/>
                <a:latin typeface="E-BZ"/>
              </a:rPr>
              <a:t>， </a:t>
            </a:r>
            <a:r>
              <a:rPr lang="zh-CN" altLang="en-US" sz="1800" b="0" i="0" dirty="0">
                <a:solidFill>
                  <a:srgbClr val="000000"/>
                </a:solidFill>
                <a:effectLst/>
                <a:latin typeface="FZSSK--GBK1-0"/>
              </a:rPr>
              <a:t>后面的存储器写 </a:t>
            </a:r>
            <a:r>
              <a:rPr lang="en-US" altLang="zh-CN" sz="1800" b="0" i="0" dirty="0">
                <a:solidFill>
                  <a:srgbClr val="000000"/>
                </a:solidFill>
                <a:effectLst/>
                <a:latin typeface="E-BZ"/>
              </a:rPr>
              <a:t>TLP </a:t>
            </a:r>
            <a:r>
              <a:rPr lang="zh-CN" altLang="en-US" sz="1800" b="0" i="0" dirty="0">
                <a:solidFill>
                  <a:srgbClr val="000000"/>
                </a:solidFill>
                <a:effectLst/>
                <a:latin typeface="FZSSK--GBK1-0"/>
              </a:rPr>
              <a:t>必须等待前一个存储器写 </a:t>
            </a:r>
            <a:r>
              <a:rPr lang="en-US" altLang="zh-CN" sz="1800" b="0" i="0" dirty="0">
                <a:solidFill>
                  <a:srgbClr val="000000"/>
                </a:solidFill>
                <a:effectLst/>
                <a:latin typeface="E-BZ"/>
              </a:rPr>
              <a:t>TLP </a:t>
            </a:r>
            <a:r>
              <a:rPr lang="zh-CN" altLang="en-US" sz="1800" b="0" i="0" dirty="0">
                <a:solidFill>
                  <a:srgbClr val="000000"/>
                </a:solidFill>
                <a:effectLst/>
                <a:latin typeface="FZSSK--GBK1-0"/>
              </a:rPr>
              <a:t>完成后才能被处理</a:t>
            </a:r>
            <a:r>
              <a:rPr lang="zh-CN" altLang="en-US" sz="1800" b="0" i="0" dirty="0">
                <a:solidFill>
                  <a:srgbClr val="000000"/>
                </a:solidFill>
                <a:effectLst/>
                <a:latin typeface="E-BZ"/>
              </a:rPr>
              <a:t>， </a:t>
            </a:r>
            <a:r>
              <a:rPr lang="zh-CN" altLang="en-US" sz="1800" b="0" i="0" dirty="0">
                <a:solidFill>
                  <a:srgbClr val="000000"/>
                </a:solidFill>
                <a:effectLst/>
                <a:latin typeface="FZSSK--GBK1-0"/>
              </a:rPr>
              <a:t>即便当前报文在传送过程中被阻塞</a:t>
            </a:r>
            <a:r>
              <a:rPr lang="zh-CN" altLang="en-US" sz="1800" b="0" i="0" dirty="0">
                <a:solidFill>
                  <a:srgbClr val="000000"/>
                </a:solidFill>
                <a:effectLst/>
                <a:latin typeface="E-BZ"/>
              </a:rPr>
              <a:t>， </a:t>
            </a:r>
            <a:r>
              <a:rPr lang="zh-CN" altLang="en-US" sz="1800" b="0" i="0" dirty="0">
                <a:solidFill>
                  <a:srgbClr val="000000"/>
                </a:solidFill>
                <a:effectLst/>
                <a:latin typeface="FZSSK--GBK1-0"/>
              </a:rPr>
              <a:t>后一个报文也必须等待</a:t>
            </a:r>
            <a:r>
              <a:rPr lang="zh-CN" altLang="en-US" sz="1800" b="0" i="0" dirty="0">
                <a:solidFill>
                  <a:srgbClr val="000000"/>
                </a:solidFill>
                <a:effectLst/>
                <a:latin typeface="E-BZ"/>
              </a:rPr>
              <a:t>。</a:t>
            </a:r>
          </a:p>
          <a:p>
            <a:pPr>
              <a:buNone/>
            </a:pPr>
            <a:r>
              <a:rPr lang="zh-CN" altLang="en-US" sz="1800" b="0" i="0" dirty="0">
                <a:solidFill>
                  <a:srgbClr val="000000"/>
                </a:solidFill>
                <a:effectLst/>
                <a:latin typeface="FZSSK--GBK1-0"/>
              </a:rPr>
              <a:t>如果使用 </a:t>
            </a:r>
            <a:r>
              <a:rPr lang="en-US" altLang="zh-CN" sz="1800" b="0" i="0" dirty="0">
                <a:solidFill>
                  <a:srgbClr val="000000"/>
                </a:solidFill>
                <a:effectLst/>
                <a:latin typeface="E-BZ"/>
              </a:rPr>
              <a:t>Relaxed Ordering </a:t>
            </a:r>
            <a:r>
              <a:rPr lang="zh-CN" altLang="en-US" sz="1800" b="0" i="0" dirty="0">
                <a:solidFill>
                  <a:srgbClr val="000000"/>
                </a:solidFill>
                <a:effectLst/>
                <a:latin typeface="FZSSK--GBK1-0"/>
              </a:rPr>
              <a:t>模型</a:t>
            </a:r>
            <a:r>
              <a:rPr lang="zh-CN" altLang="en-US" sz="1800" b="0" i="0" dirty="0">
                <a:solidFill>
                  <a:srgbClr val="000000"/>
                </a:solidFill>
                <a:effectLst/>
                <a:latin typeface="E-BZ"/>
              </a:rPr>
              <a:t>， </a:t>
            </a:r>
            <a:r>
              <a:rPr lang="zh-CN" altLang="en-US" sz="1800" b="0" i="0" dirty="0">
                <a:solidFill>
                  <a:srgbClr val="000000"/>
                </a:solidFill>
                <a:effectLst/>
                <a:latin typeface="FZSSK--GBK1-0"/>
              </a:rPr>
              <a:t>后一个存储器写 </a:t>
            </a:r>
            <a:r>
              <a:rPr lang="en-US" altLang="zh-CN" sz="1800" b="0" i="0" dirty="0">
                <a:solidFill>
                  <a:srgbClr val="000000"/>
                </a:solidFill>
                <a:effectLst/>
                <a:latin typeface="E-BZ"/>
              </a:rPr>
              <a:t>TLP </a:t>
            </a:r>
            <a:r>
              <a:rPr lang="zh-CN" altLang="en-US" sz="1800" b="0" i="0" dirty="0">
                <a:solidFill>
                  <a:srgbClr val="000000"/>
                </a:solidFill>
                <a:effectLst/>
                <a:latin typeface="FZSSK--GBK1-0"/>
              </a:rPr>
              <a:t>可以穿越前一个存储器写 </a:t>
            </a:r>
            <a:r>
              <a:rPr lang="en-US" altLang="zh-CN" sz="1800" b="0" i="0" dirty="0">
                <a:solidFill>
                  <a:srgbClr val="000000"/>
                </a:solidFill>
                <a:effectLst/>
                <a:latin typeface="E-BZ"/>
              </a:rPr>
              <a:t>TLP</a:t>
            </a:r>
            <a:r>
              <a:rPr lang="zh-CN" altLang="en-US" sz="1800" b="0" i="0" dirty="0">
                <a:solidFill>
                  <a:srgbClr val="000000"/>
                </a:solidFill>
                <a:effectLst/>
                <a:latin typeface="E-BZ"/>
              </a:rPr>
              <a:t>，</a:t>
            </a:r>
            <a:r>
              <a:rPr lang="zh-CN" altLang="en-US" sz="1800" b="0" i="0" dirty="0">
                <a:solidFill>
                  <a:srgbClr val="000000"/>
                </a:solidFill>
                <a:effectLst/>
                <a:latin typeface="FZSSK--GBK1-0"/>
              </a:rPr>
              <a:t>提前执行</a:t>
            </a:r>
            <a:r>
              <a:rPr lang="zh-CN" altLang="en-US" sz="1800" b="0" i="0" dirty="0">
                <a:solidFill>
                  <a:srgbClr val="000000"/>
                </a:solidFill>
                <a:effectLst/>
                <a:latin typeface="E-BZ"/>
              </a:rPr>
              <a:t>， </a:t>
            </a:r>
            <a:r>
              <a:rPr lang="zh-CN" altLang="en-US" sz="1800" b="0" i="0" dirty="0">
                <a:solidFill>
                  <a:srgbClr val="000000"/>
                </a:solidFill>
                <a:effectLst/>
                <a:latin typeface="FZSSK--GBK1-0"/>
              </a:rPr>
              <a:t>从而提高了 </a:t>
            </a:r>
            <a:r>
              <a:rPr lang="en-US" altLang="zh-CN" sz="1800" b="0" i="0" dirty="0">
                <a:solidFill>
                  <a:srgbClr val="000000"/>
                </a:solidFill>
                <a:effectLst/>
                <a:latin typeface="E-BZ"/>
              </a:rPr>
              <a:t>PCIe </a:t>
            </a:r>
            <a:r>
              <a:rPr lang="zh-CN" altLang="en-US" sz="1800" b="0" i="0" dirty="0">
                <a:solidFill>
                  <a:srgbClr val="000000"/>
                </a:solidFill>
                <a:effectLst/>
                <a:latin typeface="FZSSK--GBK1-0"/>
              </a:rPr>
              <a:t>总线的利用率</a:t>
            </a:r>
            <a:r>
              <a:rPr lang="zh-CN" altLang="en-US" sz="1800" b="0" i="0" dirty="0">
                <a:solidFill>
                  <a:srgbClr val="000000"/>
                </a:solidFill>
                <a:effectLst/>
                <a:latin typeface="E-BZ"/>
              </a:rPr>
              <a:t>。 </a:t>
            </a:r>
            <a:r>
              <a:rPr lang="zh-CN" altLang="en-US" sz="1800" b="0" i="0" dirty="0">
                <a:solidFill>
                  <a:srgbClr val="000000"/>
                </a:solidFill>
                <a:effectLst/>
                <a:latin typeface="FZSSK--GBK1-0"/>
              </a:rPr>
              <a:t>有时一个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设备发出的 </a:t>
            </a:r>
            <a:r>
              <a:rPr lang="en-US" altLang="zh-CN" sz="1800" b="0" i="0" dirty="0">
                <a:solidFill>
                  <a:srgbClr val="000000"/>
                </a:solidFill>
                <a:effectLst/>
                <a:latin typeface="E-BZ"/>
              </a:rPr>
              <a:t>TLP</a:t>
            </a:r>
            <a:r>
              <a:rPr lang="zh-CN" altLang="en-US" sz="1800" b="0" i="0" dirty="0">
                <a:solidFill>
                  <a:srgbClr val="000000"/>
                </a:solidFill>
                <a:effectLst/>
                <a:latin typeface="E-BZ"/>
              </a:rPr>
              <a:t>， </a:t>
            </a:r>
            <a:r>
              <a:rPr lang="zh-CN" altLang="en-US" sz="1800" b="0" i="0" dirty="0">
                <a:solidFill>
                  <a:srgbClr val="000000"/>
                </a:solidFill>
                <a:effectLst/>
                <a:latin typeface="FZSSK--GBK1-0"/>
              </a:rPr>
              <a:t>其目的地址并不相同</a:t>
            </a:r>
            <a:r>
              <a:rPr lang="zh-CN" altLang="en-US" sz="1800" b="0" i="0" dirty="0">
                <a:solidFill>
                  <a:srgbClr val="000000"/>
                </a:solidFill>
                <a:effectLst/>
                <a:latin typeface="E-BZ"/>
              </a:rPr>
              <a:t>， </a:t>
            </a:r>
            <a:r>
              <a:rPr lang="zh-CN" altLang="en-US" sz="1800" b="0" i="0" dirty="0">
                <a:solidFill>
                  <a:srgbClr val="000000"/>
                </a:solidFill>
                <a:effectLst/>
                <a:latin typeface="FZSSK--GBK1-0"/>
              </a:rPr>
              <a:t>可能先进入发送队列的 </a:t>
            </a:r>
            <a:r>
              <a:rPr lang="en-US" altLang="zh-CN" sz="1800" b="0" i="0" dirty="0">
                <a:solidFill>
                  <a:srgbClr val="000000"/>
                </a:solidFill>
                <a:effectLst/>
                <a:latin typeface="E-BZ"/>
              </a:rPr>
              <a:t>TLP</a:t>
            </a:r>
            <a:r>
              <a:rPr lang="zh-CN" altLang="en-US" sz="1800" b="0" i="0" dirty="0">
                <a:solidFill>
                  <a:srgbClr val="000000"/>
                </a:solidFill>
                <a:effectLst/>
                <a:latin typeface="E-BZ"/>
              </a:rPr>
              <a:t>， </a:t>
            </a:r>
            <a:r>
              <a:rPr lang="zh-CN" altLang="en-US" sz="1800" b="0" i="0" dirty="0">
                <a:solidFill>
                  <a:srgbClr val="000000"/>
                </a:solidFill>
                <a:effectLst/>
                <a:latin typeface="FZSSK--GBK1-0"/>
              </a:rPr>
              <a:t>在某种情况下无法发送</a:t>
            </a:r>
            <a:r>
              <a:rPr lang="zh-CN" altLang="en-US" sz="1800" b="0" i="0" dirty="0">
                <a:solidFill>
                  <a:srgbClr val="000000"/>
                </a:solidFill>
                <a:effectLst/>
                <a:latin typeface="E-BZ"/>
              </a:rPr>
              <a:t>， </a:t>
            </a:r>
            <a:r>
              <a:rPr lang="zh-CN" altLang="en-US" sz="1800" b="0" i="0" dirty="0">
                <a:solidFill>
                  <a:srgbClr val="000000"/>
                </a:solidFill>
                <a:effectLst/>
                <a:latin typeface="FZSSK--GBK1-0"/>
              </a:rPr>
              <a:t>但这并不影响后续 </a:t>
            </a:r>
            <a:r>
              <a:rPr lang="en-US" altLang="zh-CN" sz="1800" b="0" i="0" dirty="0">
                <a:solidFill>
                  <a:srgbClr val="000000"/>
                </a:solidFill>
                <a:effectLst/>
                <a:latin typeface="E-BZ"/>
              </a:rPr>
              <a:t>TLP </a:t>
            </a:r>
            <a:r>
              <a:rPr lang="zh-CN" altLang="en-US" sz="1800" b="0" i="0" dirty="0">
                <a:solidFill>
                  <a:srgbClr val="000000"/>
                </a:solidFill>
                <a:effectLst/>
                <a:latin typeface="FZSSK--GBK1-0"/>
              </a:rPr>
              <a:t>的发送</a:t>
            </a:r>
            <a:r>
              <a:rPr lang="zh-CN" altLang="en-US" sz="1800" b="0" i="0" dirty="0">
                <a:solidFill>
                  <a:srgbClr val="000000"/>
                </a:solidFill>
                <a:effectLst/>
                <a:latin typeface="E-BZ"/>
              </a:rPr>
              <a:t>， </a:t>
            </a:r>
            <a:r>
              <a:rPr lang="zh-CN" altLang="en-US" sz="1800" b="0" i="0" dirty="0">
                <a:solidFill>
                  <a:srgbClr val="000000"/>
                </a:solidFill>
                <a:effectLst/>
                <a:latin typeface="FZSSK--GBK1-0"/>
              </a:rPr>
              <a:t>因为这两个 </a:t>
            </a:r>
            <a:r>
              <a:rPr lang="en-US" altLang="zh-CN" sz="1800" b="0" i="0" dirty="0">
                <a:solidFill>
                  <a:srgbClr val="000000"/>
                </a:solidFill>
                <a:effectLst/>
                <a:latin typeface="E-BZ"/>
              </a:rPr>
              <a:t>TLP </a:t>
            </a:r>
            <a:r>
              <a:rPr lang="zh-CN" altLang="en-US" sz="1800" b="0" i="0" dirty="0">
                <a:solidFill>
                  <a:srgbClr val="000000"/>
                </a:solidFill>
                <a:effectLst/>
                <a:latin typeface="FZSSK--GBK1-0"/>
              </a:rPr>
              <a:t>的目的地址并不相同</a:t>
            </a:r>
            <a:r>
              <a:rPr lang="zh-CN" altLang="en-US" sz="1800" b="0" i="0" dirty="0">
                <a:solidFill>
                  <a:srgbClr val="000000"/>
                </a:solidFill>
                <a:effectLst/>
                <a:latin typeface="E-BZ"/>
              </a:rPr>
              <a:t>， </a:t>
            </a:r>
            <a:r>
              <a:rPr lang="zh-CN" altLang="en-US" sz="1800" b="0" i="0" dirty="0">
                <a:solidFill>
                  <a:srgbClr val="000000"/>
                </a:solidFill>
                <a:effectLst/>
                <a:latin typeface="FZSSK--GBK1-0"/>
              </a:rPr>
              <a:t>发送条件也并不相同</a:t>
            </a:r>
            <a:r>
              <a:rPr lang="zh-CN" altLang="en-US" sz="1800" b="0" i="0" dirty="0">
                <a:solidFill>
                  <a:srgbClr val="000000"/>
                </a:solidFill>
                <a:effectLst/>
                <a:latin typeface="E-BZ"/>
              </a:rPr>
              <a:t>。</a:t>
            </a:r>
            <a:r>
              <a:rPr lang="zh-CN" altLang="en-US" dirty="0"/>
              <a:t> </a:t>
            </a:r>
            <a:br>
              <a:rPr lang="zh-CN" altLang="en-US" dirty="0"/>
            </a:br>
            <a:r>
              <a:rPr lang="zh-CN" altLang="en-US" sz="1800" b="0" i="0" dirty="0">
                <a:solidFill>
                  <a:srgbClr val="000000"/>
                </a:solidFill>
                <a:effectLst/>
                <a:latin typeface="FZSSK--GBK1-0"/>
              </a:rPr>
              <a:t>在使用 </a:t>
            </a:r>
            <a:r>
              <a:rPr lang="en-US" altLang="zh-CN" sz="1800" b="0" i="0" dirty="0">
                <a:solidFill>
                  <a:srgbClr val="000000"/>
                </a:solidFill>
                <a:effectLst/>
                <a:latin typeface="E-BZ"/>
              </a:rPr>
              <a:t>PCI </a:t>
            </a:r>
            <a:r>
              <a:rPr lang="zh-CN" altLang="en-US" sz="1800" b="0" i="0" dirty="0">
                <a:solidFill>
                  <a:srgbClr val="000000"/>
                </a:solidFill>
                <a:effectLst/>
                <a:latin typeface="FZSSK--GBK1-0"/>
              </a:rPr>
              <a:t>总线强序模型时</a:t>
            </a:r>
            <a:r>
              <a:rPr lang="zh-CN" altLang="en-US" sz="1800" b="0" i="0" dirty="0">
                <a:solidFill>
                  <a:srgbClr val="000000"/>
                </a:solidFill>
                <a:effectLst/>
                <a:latin typeface="E-BZ"/>
              </a:rPr>
              <a:t>， </a:t>
            </a:r>
            <a:r>
              <a:rPr lang="zh-CN" altLang="en-US" sz="1800" b="0" i="0" dirty="0">
                <a:solidFill>
                  <a:srgbClr val="000000"/>
                </a:solidFill>
                <a:effectLst/>
                <a:latin typeface="FZSSK--GBK1-0"/>
              </a:rPr>
              <a:t>不同种类的 </a:t>
            </a:r>
            <a:r>
              <a:rPr lang="en-US" altLang="zh-CN" sz="1800" b="0" i="0" dirty="0">
                <a:solidFill>
                  <a:srgbClr val="000000"/>
                </a:solidFill>
                <a:effectLst/>
                <a:latin typeface="E-BZ"/>
              </a:rPr>
              <a:t>TLP </a:t>
            </a:r>
            <a:r>
              <a:rPr lang="zh-CN" altLang="en-US" sz="1800" b="0" i="0" dirty="0">
                <a:solidFill>
                  <a:srgbClr val="000000"/>
                </a:solidFill>
                <a:effectLst/>
                <a:latin typeface="FZSSK--GBK1-0"/>
              </a:rPr>
              <a:t>间也可以乱序通过同一条 </a:t>
            </a:r>
            <a:r>
              <a:rPr lang="en-US" altLang="zh-CN" sz="1800" b="0" i="0" dirty="0">
                <a:solidFill>
                  <a:srgbClr val="000000"/>
                </a:solidFill>
                <a:effectLst/>
                <a:latin typeface="E-BZ"/>
              </a:rPr>
              <a:t>PCIe </a:t>
            </a:r>
            <a:r>
              <a:rPr lang="zh-CN" altLang="en-US" sz="1800" b="0" i="0" dirty="0">
                <a:solidFill>
                  <a:srgbClr val="000000"/>
                </a:solidFill>
                <a:effectLst/>
                <a:latin typeface="FZSSK--GBK1-0"/>
              </a:rPr>
              <a:t>链路</a:t>
            </a:r>
            <a:r>
              <a:rPr lang="zh-CN" altLang="en-US" sz="1800" b="0" i="0" dirty="0">
                <a:solidFill>
                  <a:srgbClr val="000000"/>
                </a:solidFill>
                <a:effectLst/>
                <a:latin typeface="E-BZ"/>
              </a:rPr>
              <a:t>， </a:t>
            </a:r>
            <a:r>
              <a:rPr lang="zh-CN" altLang="en-US" sz="1800" b="0" i="0" dirty="0">
                <a:solidFill>
                  <a:srgbClr val="000000"/>
                </a:solidFill>
                <a:effectLst/>
                <a:latin typeface="FZSSK--GBK1-0"/>
              </a:rPr>
              <a:t>比如存储器写 </a:t>
            </a:r>
            <a:r>
              <a:rPr lang="en-US" altLang="zh-CN" sz="1800" b="0" i="0" dirty="0">
                <a:solidFill>
                  <a:srgbClr val="000000"/>
                </a:solidFill>
                <a:effectLst/>
                <a:latin typeface="E-BZ"/>
              </a:rPr>
              <a:t>TLP </a:t>
            </a:r>
            <a:r>
              <a:rPr lang="zh-CN" altLang="en-US" sz="1800" b="0" i="0" dirty="0">
                <a:solidFill>
                  <a:srgbClr val="000000"/>
                </a:solidFill>
                <a:effectLst/>
                <a:latin typeface="FZSSK--GBK1-0"/>
              </a:rPr>
              <a:t>可以超越存储器读请求 </a:t>
            </a:r>
            <a:r>
              <a:rPr lang="en-US" altLang="zh-CN" sz="1800" b="0" i="0" dirty="0">
                <a:solidFill>
                  <a:srgbClr val="000000"/>
                </a:solidFill>
                <a:effectLst/>
                <a:latin typeface="E-BZ"/>
              </a:rPr>
              <a:t>TLP </a:t>
            </a:r>
            <a:r>
              <a:rPr lang="zh-CN" altLang="en-US" sz="1800" b="0" i="0" dirty="0">
                <a:solidFill>
                  <a:srgbClr val="000000"/>
                </a:solidFill>
                <a:effectLst/>
                <a:latin typeface="FZSSK--GBK1-0"/>
              </a:rPr>
              <a:t>提前进行</a:t>
            </a:r>
            <a:r>
              <a:rPr lang="zh-CN" altLang="en-US" sz="1800" b="0" i="0" dirty="0">
                <a:solidFill>
                  <a:srgbClr val="000000"/>
                </a:solidFill>
                <a:effectLst/>
                <a:latin typeface="E-BZ"/>
              </a:rPr>
              <a:t>。 </a:t>
            </a:r>
            <a:r>
              <a:rPr lang="zh-CN" altLang="en-US" sz="1800" b="0" i="0" dirty="0">
                <a:solidFill>
                  <a:srgbClr val="000000"/>
                </a:solidFill>
                <a:effectLst/>
                <a:latin typeface="FZSSK--GBK1-0"/>
              </a:rPr>
              <a:t>而 </a:t>
            </a:r>
            <a:r>
              <a:rPr lang="en-US" altLang="zh-CN" sz="1800" b="0" i="0" dirty="0">
                <a:solidFill>
                  <a:srgbClr val="000000"/>
                </a:solidFill>
                <a:effectLst/>
                <a:latin typeface="E-BZ"/>
              </a:rPr>
              <a:t>PCIe </a:t>
            </a:r>
            <a:r>
              <a:rPr lang="zh-CN" altLang="en-US" sz="1800" b="0" i="0" dirty="0">
                <a:solidFill>
                  <a:srgbClr val="000000"/>
                </a:solidFill>
                <a:effectLst/>
                <a:latin typeface="FZSSK--GBK1-0"/>
              </a:rPr>
              <a:t>总线支持</a:t>
            </a:r>
            <a:r>
              <a:rPr lang="en-US" altLang="zh-CN" sz="1800" b="0" i="0" dirty="0">
                <a:solidFill>
                  <a:srgbClr val="000000"/>
                </a:solidFill>
                <a:effectLst/>
                <a:latin typeface="E-BZ"/>
              </a:rPr>
              <a:t>Relaxed Ordering </a:t>
            </a:r>
            <a:r>
              <a:rPr lang="zh-CN" altLang="en-US" sz="1800" b="0" i="0" dirty="0">
                <a:solidFill>
                  <a:srgbClr val="000000"/>
                </a:solidFill>
                <a:effectLst/>
                <a:latin typeface="FZSSK--GBK1-0"/>
              </a:rPr>
              <a:t>模型之后</a:t>
            </a:r>
            <a:r>
              <a:rPr lang="zh-CN" altLang="en-US" sz="1800" b="0" i="0" dirty="0">
                <a:solidFill>
                  <a:srgbClr val="000000"/>
                </a:solidFill>
                <a:effectLst/>
                <a:latin typeface="E-BZ"/>
              </a:rPr>
              <a:t>， </a:t>
            </a:r>
            <a:r>
              <a:rPr lang="zh-CN" altLang="en-US" sz="1800" b="0" i="0" dirty="0">
                <a:solidFill>
                  <a:srgbClr val="000000"/>
                </a:solidFill>
                <a:effectLst/>
                <a:latin typeface="FZSSK--GBK1-0"/>
              </a:rPr>
              <a:t>在 </a:t>
            </a:r>
            <a:r>
              <a:rPr lang="en-US" altLang="zh-CN" sz="1800" b="0" i="0" dirty="0">
                <a:solidFill>
                  <a:srgbClr val="000000"/>
                </a:solidFill>
                <a:effectLst/>
                <a:latin typeface="E-BZ"/>
              </a:rPr>
              <a:t>TLP </a:t>
            </a:r>
            <a:r>
              <a:rPr lang="zh-CN" altLang="en-US" sz="1800" b="0" i="0" dirty="0">
                <a:solidFill>
                  <a:srgbClr val="000000"/>
                </a:solidFill>
                <a:effectLst/>
                <a:latin typeface="FZSSK--GBK1-0"/>
              </a:rPr>
              <a:t>的传递过程中出现乱序种类更多</a:t>
            </a:r>
            <a:r>
              <a:rPr lang="zh-CN" altLang="en-US" sz="1800" b="0" i="0" dirty="0">
                <a:solidFill>
                  <a:srgbClr val="000000"/>
                </a:solidFill>
                <a:effectLst/>
                <a:latin typeface="E-BZ"/>
              </a:rPr>
              <a:t>， </a:t>
            </a:r>
            <a:r>
              <a:rPr lang="zh-CN" altLang="en-US" sz="1800" b="0" i="0" dirty="0">
                <a:solidFill>
                  <a:srgbClr val="000000"/>
                </a:solidFill>
                <a:effectLst/>
                <a:latin typeface="FZSSK--GBK1-0"/>
              </a:rPr>
              <a:t>但是这些乱序仍然是有条件限制的</a:t>
            </a:r>
            <a:r>
              <a:rPr lang="zh-CN" altLang="en-US" sz="1800" b="0" i="0" dirty="0">
                <a:solidFill>
                  <a:srgbClr val="000000"/>
                </a:solidFill>
                <a:effectLst/>
                <a:latin typeface="E-BZ"/>
              </a:rPr>
              <a:t>。 </a:t>
            </a:r>
            <a:r>
              <a:rPr lang="zh-CN" altLang="en-US" sz="1800" b="0" i="0" dirty="0">
                <a:solidFill>
                  <a:srgbClr val="000000"/>
                </a:solidFill>
                <a:effectLst/>
                <a:latin typeface="FZSSK--GBK1-0"/>
              </a:rPr>
              <a:t>在 </a:t>
            </a:r>
            <a:r>
              <a:rPr lang="en-US" altLang="zh-CN" sz="1800" b="0" i="0" dirty="0">
                <a:solidFill>
                  <a:srgbClr val="000000"/>
                </a:solidFill>
                <a:effectLst/>
                <a:latin typeface="E-BZ"/>
              </a:rPr>
              <a:t>PCIe </a:t>
            </a:r>
            <a:r>
              <a:rPr lang="zh-CN" altLang="en-US" sz="1800" b="0" i="0" dirty="0">
                <a:solidFill>
                  <a:srgbClr val="000000"/>
                </a:solidFill>
                <a:effectLst/>
                <a:latin typeface="FZSSK--GBK1-0"/>
              </a:rPr>
              <a:t>总线规范中为了避免死锁</a:t>
            </a:r>
            <a:r>
              <a:rPr lang="zh-CN" altLang="en-US" sz="1800" b="0" i="0" dirty="0">
                <a:solidFill>
                  <a:srgbClr val="000000"/>
                </a:solidFill>
                <a:effectLst/>
                <a:latin typeface="E-BZ"/>
              </a:rPr>
              <a:t>， </a:t>
            </a:r>
            <a:r>
              <a:rPr lang="zh-CN" altLang="en-US" sz="1800" b="0" i="0" dirty="0">
                <a:solidFill>
                  <a:srgbClr val="000000"/>
                </a:solidFill>
                <a:effectLst/>
                <a:latin typeface="FZSSK--GBK1-0"/>
              </a:rPr>
              <a:t>还规定了不同报文的传送数据规则</a:t>
            </a:r>
            <a:r>
              <a:rPr lang="zh-CN" altLang="en-US" sz="1800" b="0" i="0" dirty="0">
                <a:solidFill>
                  <a:srgbClr val="000000"/>
                </a:solidFill>
                <a:effectLst/>
                <a:latin typeface="E-BZ"/>
              </a:rPr>
              <a:t>， </a:t>
            </a:r>
            <a:r>
              <a:rPr lang="zh-CN" altLang="en-US" sz="1800" b="0" i="0" dirty="0">
                <a:solidFill>
                  <a:srgbClr val="000000"/>
                </a:solidFill>
                <a:effectLst/>
                <a:latin typeface="FZSSK--GBK1-0"/>
              </a:rPr>
              <a:t>即</a:t>
            </a:r>
            <a:r>
              <a:rPr lang="en-US" altLang="zh-CN" sz="1800" b="0" i="0" dirty="0">
                <a:solidFill>
                  <a:srgbClr val="000000"/>
                </a:solidFill>
                <a:effectLst/>
                <a:latin typeface="E-BZ"/>
              </a:rPr>
              <a:t>Ordering Rules</a:t>
            </a:r>
            <a:r>
              <a:rPr lang="zh-CN" altLang="en-US" sz="1800" b="0" i="0" dirty="0">
                <a:solidFill>
                  <a:srgbClr val="000000"/>
                </a:solidFill>
                <a:effectLst/>
                <a:latin typeface="E-BZ"/>
              </a:rPr>
              <a:t>。</a:t>
            </a:r>
            <a:r>
              <a:rPr lang="zh-CN" altLang="en-US" dirty="0"/>
              <a:t> </a:t>
            </a:r>
            <a:endParaRPr lang="en-US" altLang="zh-CN" dirty="0"/>
          </a:p>
          <a:p>
            <a:pPr>
              <a:buNone/>
            </a:pPr>
            <a:r>
              <a:rPr lang="zh-CN" altLang="en-US" sz="1800" b="0" i="0" dirty="0">
                <a:solidFill>
                  <a:srgbClr val="000000"/>
                </a:solidFill>
                <a:effectLst/>
                <a:latin typeface="FZSSK--GBK1-0"/>
              </a:rPr>
              <a:t>当一个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设备对存储器进行 </a:t>
            </a:r>
            <a:r>
              <a:rPr lang="en-US" altLang="zh-CN" sz="1800" b="0" i="0" dirty="0">
                <a:solidFill>
                  <a:srgbClr val="000000"/>
                </a:solidFill>
                <a:effectLst/>
                <a:latin typeface="E-BZ"/>
              </a:rPr>
              <a:t>DMA </a:t>
            </a:r>
            <a:r>
              <a:rPr lang="zh-CN" altLang="en-US" sz="1800" b="0" i="0" dirty="0">
                <a:solidFill>
                  <a:srgbClr val="000000"/>
                </a:solidFill>
                <a:effectLst/>
                <a:latin typeface="FZSSK--GBK1-0"/>
              </a:rPr>
              <a:t>读操作时</a:t>
            </a:r>
            <a:r>
              <a:rPr lang="zh-CN" altLang="en-US" sz="1800" b="0" i="0" dirty="0">
                <a:solidFill>
                  <a:srgbClr val="000000"/>
                </a:solidFill>
                <a:effectLst/>
                <a:latin typeface="E-BZ"/>
              </a:rPr>
              <a:t>， </a:t>
            </a:r>
            <a:r>
              <a:rPr lang="zh-CN" altLang="en-US" sz="1800" b="0" i="0" dirty="0">
                <a:solidFill>
                  <a:srgbClr val="000000"/>
                </a:solidFill>
                <a:effectLst/>
                <a:latin typeface="FZSSK--GBK1-0"/>
              </a:rPr>
              <a:t>如果传送的数据非常大</a:t>
            </a:r>
            <a:r>
              <a:rPr lang="zh-CN" altLang="en-US" sz="1800" b="0" i="0" dirty="0">
                <a:solidFill>
                  <a:srgbClr val="000000"/>
                </a:solidFill>
                <a:effectLst/>
                <a:latin typeface="E-BZ"/>
              </a:rPr>
              <a:t>， </a:t>
            </a:r>
            <a:r>
              <a:rPr lang="zh-CN" altLang="en-US" sz="1800" b="0" i="0" dirty="0">
                <a:solidFill>
                  <a:srgbClr val="000000"/>
                </a:solidFill>
                <a:effectLst/>
                <a:latin typeface="FZSSK--GBK1-0"/>
              </a:rPr>
              <a:t>比如 </a:t>
            </a:r>
            <a:r>
              <a:rPr lang="en-US" altLang="zh-CN" sz="1800" b="0" i="0" dirty="0">
                <a:solidFill>
                  <a:srgbClr val="000000"/>
                </a:solidFill>
                <a:effectLst/>
                <a:latin typeface="E-BZ"/>
              </a:rPr>
              <a:t>512MB</a:t>
            </a:r>
            <a:r>
              <a:rPr lang="zh-CN" altLang="en-US" sz="1800" b="0" i="0" dirty="0">
                <a:solidFill>
                  <a:srgbClr val="000000"/>
                </a:solidFill>
                <a:effectLst/>
                <a:latin typeface="E-BZ"/>
              </a:rPr>
              <a:t>， </a:t>
            </a:r>
            <a:r>
              <a:rPr lang="en-US" altLang="zh-CN" sz="1800" b="0" i="0" dirty="0">
                <a:solidFill>
                  <a:srgbClr val="000000"/>
                </a:solidFill>
                <a:effectLst/>
                <a:latin typeface="E-BZ"/>
              </a:rPr>
              <a:t>Cache </a:t>
            </a:r>
            <a:r>
              <a:rPr lang="zh-CN" altLang="en-US" sz="1800" b="0" i="0" dirty="0">
                <a:solidFill>
                  <a:srgbClr val="000000"/>
                </a:solidFill>
                <a:effectLst/>
                <a:latin typeface="FZSSK--GBK1-0"/>
              </a:rPr>
              <a:t>的一致性操作不但不会提高 </a:t>
            </a:r>
            <a:r>
              <a:rPr lang="en-US" altLang="zh-CN" sz="1800" b="0" i="0" dirty="0">
                <a:solidFill>
                  <a:srgbClr val="000000"/>
                </a:solidFill>
                <a:effectLst/>
                <a:latin typeface="E-BZ"/>
              </a:rPr>
              <a:t>DMA </a:t>
            </a:r>
            <a:r>
              <a:rPr lang="zh-CN" altLang="en-US" sz="1800" b="0" i="0" dirty="0">
                <a:solidFill>
                  <a:srgbClr val="000000"/>
                </a:solidFill>
                <a:effectLst/>
                <a:latin typeface="FZSSK--GBK1-0"/>
              </a:rPr>
              <a:t>写的效率</a:t>
            </a:r>
            <a:r>
              <a:rPr lang="zh-CN" altLang="en-US" sz="1800" b="0" i="0" dirty="0">
                <a:solidFill>
                  <a:srgbClr val="000000"/>
                </a:solidFill>
                <a:effectLst/>
                <a:latin typeface="E-BZ"/>
              </a:rPr>
              <a:t>， </a:t>
            </a:r>
            <a:r>
              <a:rPr lang="zh-CN" altLang="en-US" sz="1800" b="0" i="0" dirty="0">
                <a:solidFill>
                  <a:srgbClr val="000000"/>
                </a:solidFill>
                <a:effectLst/>
                <a:latin typeface="FZSSK--GBK1-0"/>
              </a:rPr>
              <a:t>反而会降低</a:t>
            </a:r>
            <a:r>
              <a:rPr lang="zh-CN" altLang="en-US" sz="1800" b="0" i="0" dirty="0">
                <a:solidFill>
                  <a:srgbClr val="000000"/>
                </a:solidFill>
                <a:effectLst/>
                <a:latin typeface="E-BZ"/>
              </a:rPr>
              <a:t>。 </a:t>
            </a:r>
            <a:r>
              <a:rPr lang="zh-CN" altLang="en-US" sz="1800" b="0" i="0" dirty="0">
                <a:solidFill>
                  <a:srgbClr val="000000"/>
                </a:solidFill>
                <a:effectLst/>
                <a:latin typeface="FZSSK--GBK1-0"/>
              </a:rPr>
              <a:t>因为这个 </a:t>
            </a:r>
            <a:r>
              <a:rPr lang="en-US" altLang="zh-CN" sz="1800" b="0" i="0" dirty="0">
                <a:solidFill>
                  <a:srgbClr val="000000"/>
                </a:solidFill>
                <a:effectLst/>
                <a:latin typeface="E-BZ"/>
              </a:rPr>
              <a:t>DMA </a:t>
            </a:r>
            <a:r>
              <a:rPr lang="zh-CN" altLang="en-US" sz="1800" b="0" i="0" dirty="0">
                <a:solidFill>
                  <a:srgbClr val="000000"/>
                </a:solidFill>
                <a:effectLst/>
                <a:latin typeface="FZSSK--GBK1-0"/>
              </a:rPr>
              <a:t>读访问的数据在绝大多数情况下</a:t>
            </a:r>
            <a:r>
              <a:rPr lang="zh-CN" altLang="en-US" sz="1800" b="0" i="0" dirty="0">
                <a:solidFill>
                  <a:srgbClr val="000000"/>
                </a:solidFill>
                <a:effectLst/>
                <a:latin typeface="E-BZ"/>
              </a:rPr>
              <a:t>， </a:t>
            </a:r>
            <a:r>
              <a:rPr lang="zh-CN" altLang="en-US" sz="1800" b="0" i="0" dirty="0">
                <a:solidFill>
                  <a:srgbClr val="000000"/>
                </a:solidFill>
                <a:effectLst/>
                <a:latin typeface="FZSSK--GBK1-0"/>
              </a:rPr>
              <a:t>并不会在 </a:t>
            </a:r>
            <a:r>
              <a:rPr lang="en-US" altLang="zh-CN" sz="1800" b="0" i="0" dirty="0">
                <a:solidFill>
                  <a:srgbClr val="000000"/>
                </a:solidFill>
                <a:effectLst/>
                <a:latin typeface="E-BZ"/>
              </a:rPr>
              <a:t>Cache </a:t>
            </a:r>
            <a:r>
              <a:rPr lang="zh-CN" altLang="en-US" sz="1800" b="0" i="0" dirty="0">
                <a:solidFill>
                  <a:srgbClr val="000000"/>
                </a:solidFill>
                <a:effectLst/>
                <a:latin typeface="FZSSK--GBK1-0"/>
              </a:rPr>
              <a:t>中命中</a:t>
            </a:r>
            <a:r>
              <a:rPr lang="zh-CN" altLang="en-US" sz="1800" b="0" i="0" dirty="0">
                <a:solidFill>
                  <a:srgbClr val="000000"/>
                </a:solidFill>
                <a:effectLst/>
                <a:latin typeface="E-BZ"/>
              </a:rPr>
              <a:t>， </a:t>
            </a:r>
            <a:r>
              <a:rPr lang="zh-CN" altLang="en-US" sz="1800" b="0" i="0" dirty="0">
                <a:solidFill>
                  <a:srgbClr val="000000"/>
                </a:solidFill>
                <a:effectLst/>
                <a:latin typeface="FZSSK--GBK1-0"/>
              </a:rPr>
              <a:t>但是 </a:t>
            </a:r>
            <a:r>
              <a:rPr lang="en-US" altLang="zh-CN" sz="1800" b="0" i="0" dirty="0">
                <a:solidFill>
                  <a:srgbClr val="000000"/>
                </a:solidFill>
                <a:effectLst/>
                <a:latin typeface="E-BZ"/>
              </a:rPr>
              <a:t>FSB </a:t>
            </a:r>
            <a:r>
              <a:rPr lang="zh-CN" altLang="en-US" sz="1800" b="0" i="0" dirty="0">
                <a:solidFill>
                  <a:srgbClr val="000000"/>
                </a:solidFill>
                <a:effectLst/>
                <a:latin typeface="FZSSK--GBK1-0"/>
              </a:rPr>
              <a:t>依然需要使用 </a:t>
            </a:r>
            <a:r>
              <a:rPr lang="en-US" altLang="zh-CN" sz="1800" b="0" i="0" dirty="0">
                <a:solidFill>
                  <a:srgbClr val="000000"/>
                </a:solidFill>
                <a:effectLst/>
                <a:latin typeface="E-BZ"/>
              </a:rPr>
              <a:t>Snoop Phase </a:t>
            </a:r>
            <a:r>
              <a:rPr lang="zh-CN" altLang="en-US" sz="1800" b="0" i="0" dirty="0">
                <a:solidFill>
                  <a:srgbClr val="000000"/>
                </a:solidFill>
                <a:effectLst/>
                <a:latin typeface="FZSSK--GBK1-0"/>
              </a:rPr>
              <a:t>进行总线监听</a:t>
            </a:r>
            <a:r>
              <a:rPr lang="zh-CN" altLang="en-US" sz="1800" b="0" i="0" dirty="0">
                <a:solidFill>
                  <a:srgbClr val="000000"/>
                </a:solidFill>
                <a:effectLst/>
                <a:latin typeface="E-BZ"/>
              </a:rPr>
              <a:t>。 </a:t>
            </a:r>
            <a:r>
              <a:rPr lang="zh-CN" altLang="en-US" sz="1800" b="0" i="0" dirty="0">
                <a:solidFill>
                  <a:srgbClr val="000000"/>
                </a:solidFill>
                <a:effectLst/>
                <a:latin typeface="FZSSK--GBK1-0"/>
              </a:rPr>
              <a:t>而处理器在进行 </a:t>
            </a:r>
            <a:r>
              <a:rPr lang="en-US" altLang="zh-CN" sz="1800" b="0" i="0" dirty="0">
                <a:solidFill>
                  <a:srgbClr val="000000"/>
                </a:solidFill>
                <a:effectLst/>
                <a:latin typeface="E-BZ"/>
              </a:rPr>
              <a:t>Cache </a:t>
            </a:r>
            <a:r>
              <a:rPr lang="zh-CN" altLang="en-US" sz="1800" b="0" i="0" dirty="0">
                <a:solidFill>
                  <a:srgbClr val="000000"/>
                </a:solidFill>
                <a:effectLst/>
                <a:latin typeface="FZSSK--GBK1-0"/>
              </a:rPr>
              <a:t>一致性操作时仍然需要占用一定的时钟周期</a:t>
            </a:r>
            <a:r>
              <a:rPr lang="zh-CN" altLang="en-US" sz="1800" b="0" i="0" dirty="0">
                <a:solidFill>
                  <a:srgbClr val="000000"/>
                </a:solidFill>
                <a:effectLst/>
                <a:latin typeface="E-BZ"/>
              </a:rPr>
              <a:t>， </a:t>
            </a:r>
            <a:r>
              <a:rPr lang="zh-CN" altLang="en-US" sz="1800" b="0" i="0" dirty="0">
                <a:solidFill>
                  <a:srgbClr val="000000"/>
                </a:solidFill>
                <a:effectLst/>
                <a:latin typeface="FZSSK--GBK1-0"/>
              </a:rPr>
              <a:t>即在 </a:t>
            </a:r>
            <a:r>
              <a:rPr lang="en-US" altLang="zh-CN" sz="1800" b="0" i="0" dirty="0">
                <a:solidFill>
                  <a:srgbClr val="000000"/>
                </a:solidFill>
                <a:effectLst/>
                <a:latin typeface="E-BZ"/>
              </a:rPr>
              <a:t>Snoop Phase </a:t>
            </a:r>
            <a:r>
              <a:rPr lang="zh-CN" altLang="en-US" sz="1800" b="0" i="0" dirty="0">
                <a:solidFill>
                  <a:srgbClr val="000000"/>
                </a:solidFill>
                <a:effectLst/>
                <a:latin typeface="FZSSK--GBK1-0"/>
              </a:rPr>
              <a:t>中占用的时钟周期</a:t>
            </a:r>
            <a:r>
              <a:rPr lang="zh-CN" altLang="en-US" sz="1800" b="0" i="0" dirty="0">
                <a:solidFill>
                  <a:srgbClr val="000000"/>
                </a:solidFill>
                <a:effectLst/>
                <a:latin typeface="E-BZ"/>
              </a:rPr>
              <a:t>， </a:t>
            </a:r>
            <a:r>
              <a:rPr lang="en-US" altLang="zh-CN" sz="1800" b="0" i="0" dirty="0">
                <a:solidFill>
                  <a:srgbClr val="000000"/>
                </a:solidFill>
                <a:effectLst/>
                <a:latin typeface="E-BZ"/>
              </a:rPr>
              <a:t>Snoop Phase </a:t>
            </a:r>
            <a:r>
              <a:rPr lang="zh-CN" altLang="en-US" sz="1800" b="0" i="0" dirty="0">
                <a:solidFill>
                  <a:srgbClr val="000000"/>
                </a:solidFill>
                <a:effectLst/>
                <a:latin typeface="FZSSK--GBK1-0"/>
              </a:rPr>
              <a:t>是 </a:t>
            </a:r>
            <a:r>
              <a:rPr lang="en-US" altLang="zh-CN" sz="1800" b="0" i="0" dirty="0">
                <a:solidFill>
                  <a:srgbClr val="000000"/>
                </a:solidFill>
                <a:effectLst/>
                <a:latin typeface="E-BZ"/>
              </a:rPr>
              <a:t>FSB </a:t>
            </a:r>
            <a:r>
              <a:rPr lang="zh-CN" altLang="en-US" sz="1800" b="0" i="0" dirty="0">
                <a:solidFill>
                  <a:srgbClr val="000000"/>
                </a:solidFill>
                <a:effectLst/>
                <a:latin typeface="FZSSK--GBK1-0"/>
              </a:rPr>
              <a:t>总线事务的一个阶段</a:t>
            </a:r>
            <a:r>
              <a:rPr lang="zh-CN" altLang="en-US" sz="1800" b="0" i="0" dirty="0">
                <a:solidFill>
                  <a:srgbClr val="000000"/>
                </a:solidFill>
                <a:effectLst/>
                <a:latin typeface="E-BZ"/>
              </a:rPr>
              <a:t>， </a:t>
            </a:r>
            <a:r>
              <a:rPr lang="zh-CN" altLang="en-US" sz="1800" b="0" i="0" dirty="0">
                <a:solidFill>
                  <a:srgbClr val="000000"/>
                </a:solidFill>
                <a:effectLst/>
                <a:latin typeface="FZSSK--GBK1-0"/>
              </a:rPr>
              <a:t>如图 </a:t>
            </a:r>
            <a:r>
              <a:rPr lang="en-US" altLang="zh-CN" sz="1800" b="0" i="0" dirty="0">
                <a:solidFill>
                  <a:srgbClr val="000000"/>
                </a:solidFill>
                <a:effectLst/>
                <a:latin typeface="E-BZ"/>
              </a:rPr>
              <a:t>3⁃6 </a:t>
            </a:r>
            <a:r>
              <a:rPr lang="zh-CN" altLang="en-US" sz="1800" b="0" i="0" dirty="0">
                <a:solidFill>
                  <a:srgbClr val="000000"/>
                </a:solidFill>
                <a:effectLst/>
                <a:latin typeface="FZSSK--GBK1-0"/>
              </a:rPr>
              <a:t>所示</a:t>
            </a:r>
            <a:r>
              <a:rPr lang="zh-CN" altLang="en-US" sz="1800" b="0" i="0" dirty="0">
                <a:solidFill>
                  <a:srgbClr val="000000"/>
                </a:solidFill>
                <a:effectLst/>
                <a:latin typeface="E-BZ"/>
              </a:rPr>
              <a:t>。</a:t>
            </a:r>
          </a:p>
          <a:p>
            <a:pPr>
              <a:buNone/>
            </a:pPr>
            <a:r>
              <a:rPr lang="zh-CN" altLang="en-US" sz="1800" b="0" i="0" dirty="0">
                <a:solidFill>
                  <a:srgbClr val="000000"/>
                </a:solidFill>
                <a:effectLst/>
                <a:latin typeface="FZSSK--GBK1-0"/>
              </a:rPr>
              <a:t>对于这类情况</a:t>
            </a:r>
            <a:r>
              <a:rPr lang="zh-CN" altLang="en-US" sz="1800" b="0" i="0" dirty="0">
                <a:solidFill>
                  <a:srgbClr val="000000"/>
                </a:solidFill>
                <a:effectLst/>
                <a:latin typeface="E-BZ"/>
              </a:rPr>
              <a:t>， </a:t>
            </a:r>
            <a:r>
              <a:rPr lang="zh-CN" altLang="en-US" sz="1800" b="0" i="0" dirty="0">
                <a:solidFill>
                  <a:srgbClr val="000000"/>
                </a:solidFill>
                <a:effectLst/>
                <a:latin typeface="FZSSK--GBK1-0"/>
              </a:rPr>
              <a:t>一个较好的做法是</a:t>
            </a:r>
            <a:r>
              <a:rPr lang="zh-CN" altLang="en-US" sz="1800" b="0" i="0" dirty="0">
                <a:solidFill>
                  <a:srgbClr val="000000"/>
                </a:solidFill>
                <a:effectLst/>
                <a:latin typeface="E-BZ"/>
              </a:rPr>
              <a:t>， </a:t>
            </a:r>
            <a:r>
              <a:rPr lang="zh-CN" altLang="en-US" sz="1800" b="0" i="0" dirty="0">
                <a:solidFill>
                  <a:srgbClr val="000000"/>
                </a:solidFill>
                <a:effectLst/>
                <a:latin typeface="FZSSK--GBK1-0"/>
              </a:rPr>
              <a:t>首先使用软件指令保证 </a:t>
            </a:r>
            <a:r>
              <a:rPr lang="en-US" altLang="zh-CN" sz="1800" b="0" i="0" dirty="0">
                <a:solidFill>
                  <a:srgbClr val="000000"/>
                </a:solidFill>
                <a:effectLst/>
                <a:latin typeface="E-BZ"/>
              </a:rPr>
              <a:t>Cache </a:t>
            </a:r>
            <a:r>
              <a:rPr lang="zh-CN" altLang="en-US" sz="1800" b="0" i="0" dirty="0">
                <a:solidFill>
                  <a:srgbClr val="000000"/>
                </a:solidFill>
                <a:effectLst/>
                <a:latin typeface="FZSSK--GBK1-0"/>
              </a:rPr>
              <a:t>与主存储器的一致性</a:t>
            </a:r>
            <a:r>
              <a:rPr lang="zh-CN" altLang="en-US" sz="1800" b="0" i="0" dirty="0">
                <a:solidFill>
                  <a:srgbClr val="000000"/>
                </a:solidFill>
                <a:effectLst/>
                <a:latin typeface="E-BZ"/>
              </a:rPr>
              <a:t>， </a:t>
            </a:r>
            <a:r>
              <a:rPr lang="zh-CN" altLang="en-US" sz="1800" b="0" i="0" dirty="0">
                <a:solidFill>
                  <a:srgbClr val="000000"/>
                </a:solidFill>
                <a:effectLst/>
                <a:latin typeface="FZSSK--GBK1-0"/>
              </a:rPr>
              <a:t>并置 </a:t>
            </a:r>
            <a:r>
              <a:rPr lang="zh-CN" altLang="en-US" sz="1800" b="0" i="0" dirty="0">
                <a:solidFill>
                  <a:srgbClr val="000000"/>
                </a:solidFill>
                <a:effectLst/>
                <a:latin typeface="E-BZ"/>
              </a:rPr>
              <a:t>“</a:t>
            </a:r>
            <a:r>
              <a:rPr lang="en-US" altLang="zh-CN" sz="1800" b="0" i="0" dirty="0">
                <a:solidFill>
                  <a:srgbClr val="000000"/>
                </a:solidFill>
                <a:effectLst/>
                <a:latin typeface="E-BZ"/>
              </a:rPr>
              <a:t>No Snoop Attribute” </a:t>
            </a:r>
            <a:r>
              <a:rPr lang="zh-CN" altLang="en-US" sz="1800" b="0" i="0" dirty="0">
                <a:solidFill>
                  <a:srgbClr val="000000"/>
                </a:solidFill>
                <a:effectLst/>
                <a:latin typeface="FZSSK--GBK1-0"/>
              </a:rPr>
              <a:t>位为 </a:t>
            </a:r>
            <a:r>
              <a:rPr lang="en-US" altLang="zh-CN" sz="1800" b="0" i="0" dirty="0">
                <a:solidFill>
                  <a:srgbClr val="000000"/>
                </a:solidFill>
                <a:effectLst/>
                <a:latin typeface="E-BZ"/>
              </a:rPr>
              <a:t>1㊁</a:t>
            </a:r>
            <a:r>
              <a:rPr lang="zh-CN" altLang="en-US" sz="1800" b="0" i="0" dirty="0">
                <a:solidFill>
                  <a:srgbClr val="000000"/>
                </a:solidFill>
                <a:effectLst/>
                <a:latin typeface="E-BZ"/>
              </a:rPr>
              <a:t>， </a:t>
            </a:r>
            <a:r>
              <a:rPr lang="zh-CN" altLang="en-US" sz="1800" b="0" i="0" dirty="0">
                <a:solidFill>
                  <a:srgbClr val="000000"/>
                </a:solidFill>
                <a:effectLst/>
                <a:latin typeface="FZSSK--GBK1-0"/>
              </a:rPr>
              <a:t>然后再进行 </a:t>
            </a:r>
            <a:r>
              <a:rPr lang="en-US" altLang="zh-CN" sz="1800" b="0" i="0" dirty="0">
                <a:solidFill>
                  <a:srgbClr val="000000"/>
                </a:solidFill>
                <a:effectLst/>
                <a:latin typeface="E-BZ"/>
              </a:rPr>
              <a:t>DMA </a:t>
            </a:r>
            <a:r>
              <a:rPr lang="zh-CN" altLang="en-US" sz="1800" b="0" i="0" dirty="0">
                <a:solidFill>
                  <a:srgbClr val="000000"/>
                </a:solidFill>
                <a:effectLst/>
                <a:latin typeface="FZSSK--GBK1-0"/>
              </a:rPr>
              <a:t>读操作</a:t>
            </a:r>
            <a:r>
              <a:rPr lang="zh-CN" altLang="en-US" sz="1800" b="0" i="0" dirty="0">
                <a:solidFill>
                  <a:srgbClr val="000000"/>
                </a:solidFill>
                <a:effectLst/>
                <a:latin typeface="E-BZ"/>
              </a:rPr>
              <a:t>。 </a:t>
            </a:r>
            <a:r>
              <a:rPr lang="zh-CN" altLang="en-US" sz="1800" b="0" i="0" dirty="0">
                <a:solidFill>
                  <a:srgbClr val="000000"/>
                </a:solidFill>
                <a:effectLst/>
                <a:latin typeface="FZSSK--GBK1-0"/>
              </a:rPr>
              <a:t>同理使用这种方法对一段较大的数据区域进行 </a:t>
            </a:r>
            <a:r>
              <a:rPr lang="en-US" altLang="zh-CN" sz="1800" b="0" i="0" dirty="0">
                <a:solidFill>
                  <a:srgbClr val="000000"/>
                </a:solidFill>
                <a:effectLst/>
                <a:latin typeface="E-BZ"/>
              </a:rPr>
              <a:t>DMA </a:t>
            </a:r>
            <a:r>
              <a:rPr lang="zh-CN" altLang="en-US" sz="1800" b="0" i="0" dirty="0">
                <a:solidFill>
                  <a:srgbClr val="000000"/>
                </a:solidFill>
                <a:effectLst/>
                <a:latin typeface="FZSSK--GBK1-0"/>
              </a:rPr>
              <a:t>写时</a:t>
            </a:r>
            <a:r>
              <a:rPr lang="zh-CN" altLang="en-US" sz="1800" b="0" i="0" dirty="0">
                <a:solidFill>
                  <a:srgbClr val="000000"/>
                </a:solidFill>
                <a:effectLst/>
                <a:latin typeface="E-BZ"/>
              </a:rPr>
              <a:t>， </a:t>
            </a:r>
            <a:r>
              <a:rPr lang="zh-CN" altLang="en-US" sz="1800" b="0" i="0" dirty="0">
                <a:solidFill>
                  <a:srgbClr val="000000"/>
                </a:solidFill>
                <a:effectLst/>
                <a:latin typeface="FZSSK--GBK1-0"/>
              </a:rPr>
              <a:t>也可以提高效率</a:t>
            </a:r>
            <a:r>
              <a:rPr lang="zh-CN" altLang="en-US" sz="1800" b="0" i="0" dirty="0">
                <a:solidFill>
                  <a:srgbClr val="000000"/>
                </a:solidFill>
                <a:effectLst/>
                <a:latin typeface="E-BZ"/>
              </a:rPr>
              <a:t>。</a:t>
            </a:r>
          </a:p>
          <a:p>
            <a:pPr>
              <a:buNone/>
            </a:pPr>
            <a:r>
              <a:rPr lang="zh-CN" altLang="en-US" sz="1800" b="0" i="0" dirty="0">
                <a:solidFill>
                  <a:srgbClr val="000000"/>
                </a:solidFill>
                <a:effectLst/>
                <a:latin typeface="FZSSK--GBK1-0"/>
              </a:rPr>
              <a:t>除此之外</a:t>
            </a:r>
            <a:r>
              <a:rPr lang="zh-CN" altLang="en-US" sz="1800" b="0" i="0" dirty="0">
                <a:solidFill>
                  <a:srgbClr val="000000"/>
                </a:solidFill>
                <a:effectLst/>
                <a:latin typeface="E-BZ"/>
              </a:rPr>
              <a:t>， </a:t>
            </a:r>
            <a:r>
              <a:rPr lang="zh-CN" altLang="en-US" sz="1800" b="0" i="0" dirty="0">
                <a:solidFill>
                  <a:srgbClr val="000000"/>
                </a:solidFill>
                <a:effectLst/>
                <a:latin typeface="FZSSK--GBK1-0"/>
              </a:rPr>
              <a:t>当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设备访问的存储器</a:t>
            </a:r>
            <a:r>
              <a:rPr lang="zh-CN" altLang="en-US" sz="1800" b="0" i="0" dirty="0">
                <a:solidFill>
                  <a:srgbClr val="000000"/>
                </a:solidFill>
                <a:effectLst/>
                <a:latin typeface="E-BZ"/>
              </a:rPr>
              <a:t>， </a:t>
            </a:r>
            <a:r>
              <a:rPr lang="zh-CN" altLang="en-US" sz="1800" b="0" i="0" dirty="0">
                <a:solidFill>
                  <a:srgbClr val="000000"/>
                </a:solidFill>
                <a:effectLst/>
                <a:latin typeface="FZSSK--GBK1-0"/>
              </a:rPr>
              <a:t>不是 </a:t>
            </a:r>
            <a:r>
              <a:rPr lang="zh-CN" altLang="en-US" sz="1800" b="0" i="0" dirty="0">
                <a:solidFill>
                  <a:srgbClr val="000000"/>
                </a:solidFill>
                <a:effectLst/>
                <a:latin typeface="E-BZ"/>
              </a:rPr>
              <a:t>“</a:t>
            </a:r>
            <a:r>
              <a:rPr lang="zh-CN" altLang="en-US" sz="1800" b="0" i="0" dirty="0">
                <a:solidFill>
                  <a:srgbClr val="000000"/>
                </a:solidFill>
                <a:effectLst/>
                <a:latin typeface="FZSSK--GBK1-0"/>
              </a:rPr>
              <a:t>可 </a:t>
            </a:r>
            <a:r>
              <a:rPr lang="en-US" altLang="zh-CN" sz="1800" b="0" i="0" dirty="0">
                <a:solidFill>
                  <a:srgbClr val="000000"/>
                </a:solidFill>
                <a:effectLst/>
                <a:latin typeface="E-BZ"/>
              </a:rPr>
              <a:t>Cache </a:t>
            </a:r>
            <a:r>
              <a:rPr lang="zh-CN" altLang="en-US" sz="1800" b="0" i="0" dirty="0">
                <a:solidFill>
                  <a:srgbClr val="000000"/>
                </a:solidFill>
                <a:effectLst/>
                <a:latin typeface="FZSSK--GBK1-0"/>
              </a:rPr>
              <a:t>空间</a:t>
            </a:r>
            <a:r>
              <a:rPr lang="zh-CN" altLang="en-US" sz="1800" b="0" i="0" dirty="0">
                <a:solidFill>
                  <a:srgbClr val="000000"/>
                </a:solidFill>
                <a:effectLst/>
                <a:latin typeface="E-BZ"/>
              </a:rPr>
              <a:t>” </a:t>
            </a:r>
            <a:r>
              <a:rPr lang="zh-CN" altLang="en-US" sz="1800" b="0" i="0" dirty="0">
                <a:solidFill>
                  <a:srgbClr val="000000"/>
                </a:solidFill>
                <a:effectLst/>
                <a:latin typeface="FZSSK--GBK1-0"/>
              </a:rPr>
              <a:t>时</a:t>
            </a:r>
            <a:r>
              <a:rPr lang="zh-CN" altLang="en-US" sz="1800" b="0" i="0" dirty="0">
                <a:solidFill>
                  <a:srgbClr val="000000"/>
                </a:solidFill>
                <a:effectLst/>
                <a:latin typeface="E-BZ"/>
              </a:rPr>
              <a:t>， </a:t>
            </a:r>
            <a:r>
              <a:rPr lang="zh-CN" altLang="en-US" sz="1800" b="0" i="0" dirty="0">
                <a:solidFill>
                  <a:srgbClr val="000000"/>
                </a:solidFill>
                <a:effectLst/>
                <a:latin typeface="FZSSK--GBK1-0"/>
              </a:rPr>
              <a:t>也可以通过设置</a:t>
            </a:r>
            <a:r>
              <a:rPr lang="zh-CN" altLang="en-US" sz="1800" b="0" i="0" dirty="0">
                <a:solidFill>
                  <a:srgbClr val="000000"/>
                </a:solidFill>
                <a:effectLst/>
                <a:latin typeface="E-BZ"/>
              </a:rPr>
              <a:t>“</a:t>
            </a:r>
            <a:r>
              <a:rPr lang="en-US" altLang="zh-CN" sz="1800" b="0" i="0" dirty="0">
                <a:solidFill>
                  <a:srgbClr val="000000"/>
                </a:solidFill>
                <a:effectLst/>
                <a:latin typeface="E-BZ"/>
              </a:rPr>
              <a:t>No Snoop Attribute” </a:t>
            </a:r>
            <a:r>
              <a:rPr lang="zh-CN" altLang="en-US" sz="1800" b="0" i="0" dirty="0">
                <a:solidFill>
                  <a:srgbClr val="000000"/>
                </a:solidFill>
                <a:effectLst/>
                <a:latin typeface="FZSSK--GBK1-0"/>
              </a:rPr>
              <a:t>位</a:t>
            </a:r>
            <a:r>
              <a:rPr lang="zh-CN" altLang="en-US" sz="1800" b="0" i="0" dirty="0">
                <a:solidFill>
                  <a:srgbClr val="000000"/>
                </a:solidFill>
                <a:effectLst/>
                <a:latin typeface="E-BZ"/>
              </a:rPr>
              <a:t>， </a:t>
            </a:r>
            <a:r>
              <a:rPr lang="zh-CN" altLang="en-US" sz="1800" b="0" i="0" dirty="0">
                <a:solidFill>
                  <a:srgbClr val="000000"/>
                </a:solidFill>
                <a:effectLst/>
                <a:latin typeface="FZSSK--GBK1-0"/>
              </a:rPr>
              <a:t>避免 </a:t>
            </a:r>
            <a:r>
              <a:rPr lang="en-US" altLang="zh-CN" sz="1800" b="0" i="0" dirty="0">
                <a:solidFill>
                  <a:srgbClr val="000000"/>
                </a:solidFill>
                <a:effectLst/>
                <a:latin typeface="E-BZ"/>
              </a:rPr>
              <a:t>FSB </a:t>
            </a:r>
            <a:r>
              <a:rPr lang="zh-CN" altLang="en-US" sz="1800" b="0" i="0" dirty="0">
                <a:solidFill>
                  <a:srgbClr val="000000"/>
                </a:solidFill>
                <a:effectLst/>
                <a:latin typeface="FZSSK--GBK1-0"/>
              </a:rPr>
              <a:t>的 </a:t>
            </a:r>
            <a:r>
              <a:rPr lang="en-US" altLang="zh-CN" sz="1800" b="0" i="0" dirty="0">
                <a:solidFill>
                  <a:srgbClr val="000000"/>
                </a:solidFill>
                <a:effectLst/>
                <a:latin typeface="E-BZ"/>
              </a:rPr>
              <a:t>Cache </a:t>
            </a:r>
            <a:r>
              <a:rPr lang="zh-CN" altLang="en-US" sz="1800" b="0" i="0" dirty="0">
                <a:solidFill>
                  <a:srgbClr val="000000"/>
                </a:solidFill>
                <a:effectLst/>
                <a:latin typeface="FZSSK--GBK1-0"/>
              </a:rPr>
              <a:t>共享一致性操作</a:t>
            </a:r>
            <a:r>
              <a:rPr lang="zh-CN" altLang="en-US" sz="1800" b="0" i="0" dirty="0">
                <a:solidFill>
                  <a:srgbClr val="000000"/>
                </a:solidFill>
                <a:effectLst/>
                <a:latin typeface="E-BZ"/>
              </a:rPr>
              <a:t>， </a:t>
            </a:r>
            <a:r>
              <a:rPr lang="zh-CN" altLang="en-US" sz="1800" b="0" i="0" dirty="0">
                <a:solidFill>
                  <a:srgbClr val="000000"/>
                </a:solidFill>
                <a:effectLst/>
                <a:latin typeface="FZSSK--GBK1-0"/>
              </a:rPr>
              <a:t>从而提高 </a:t>
            </a:r>
            <a:r>
              <a:rPr lang="en-US" altLang="zh-CN" sz="1800" b="0" i="0" dirty="0">
                <a:solidFill>
                  <a:srgbClr val="000000"/>
                </a:solidFill>
                <a:effectLst/>
                <a:latin typeface="E-BZ"/>
              </a:rPr>
              <a:t>FSB </a:t>
            </a:r>
            <a:r>
              <a:rPr lang="zh-CN" altLang="en-US" sz="1800" b="0" i="0" dirty="0">
                <a:solidFill>
                  <a:srgbClr val="000000"/>
                </a:solidFill>
                <a:effectLst/>
                <a:latin typeface="FZSSK--GBK1-0"/>
              </a:rPr>
              <a:t>的效率</a:t>
            </a:r>
            <a:r>
              <a:rPr lang="zh-CN" altLang="en-US" sz="1800" b="0" i="0" dirty="0">
                <a:solidFill>
                  <a:srgbClr val="000000"/>
                </a:solidFill>
                <a:effectLst/>
                <a:latin typeface="E-BZ"/>
              </a:rPr>
              <a:t>。 “</a:t>
            </a:r>
            <a:r>
              <a:rPr lang="en-US" altLang="zh-CN" sz="1800" b="0" i="0" dirty="0">
                <a:solidFill>
                  <a:srgbClr val="000000"/>
                </a:solidFill>
                <a:effectLst/>
                <a:latin typeface="E-BZ"/>
              </a:rPr>
              <a:t>No Snoop Attribute” </a:t>
            </a:r>
            <a:r>
              <a:rPr lang="zh-CN" altLang="en-US" sz="1800" b="0" i="0" dirty="0">
                <a:solidFill>
                  <a:srgbClr val="000000"/>
                </a:solidFill>
                <a:effectLst/>
                <a:latin typeface="FZSSK--GBK1-0"/>
              </a:rPr>
              <a:t>位是 </a:t>
            </a:r>
            <a:r>
              <a:rPr lang="en-US" altLang="zh-CN" sz="1800" b="0" i="0" dirty="0">
                <a:solidFill>
                  <a:srgbClr val="000000"/>
                </a:solidFill>
                <a:effectLst/>
                <a:latin typeface="E-BZ"/>
              </a:rPr>
              <a:t>PCIe </a:t>
            </a:r>
            <a:r>
              <a:rPr lang="zh-CN" altLang="en-US" sz="1800" b="0" i="0" dirty="0">
                <a:solidFill>
                  <a:srgbClr val="000000"/>
                </a:solidFill>
                <a:effectLst/>
                <a:latin typeface="FZSSK--GBK1-0"/>
              </a:rPr>
              <a:t>总线针对 </a:t>
            </a:r>
            <a:r>
              <a:rPr lang="en-US" altLang="zh-CN" sz="1800" b="0" i="0" dirty="0">
                <a:solidFill>
                  <a:srgbClr val="000000"/>
                </a:solidFill>
                <a:effectLst/>
                <a:latin typeface="E-BZ"/>
              </a:rPr>
              <a:t>PCI </a:t>
            </a:r>
            <a:r>
              <a:rPr lang="zh-CN" altLang="en-US" sz="1800" b="0" i="0" dirty="0">
                <a:solidFill>
                  <a:srgbClr val="000000"/>
                </a:solidFill>
                <a:effectLst/>
                <a:latin typeface="FZSSK--GBK1-0"/>
              </a:rPr>
              <a:t>总线的不足作出的重要改动</a:t>
            </a:r>
            <a:r>
              <a:rPr lang="zh-CN" altLang="en-US" sz="1800" b="0" i="0" dirty="0">
                <a:solidFill>
                  <a:srgbClr val="000000"/>
                </a:solidFill>
                <a:effectLst/>
                <a:latin typeface="E-BZ"/>
              </a:rPr>
              <a:t>。</a:t>
            </a:r>
            <a:r>
              <a:rPr lang="zh-CN" altLang="en-US" dirty="0"/>
              <a:t> </a:t>
            </a:r>
            <a:br>
              <a:rPr lang="zh-CN" altLang="en-US" dirty="0"/>
            </a:br>
            <a:r>
              <a:rPr lang="zh-CN" altLang="en-US" sz="1200" b="0" i="0" dirty="0">
                <a:solidFill>
                  <a:srgbClr val="000000"/>
                </a:solidFill>
                <a:effectLst/>
                <a:latin typeface="E-BZ"/>
              </a:rPr>
              <a:t>㊀　 </a:t>
            </a:r>
            <a:r>
              <a:rPr lang="en-US" altLang="zh-CN" sz="1200" b="0" i="0" dirty="0">
                <a:solidFill>
                  <a:srgbClr val="000000"/>
                </a:solidFill>
                <a:effectLst/>
                <a:latin typeface="E-BZ"/>
              </a:rPr>
              <a:t>PowerPC </a:t>
            </a:r>
            <a:r>
              <a:rPr lang="zh-CN" altLang="en-US" sz="1200" b="0" i="0" dirty="0">
                <a:solidFill>
                  <a:srgbClr val="000000"/>
                </a:solidFill>
                <a:effectLst/>
                <a:latin typeface="FZSSK--GBK1-0"/>
              </a:rPr>
              <a:t>处理器通过设置 </a:t>
            </a:r>
            <a:r>
              <a:rPr lang="en-US" altLang="zh-CN" sz="1200" b="0" i="0" dirty="0">
                <a:solidFill>
                  <a:srgbClr val="000000"/>
                </a:solidFill>
                <a:effectLst/>
                <a:latin typeface="E-BZ"/>
              </a:rPr>
              <a:t>Inbound </a:t>
            </a:r>
            <a:r>
              <a:rPr lang="zh-CN" altLang="en-US" sz="1200" b="0" i="0" dirty="0">
                <a:solidFill>
                  <a:srgbClr val="000000"/>
                </a:solidFill>
                <a:effectLst/>
                <a:latin typeface="FZSSK--GBK1-0"/>
              </a:rPr>
              <a:t>寄存器</a:t>
            </a:r>
            <a:r>
              <a:rPr lang="zh-CN" altLang="en-US" sz="1200" b="0" i="0" dirty="0">
                <a:solidFill>
                  <a:srgbClr val="000000"/>
                </a:solidFill>
                <a:effectLst/>
                <a:latin typeface="E-BZ"/>
              </a:rPr>
              <a:t>， </a:t>
            </a:r>
            <a:r>
              <a:rPr lang="zh-CN" altLang="en-US" sz="1200" b="0" i="0" dirty="0">
                <a:solidFill>
                  <a:srgbClr val="000000"/>
                </a:solidFill>
                <a:effectLst/>
                <a:latin typeface="FZSSK--GBK1-0"/>
              </a:rPr>
              <a:t>也可以避免这个 </a:t>
            </a:r>
            <a:r>
              <a:rPr lang="en-US" altLang="zh-CN" sz="1200" b="0" i="0" dirty="0">
                <a:solidFill>
                  <a:srgbClr val="000000"/>
                </a:solidFill>
                <a:effectLst/>
                <a:latin typeface="E-BZ"/>
              </a:rPr>
              <a:t>Cache </a:t>
            </a:r>
            <a:r>
              <a:rPr lang="zh-CN" altLang="en-US" sz="1200" b="0" i="0" dirty="0">
                <a:solidFill>
                  <a:srgbClr val="000000"/>
                </a:solidFill>
                <a:effectLst/>
                <a:latin typeface="FZSSK--GBK1-0"/>
              </a:rPr>
              <a:t>一致性操作</a:t>
            </a:r>
            <a:r>
              <a:rPr lang="zh-CN" altLang="en-US" sz="1200" b="0" i="0" dirty="0">
                <a:solidFill>
                  <a:srgbClr val="000000"/>
                </a:solidFill>
                <a:effectLst/>
                <a:latin typeface="E-BZ"/>
              </a:rPr>
              <a:t>。</a:t>
            </a:r>
          </a:p>
          <a:p>
            <a:pPr>
              <a:buNone/>
            </a:pPr>
            <a:r>
              <a:rPr lang="zh-CN" altLang="en-US" sz="1200" b="0" i="0" dirty="0">
                <a:solidFill>
                  <a:srgbClr val="000000"/>
                </a:solidFill>
                <a:effectLst/>
                <a:latin typeface="E-BZ"/>
              </a:rPr>
              <a:t>㊁　 </a:t>
            </a:r>
            <a:r>
              <a:rPr lang="en-US" altLang="zh-CN" sz="1200" b="0" i="0" dirty="0">
                <a:solidFill>
                  <a:srgbClr val="000000"/>
                </a:solidFill>
                <a:effectLst/>
                <a:latin typeface="E-BZ"/>
              </a:rPr>
              <a:t>FSB </a:t>
            </a:r>
            <a:r>
              <a:rPr lang="zh-CN" altLang="en-US" sz="1200" b="0" i="0" dirty="0">
                <a:solidFill>
                  <a:srgbClr val="000000"/>
                </a:solidFill>
                <a:effectLst/>
                <a:latin typeface="FZSSK--GBK1-0"/>
              </a:rPr>
              <a:t>收到这类 </a:t>
            </a:r>
            <a:r>
              <a:rPr lang="en-US" altLang="zh-CN" sz="1200" b="0" i="0" dirty="0">
                <a:solidFill>
                  <a:srgbClr val="000000"/>
                </a:solidFill>
                <a:effectLst/>
                <a:latin typeface="E-BZ"/>
              </a:rPr>
              <a:t>TLP </a:t>
            </a:r>
            <a:r>
              <a:rPr lang="zh-CN" altLang="en-US" sz="1200" b="0" i="0" dirty="0">
                <a:solidFill>
                  <a:srgbClr val="000000"/>
                </a:solidFill>
                <a:effectLst/>
                <a:latin typeface="FZSSK--GBK1-0"/>
              </a:rPr>
              <a:t>后</a:t>
            </a:r>
            <a:r>
              <a:rPr lang="zh-CN" altLang="en-US" sz="1200" b="0" i="0" dirty="0">
                <a:solidFill>
                  <a:srgbClr val="000000"/>
                </a:solidFill>
                <a:effectLst/>
                <a:latin typeface="E-BZ"/>
              </a:rPr>
              <a:t>， </a:t>
            </a:r>
            <a:r>
              <a:rPr lang="zh-CN" altLang="en-US" sz="1200" b="0" i="0" dirty="0">
                <a:solidFill>
                  <a:srgbClr val="000000"/>
                </a:solidFill>
                <a:effectLst/>
                <a:latin typeface="FZSSK--GBK1-0"/>
              </a:rPr>
              <a:t>不进行 </a:t>
            </a:r>
            <a:r>
              <a:rPr lang="en-US" altLang="zh-CN" sz="1200" b="0" i="0" dirty="0">
                <a:solidFill>
                  <a:srgbClr val="000000"/>
                </a:solidFill>
                <a:effectLst/>
                <a:latin typeface="E-BZ"/>
              </a:rPr>
              <a:t>Cache </a:t>
            </a:r>
            <a:r>
              <a:rPr lang="zh-CN" altLang="en-US" sz="1200" b="0" i="0" dirty="0">
                <a:solidFill>
                  <a:srgbClr val="000000"/>
                </a:solidFill>
                <a:effectLst/>
                <a:latin typeface="FZSSK--GBK1-0"/>
              </a:rPr>
              <a:t>一致性操作</a:t>
            </a:r>
            <a:r>
              <a:rPr lang="zh-CN" altLang="en-US" sz="1200" b="0" i="0" dirty="0">
                <a:solidFill>
                  <a:srgbClr val="000000"/>
                </a:solidFill>
                <a:effectLst/>
                <a:latin typeface="E-BZ"/>
              </a:rPr>
              <a:t>。</a:t>
            </a:r>
            <a:endParaRPr lang="en-US" altLang="zh-CN" sz="1200" b="0" i="0" dirty="0">
              <a:solidFill>
                <a:srgbClr val="000000"/>
              </a:solidFill>
              <a:effectLst/>
              <a:latin typeface="E-BZ"/>
            </a:endParaRPr>
          </a:p>
          <a:p>
            <a:pPr>
              <a:buNone/>
            </a:pPr>
            <a:br>
              <a:rPr lang="zh-CN" altLang="en-US" dirty="0"/>
            </a:br>
            <a:endParaRPr lang="zh-CN" altLang="en-US" dirty="0"/>
          </a:p>
        </p:txBody>
      </p:sp>
      <p:sp>
        <p:nvSpPr>
          <p:cNvPr id="4" name="灯片编号占位符 3"/>
          <p:cNvSpPr>
            <a:spLocks noGrp="1"/>
          </p:cNvSpPr>
          <p:nvPr>
            <p:ph type="sldNum" sz="quarter" idx="5"/>
          </p:nvPr>
        </p:nvSpPr>
        <p:spPr/>
        <p:txBody>
          <a:bodyPr/>
          <a:lstStyle/>
          <a:p>
            <a:fld id="{FEB3D97D-0215-411C-B390-5D5891D681D8}" type="slidenum">
              <a:rPr lang="zh-CN" altLang="en-US" smtClean="0"/>
              <a:t>7</a:t>
            </a:fld>
            <a:endParaRPr lang="zh-CN" altLang="en-US"/>
          </a:p>
        </p:txBody>
      </p:sp>
    </p:spTree>
    <p:extLst>
      <p:ext uri="{BB962C8B-B14F-4D97-AF65-F5344CB8AC3E}">
        <p14:creationId xmlns:p14="http://schemas.microsoft.com/office/powerpoint/2010/main" val="3173845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FZSSK--GBK1-0"/>
              </a:rPr>
              <a:t>在同一个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设备发送的 </a:t>
            </a:r>
            <a:r>
              <a:rPr lang="en-US" altLang="zh-CN" sz="1800" b="0" i="0" dirty="0">
                <a:solidFill>
                  <a:srgbClr val="000000"/>
                </a:solidFill>
                <a:effectLst/>
                <a:latin typeface="E-BZ"/>
              </a:rPr>
              <a:t>TLP </a:t>
            </a:r>
            <a:r>
              <a:rPr lang="zh-CN" altLang="en-US" sz="1800" b="0" i="0" dirty="0">
                <a:solidFill>
                  <a:srgbClr val="000000"/>
                </a:solidFill>
                <a:effectLst/>
                <a:latin typeface="FZSSK--GBK1-0"/>
              </a:rPr>
              <a:t>中</a:t>
            </a:r>
            <a:r>
              <a:rPr lang="zh-CN" altLang="en-US" sz="1800" b="0" i="0" dirty="0">
                <a:solidFill>
                  <a:srgbClr val="000000"/>
                </a:solidFill>
                <a:effectLst/>
                <a:latin typeface="E-BZ"/>
              </a:rPr>
              <a:t>， </a:t>
            </a:r>
            <a:r>
              <a:rPr lang="zh-CN" altLang="en-US" sz="1800" b="0" i="0" dirty="0">
                <a:solidFill>
                  <a:srgbClr val="000000"/>
                </a:solidFill>
                <a:effectLst/>
                <a:latin typeface="FZSSK--GBK1-0"/>
              </a:rPr>
              <a:t>其 </a:t>
            </a:r>
            <a:r>
              <a:rPr lang="en-US" altLang="zh-CN" sz="1800" b="0" i="0" dirty="0">
                <a:solidFill>
                  <a:srgbClr val="000000"/>
                </a:solidFill>
                <a:effectLst/>
                <a:latin typeface="E-BZ"/>
              </a:rPr>
              <a:t>Requester ID </a:t>
            </a:r>
            <a:r>
              <a:rPr lang="zh-CN" altLang="en-US" sz="1800" b="0" i="0" dirty="0">
                <a:solidFill>
                  <a:srgbClr val="000000"/>
                </a:solidFill>
                <a:effectLst/>
                <a:latin typeface="FZSSK--GBK1-0"/>
              </a:rPr>
              <a:t>字段是相同的</a:t>
            </a:r>
            <a:r>
              <a:rPr lang="zh-CN" altLang="en-US" sz="1800" b="0" i="0" dirty="0">
                <a:solidFill>
                  <a:srgbClr val="000000"/>
                </a:solidFill>
                <a:effectLst/>
                <a:latin typeface="E-BZ"/>
              </a:rPr>
              <a:t>， </a:t>
            </a:r>
            <a:r>
              <a:rPr lang="zh-CN" altLang="en-US" sz="1800" b="0" i="0" dirty="0">
                <a:solidFill>
                  <a:srgbClr val="000000"/>
                </a:solidFill>
                <a:effectLst/>
                <a:latin typeface="FZSSK--GBK1-0"/>
              </a:rPr>
              <a:t>因此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设备的设计者所能管理的资源是 </a:t>
            </a:r>
            <a:r>
              <a:rPr lang="en-US" altLang="zh-CN" sz="1800" b="0" i="0" dirty="0">
                <a:solidFill>
                  <a:srgbClr val="000000"/>
                </a:solidFill>
                <a:effectLst/>
                <a:latin typeface="E-BZ"/>
              </a:rPr>
              <a:t>Tag </a:t>
            </a:r>
            <a:r>
              <a:rPr lang="zh-CN" altLang="en-US" sz="1800" b="0" i="0" dirty="0">
                <a:solidFill>
                  <a:srgbClr val="000000"/>
                </a:solidFill>
                <a:effectLst/>
                <a:latin typeface="FZSSK--GBK1-0"/>
              </a:rPr>
              <a:t>字段</a:t>
            </a:r>
            <a:r>
              <a:rPr lang="zh-CN" altLang="en-US" sz="1800" b="0" i="0" dirty="0">
                <a:solidFill>
                  <a:srgbClr val="000000"/>
                </a:solidFill>
                <a:effectLst/>
                <a:latin typeface="E-BZ"/>
              </a:rPr>
              <a:t>。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设备的设计者需要合理地管理 </a:t>
            </a:r>
            <a:r>
              <a:rPr lang="en-US" altLang="zh-CN" sz="1800" b="0" i="0" dirty="0">
                <a:solidFill>
                  <a:srgbClr val="000000"/>
                </a:solidFill>
                <a:effectLst/>
                <a:latin typeface="E-BZ"/>
              </a:rPr>
              <a:t>Tag </a:t>
            </a:r>
            <a:r>
              <a:rPr lang="zh-CN" altLang="en-US" sz="1800" b="0" i="0" dirty="0">
                <a:solidFill>
                  <a:srgbClr val="000000"/>
                </a:solidFill>
                <a:effectLst/>
                <a:latin typeface="FZSSK--GBK1-0"/>
              </a:rPr>
              <a:t>资源</a:t>
            </a:r>
            <a:r>
              <a:rPr lang="zh-CN" altLang="en-US" sz="1800" b="0" i="0" dirty="0">
                <a:solidFill>
                  <a:srgbClr val="000000"/>
                </a:solidFill>
                <a:effectLst/>
                <a:latin typeface="E-BZ"/>
              </a:rPr>
              <a:t>， </a:t>
            </a:r>
            <a:r>
              <a:rPr lang="zh-CN" altLang="en-US" sz="1800" b="0" i="0" dirty="0">
                <a:solidFill>
                  <a:srgbClr val="000000"/>
                </a:solidFill>
                <a:effectLst/>
                <a:latin typeface="FZSSK--GBK1-0"/>
              </a:rPr>
              <a:t>以保证数据传送的正确性</a:t>
            </a:r>
            <a:r>
              <a:rPr lang="zh-CN" altLang="en-US" sz="1800" b="0" i="0" dirty="0">
                <a:solidFill>
                  <a:srgbClr val="000000"/>
                </a:solidFill>
                <a:effectLst/>
                <a:latin typeface="E-BZ"/>
              </a:rPr>
              <a:t>。</a:t>
            </a:r>
            <a:r>
              <a:rPr lang="zh-CN" altLang="en-US" dirty="0"/>
              <a:t> </a:t>
            </a:r>
            <a:endParaRPr lang="en-US" altLang="zh-CN" dirty="0"/>
          </a:p>
          <a:p>
            <a:r>
              <a:rPr lang="zh-CN" altLang="en-US" sz="1800" b="0" i="0" dirty="0">
                <a:solidFill>
                  <a:srgbClr val="000000"/>
                </a:solidFill>
                <a:effectLst/>
                <a:latin typeface="FZSSK--GBK1-0"/>
              </a:rPr>
              <a:t>如果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设备使能了 </a:t>
            </a:r>
            <a:r>
              <a:rPr lang="en-US" altLang="zh-CN" sz="1800" b="0" i="0" dirty="0">
                <a:solidFill>
                  <a:srgbClr val="000000"/>
                </a:solidFill>
                <a:effectLst/>
                <a:latin typeface="E-BZ"/>
              </a:rPr>
              <a:t>Extended Tag </a:t>
            </a:r>
            <a:r>
              <a:rPr lang="zh-CN" altLang="en-US" sz="1800" b="0" i="0" dirty="0">
                <a:solidFill>
                  <a:srgbClr val="000000"/>
                </a:solidFill>
                <a:effectLst/>
                <a:latin typeface="FZSSK--GBK1-0"/>
              </a:rPr>
              <a:t>位，</a:t>
            </a:r>
            <a:r>
              <a:rPr lang="en-US" altLang="zh-CN" sz="1800" b="0" i="0" dirty="0">
                <a:solidFill>
                  <a:srgbClr val="000000"/>
                </a:solidFill>
                <a:effectLst/>
                <a:latin typeface="E-BZ"/>
              </a:rPr>
              <a:t>Tag </a:t>
            </a:r>
            <a:r>
              <a:rPr lang="zh-CN" altLang="en-US" sz="1800" b="0" i="0" dirty="0">
                <a:solidFill>
                  <a:srgbClr val="000000"/>
                </a:solidFill>
                <a:effectLst/>
                <a:latin typeface="FZSSK--GBK1-0"/>
              </a:rPr>
              <a:t>字段可以由 </a:t>
            </a:r>
            <a:r>
              <a:rPr lang="en-US" altLang="zh-CN" sz="1800" b="0" i="0" dirty="0">
                <a:solidFill>
                  <a:srgbClr val="000000"/>
                </a:solidFill>
                <a:effectLst/>
                <a:latin typeface="E-BZ"/>
              </a:rPr>
              <a:t>8 </a:t>
            </a:r>
            <a:r>
              <a:rPr lang="zh-CN" altLang="en-US" sz="1800" b="0" i="0" dirty="0">
                <a:solidFill>
                  <a:srgbClr val="000000"/>
                </a:solidFill>
                <a:effectLst/>
                <a:latin typeface="FZSSK--GBK1-0"/>
              </a:rPr>
              <a:t>位组成</a:t>
            </a:r>
            <a:r>
              <a:rPr lang="zh-CN" altLang="en-US" sz="1800" b="0" i="0" dirty="0">
                <a:solidFill>
                  <a:srgbClr val="000000"/>
                </a:solidFill>
                <a:effectLst/>
                <a:latin typeface="E-BZ"/>
              </a:rPr>
              <a:t>， </a:t>
            </a:r>
            <a:r>
              <a:rPr lang="zh-CN" altLang="en-US" sz="1800" b="0" i="0" dirty="0">
                <a:solidFill>
                  <a:srgbClr val="000000"/>
                </a:solidFill>
                <a:effectLst/>
                <a:latin typeface="FZSSK--GBK1-0"/>
              </a:rPr>
              <a:t>此时发送端能够暂存 </a:t>
            </a:r>
            <a:r>
              <a:rPr lang="en-US" altLang="zh-CN" sz="1800" b="0" i="0" dirty="0">
                <a:solidFill>
                  <a:srgbClr val="000000"/>
                </a:solidFill>
                <a:effectLst/>
                <a:latin typeface="E-BZ"/>
              </a:rPr>
              <a:t>256 </a:t>
            </a:r>
            <a:r>
              <a:rPr lang="zh-CN" altLang="en-US" sz="1800" b="0" i="0" dirty="0">
                <a:solidFill>
                  <a:srgbClr val="000000"/>
                </a:solidFill>
                <a:effectLst/>
                <a:latin typeface="FZSSK--GBK1-0"/>
              </a:rPr>
              <a:t>个报文</a:t>
            </a:r>
            <a:r>
              <a:rPr lang="zh-CN" altLang="en-US" sz="1800" b="0" i="0" dirty="0">
                <a:solidFill>
                  <a:srgbClr val="000000"/>
                </a:solidFill>
                <a:effectLst/>
                <a:latin typeface="E-BZ"/>
              </a:rPr>
              <a:t>。</a:t>
            </a:r>
            <a:r>
              <a:rPr lang="zh-CN" altLang="en-US" dirty="0"/>
              <a:t> </a:t>
            </a:r>
            <a:br>
              <a:rPr lang="zh-CN" altLang="en-US" dirty="0"/>
            </a:br>
            <a:r>
              <a:rPr lang="zh-CN" altLang="en-US" sz="1800" b="0" i="0" dirty="0">
                <a:solidFill>
                  <a:srgbClr val="000000"/>
                </a:solidFill>
                <a:effectLst/>
                <a:latin typeface="FZSSK--GBK1-0"/>
              </a:rPr>
              <a:t>通过 </a:t>
            </a:r>
            <a:r>
              <a:rPr lang="en-US" altLang="zh-CN" sz="1800" b="0" i="0" dirty="0">
                <a:solidFill>
                  <a:srgbClr val="000000"/>
                </a:solidFill>
                <a:effectLst/>
                <a:latin typeface="E-BZ"/>
              </a:rPr>
              <a:t>Tag </a:t>
            </a:r>
            <a:r>
              <a:rPr lang="zh-CN" altLang="en-US" sz="1800" b="0" i="0" dirty="0">
                <a:solidFill>
                  <a:srgbClr val="000000"/>
                </a:solidFill>
                <a:effectLst/>
                <a:latin typeface="FZSSK--GBK1-0"/>
              </a:rPr>
              <a:t>字段的长度</a:t>
            </a:r>
            <a:r>
              <a:rPr lang="zh-CN" altLang="en-US" sz="1800" b="0" i="0" dirty="0">
                <a:solidFill>
                  <a:srgbClr val="000000"/>
                </a:solidFill>
                <a:effectLst/>
                <a:latin typeface="E-BZ"/>
              </a:rPr>
              <a:t>， </a:t>
            </a:r>
            <a:r>
              <a:rPr lang="zh-CN" altLang="en-US" sz="1800" b="0" i="0" dirty="0">
                <a:solidFill>
                  <a:srgbClr val="000000"/>
                </a:solidFill>
                <a:effectLst/>
                <a:latin typeface="FZSSK--GBK1-0"/>
              </a:rPr>
              <a:t>可以发现每个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设备最多可以暂存 </a:t>
            </a:r>
            <a:r>
              <a:rPr lang="en-US" altLang="zh-CN" sz="1800" b="0" i="0" dirty="0">
                <a:solidFill>
                  <a:srgbClr val="000000"/>
                </a:solidFill>
                <a:effectLst/>
                <a:latin typeface="E-BZ"/>
              </a:rPr>
              <a:t>256 </a:t>
            </a:r>
            <a:r>
              <a:rPr lang="zh-CN" altLang="en-US" sz="1800" b="0" i="0" dirty="0">
                <a:solidFill>
                  <a:srgbClr val="000000"/>
                </a:solidFill>
                <a:effectLst/>
                <a:latin typeface="FZSSK--GBK1-0"/>
              </a:rPr>
              <a:t>个同类型的 </a:t>
            </a:r>
            <a:r>
              <a:rPr lang="en-US" altLang="zh-CN" sz="1800" b="0" i="0" dirty="0" err="1">
                <a:solidFill>
                  <a:srgbClr val="000000"/>
                </a:solidFill>
                <a:effectLst/>
                <a:latin typeface="E-BZ"/>
              </a:rPr>
              <a:t>Non⁃Posted</a:t>
            </a:r>
            <a:r>
              <a:rPr lang="zh-CN" altLang="en-US" sz="1800" b="0" i="0" dirty="0">
                <a:solidFill>
                  <a:srgbClr val="000000"/>
                </a:solidFill>
                <a:effectLst/>
                <a:latin typeface="FZSSK--GBK1-0"/>
              </a:rPr>
              <a:t>报文</a:t>
            </a:r>
            <a:r>
              <a:rPr lang="zh-CN" altLang="en-US" sz="1800" b="0" i="0" dirty="0">
                <a:solidFill>
                  <a:srgbClr val="000000"/>
                </a:solidFill>
                <a:effectLst/>
                <a:latin typeface="E-BZ"/>
              </a:rPr>
              <a:t>。 </a:t>
            </a:r>
            <a:r>
              <a:rPr lang="zh-CN" altLang="en-US" sz="1800" b="0" i="0" dirty="0">
                <a:solidFill>
                  <a:srgbClr val="000000"/>
                </a:solidFill>
                <a:effectLst/>
                <a:latin typeface="FZSSK--GBK1-0"/>
              </a:rPr>
              <a:t>但是在多数情况下</a:t>
            </a:r>
            <a:r>
              <a:rPr lang="zh-CN" altLang="en-US" sz="1800" b="0" i="0" dirty="0">
                <a:solidFill>
                  <a:srgbClr val="000000"/>
                </a:solidFill>
                <a:effectLst/>
                <a:latin typeface="E-BZ"/>
              </a:rPr>
              <a:t>， </a:t>
            </a:r>
            <a:r>
              <a:rPr lang="zh-CN" altLang="en-US" sz="1800" b="0" i="0" dirty="0">
                <a:solidFill>
                  <a:srgbClr val="000000"/>
                </a:solidFill>
                <a:effectLst/>
                <a:latin typeface="FZSSK--GBK1-0"/>
              </a:rPr>
              <a:t>一个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设备可能只包含 </a:t>
            </a:r>
            <a:r>
              <a:rPr lang="en-US" altLang="zh-CN" sz="1800" b="0" i="0" dirty="0">
                <a:solidFill>
                  <a:srgbClr val="000000"/>
                </a:solidFill>
                <a:effectLst/>
                <a:latin typeface="E-BZ"/>
              </a:rPr>
              <a:t>1 </a:t>
            </a:r>
            <a:r>
              <a:rPr lang="zh-CN" altLang="en-US" sz="1800" b="0" i="0" dirty="0">
                <a:solidFill>
                  <a:srgbClr val="000000"/>
                </a:solidFill>
                <a:effectLst/>
                <a:latin typeface="FZSSK--GBK1-0"/>
              </a:rPr>
              <a:t>个 </a:t>
            </a:r>
            <a:r>
              <a:rPr lang="en-US" altLang="zh-CN" sz="1800" b="0" i="0" dirty="0">
                <a:solidFill>
                  <a:srgbClr val="000000"/>
                </a:solidFill>
                <a:effectLst/>
                <a:latin typeface="E-BZ"/>
              </a:rPr>
              <a:t>Function</a:t>
            </a:r>
            <a:r>
              <a:rPr lang="zh-CN" altLang="en-US" sz="1800" b="0" i="0" dirty="0">
                <a:solidFill>
                  <a:srgbClr val="000000"/>
                </a:solidFill>
                <a:effectLst/>
                <a:latin typeface="E-BZ"/>
              </a:rPr>
              <a:t>。 </a:t>
            </a:r>
            <a:r>
              <a:rPr lang="zh-CN" altLang="en-US" sz="1800" b="0" i="0" dirty="0">
                <a:solidFill>
                  <a:srgbClr val="000000"/>
                </a:solidFill>
                <a:effectLst/>
                <a:latin typeface="FZSSK--GBK1-0"/>
              </a:rPr>
              <a:t>因此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设备还可以使用 </a:t>
            </a:r>
            <a:r>
              <a:rPr lang="en-US" altLang="zh-CN" sz="1800" b="0" i="0" dirty="0">
                <a:solidFill>
                  <a:srgbClr val="000000"/>
                </a:solidFill>
                <a:effectLst/>
                <a:latin typeface="E-BZ"/>
              </a:rPr>
              <a:t>Function </a:t>
            </a:r>
            <a:r>
              <a:rPr lang="zh-CN" altLang="en-US" sz="1800" b="0" i="0" dirty="0">
                <a:solidFill>
                  <a:srgbClr val="000000"/>
                </a:solidFill>
                <a:effectLst/>
                <a:latin typeface="FZSSK--GBK1-0"/>
              </a:rPr>
              <a:t>号扩展 </a:t>
            </a:r>
            <a:r>
              <a:rPr lang="en-US" altLang="zh-CN" sz="1800" b="0" i="0" dirty="0">
                <a:solidFill>
                  <a:srgbClr val="000000"/>
                </a:solidFill>
                <a:effectLst/>
                <a:latin typeface="E-BZ"/>
              </a:rPr>
              <a:t>Tag </a:t>
            </a:r>
            <a:r>
              <a:rPr lang="zh-CN" altLang="en-US" sz="1800" b="0" i="0" dirty="0">
                <a:solidFill>
                  <a:srgbClr val="000000"/>
                </a:solidFill>
                <a:effectLst/>
                <a:latin typeface="FZSSK--GBK1-0"/>
              </a:rPr>
              <a:t>字段</a:t>
            </a:r>
            <a:r>
              <a:rPr lang="zh-CN" altLang="en-US" sz="1800" b="0" i="0" dirty="0">
                <a:solidFill>
                  <a:srgbClr val="000000"/>
                </a:solidFill>
                <a:effectLst/>
                <a:latin typeface="E-BZ"/>
              </a:rPr>
              <a:t>， </a:t>
            </a:r>
            <a:r>
              <a:rPr lang="zh-CN" altLang="en-US" sz="1800" b="0" i="0" dirty="0">
                <a:solidFill>
                  <a:srgbClr val="000000"/>
                </a:solidFill>
                <a:effectLst/>
                <a:latin typeface="FZSSK--GBK1-0"/>
              </a:rPr>
              <a:t>从而扩展 </a:t>
            </a:r>
            <a:r>
              <a:rPr lang="zh-CN" altLang="en-US" sz="1800" b="0" i="0" dirty="0">
                <a:solidFill>
                  <a:srgbClr val="000000"/>
                </a:solidFill>
                <a:effectLst/>
                <a:latin typeface="E-BZ"/>
              </a:rPr>
              <a:t>“</a:t>
            </a:r>
            <a:r>
              <a:rPr lang="zh-CN" altLang="en-US" sz="1800" b="0" i="0" dirty="0">
                <a:solidFill>
                  <a:srgbClr val="000000"/>
                </a:solidFill>
                <a:effectLst/>
                <a:latin typeface="FZSSK--GBK1-0"/>
              </a:rPr>
              <a:t>暂存 </a:t>
            </a:r>
            <a:r>
              <a:rPr lang="en-US" altLang="zh-CN" sz="1800" b="0" i="0" dirty="0">
                <a:solidFill>
                  <a:srgbClr val="000000"/>
                </a:solidFill>
                <a:effectLst/>
                <a:latin typeface="E-BZ"/>
              </a:rPr>
              <a:t>TLP </a:t>
            </a:r>
            <a:r>
              <a:rPr lang="zh-CN" altLang="en-US" sz="1800" b="0" i="0" dirty="0">
                <a:solidFill>
                  <a:srgbClr val="000000"/>
                </a:solidFill>
                <a:effectLst/>
                <a:latin typeface="FZSSK--GBK1-0"/>
              </a:rPr>
              <a:t>报文</a:t>
            </a:r>
            <a:r>
              <a:rPr lang="zh-CN" altLang="en-US" sz="1800" b="0" i="0" dirty="0">
                <a:solidFill>
                  <a:srgbClr val="000000"/>
                </a:solidFill>
                <a:effectLst/>
                <a:latin typeface="E-BZ"/>
              </a:rPr>
              <a:t>” </a:t>
            </a:r>
            <a:r>
              <a:rPr lang="zh-CN" altLang="en-US" sz="1800" b="0" i="0" dirty="0">
                <a:solidFill>
                  <a:srgbClr val="000000"/>
                </a:solidFill>
                <a:effectLst/>
                <a:latin typeface="FZSSK--GBK1-0"/>
              </a:rPr>
              <a:t>的数目</a:t>
            </a:r>
            <a:r>
              <a:rPr lang="zh-CN" altLang="en-US" sz="1800" b="0" i="0" dirty="0">
                <a:solidFill>
                  <a:srgbClr val="000000"/>
                </a:solidFill>
                <a:effectLst/>
                <a:latin typeface="E-BZ"/>
              </a:rPr>
              <a:t>。</a:t>
            </a:r>
            <a:r>
              <a:rPr lang="zh-CN" altLang="en-US" dirty="0"/>
              <a:t> </a:t>
            </a:r>
            <a:endParaRPr lang="en-US" altLang="zh-CN" dirty="0"/>
          </a:p>
          <a:p>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设备在 </a:t>
            </a:r>
            <a:r>
              <a:rPr lang="en-US" altLang="zh-CN" sz="1800" b="0" i="0" dirty="0">
                <a:solidFill>
                  <a:srgbClr val="000000"/>
                </a:solidFill>
                <a:effectLst/>
                <a:latin typeface="E-BZ"/>
              </a:rPr>
              <a:t>PCI Express Capability </a:t>
            </a:r>
            <a:r>
              <a:rPr lang="zh-CN" altLang="en-US" sz="1800" b="0" i="0" dirty="0">
                <a:solidFill>
                  <a:srgbClr val="000000"/>
                </a:solidFill>
                <a:effectLst/>
                <a:latin typeface="FZSSK--GBK1-0"/>
              </a:rPr>
              <a:t>结构的 </a:t>
            </a:r>
            <a:r>
              <a:rPr lang="en-US" altLang="zh-CN" sz="1800" b="0" i="0" dirty="0">
                <a:solidFill>
                  <a:srgbClr val="000000"/>
                </a:solidFill>
                <a:effectLst/>
                <a:latin typeface="E-BZ"/>
              </a:rPr>
              <a:t>Device Control </a:t>
            </a:r>
            <a:r>
              <a:rPr lang="zh-CN" altLang="en-US" sz="1800" b="0" i="0" dirty="0">
                <a:solidFill>
                  <a:srgbClr val="000000"/>
                </a:solidFill>
                <a:effectLst/>
                <a:latin typeface="FZSSK--GBK1-0"/>
              </a:rPr>
              <a:t>寄存器中</a:t>
            </a:r>
            <a:r>
              <a:rPr lang="zh-CN" altLang="en-US" sz="1800" b="0" i="0" dirty="0">
                <a:solidFill>
                  <a:srgbClr val="000000"/>
                </a:solidFill>
                <a:effectLst/>
                <a:latin typeface="E-BZ"/>
              </a:rPr>
              <a:t>， </a:t>
            </a:r>
            <a:r>
              <a:rPr lang="zh-CN" altLang="en-US" sz="1800" b="0" i="0" dirty="0">
                <a:solidFill>
                  <a:srgbClr val="000000"/>
                </a:solidFill>
                <a:effectLst/>
                <a:latin typeface="FZSSK--GBK1-0"/>
              </a:rPr>
              <a:t>设置了一个 </a:t>
            </a:r>
            <a:r>
              <a:rPr lang="en-US" altLang="zh-CN" sz="1800" b="0" i="0" dirty="0">
                <a:solidFill>
                  <a:srgbClr val="000000"/>
                </a:solidFill>
                <a:effectLst/>
                <a:latin typeface="E-BZ"/>
              </a:rPr>
              <a:t>Phantom Functions Enable </a:t>
            </a:r>
            <a:r>
              <a:rPr lang="zh-CN" altLang="en-US" sz="1800" b="0" i="0" dirty="0">
                <a:solidFill>
                  <a:srgbClr val="000000"/>
                </a:solidFill>
                <a:effectLst/>
                <a:latin typeface="FZSSK--GBK1-0"/>
              </a:rPr>
              <a:t>位</a:t>
            </a:r>
            <a:r>
              <a:rPr lang="zh-CN" altLang="en-US" sz="1800" b="0" i="0" dirty="0">
                <a:solidFill>
                  <a:srgbClr val="000000"/>
                </a:solidFill>
                <a:effectLst/>
                <a:latin typeface="E-BZ"/>
              </a:rPr>
              <a:t>，</a:t>
            </a:r>
            <a:r>
              <a:rPr lang="zh-CN" altLang="en-US" sz="1800" b="0" i="0" dirty="0">
                <a:solidFill>
                  <a:srgbClr val="000000"/>
                </a:solidFill>
                <a:effectLst/>
                <a:latin typeface="FZSSK--GBK1-0"/>
              </a:rPr>
              <a:t>当一个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设备仅支持一个 </a:t>
            </a:r>
            <a:r>
              <a:rPr lang="en-US" altLang="zh-CN" sz="1800" b="0" i="0" dirty="0">
                <a:solidFill>
                  <a:srgbClr val="000000"/>
                </a:solidFill>
                <a:effectLst/>
                <a:latin typeface="E-BZ"/>
              </a:rPr>
              <a:t>Function</a:t>
            </a:r>
            <a:r>
              <a:rPr lang="zh-CN" altLang="en-US" sz="1800" b="0" i="0" dirty="0">
                <a:solidFill>
                  <a:srgbClr val="000000"/>
                </a:solidFill>
                <a:effectLst/>
                <a:latin typeface="FZSSK--GBK1-0"/>
              </a:rPr>
              <a:t>时</a:t>
            </a:r>
            <a:r>
              <a:rPr lang="zh-CN" altLang="en-US" sz="1800" b="0" i="0" dirty="0">
                <a:solidFill>
                  <a:srgbClr val="000000"/>
                </a:solidFill>
                <a:effectLst/>
                <a:latin typeface="E-BZ"/>
              </a:rPr>
              <a:t>， </a:t>
            </a:r>
            <a:r>
              <a:rPr lang="en-US" altLang="zh-CN" sz="1800" b="0" i="0" dirty="0">
                <a:solidFill>
                  <a:srgbClr val="000000"/>
                </a:solidFill>
                <a:effectLst/>
                <a:latin typeface="E-BZ"/>
              </a:rPr>
              <a:t>Phantom Functions Enable </a:t>
            </a:r>
            <a:r>
              <a:rPr lang="zh-CN" altLang="en-US" sz="1800" b="0" i="0" dirty="0">
                <a:solidFill>
                  <a:srgbClr val="000000"/>
                </a:solidFill>
                <a:effectLst/>
                <a:latin typeface="FZSSK--GBK1-0"/>
              </a:rPr>
              <a:t>位可以被设置为 </a:t>
            </a:r>
            <a:r>
              <a:rPr lang="en-US" altLang="zh-CN" sz="1800" b="0" i="0" dirty="0">
                <a:solidFill>
                  <a:srgbClr val="000000"/>
                </a:solidFill>
                <a:effectLst/>
                <a:latin typeface="E-BZ"/>
              </a:rPr>
              <a:t>1</a:t>
            </a:r>
            <a:r>
              <a:rPr lang="zh-CN" altLang="en-US" sz="1800" b="0" i="0" dirty="0">
                <a:solidFill>
                  <a:srgbClr val="000000"/>
                </a:solidFill>
                <a:effectLst/>
                <a:latin typeface="E-BZ"/>
              </a:rPr>
              <a:t>， </a:t>
            </a:r>
            <a:r>
              <a:rPr lang="zh-CN" altLang="en-US" sz="1800" b="0" i="0" dirty="0">
                <a:solidFill>
                  <a:srgbClr val="000000"/>
                </a:solidFill>
                <a:effectLst/>
                <a:latin typeface="FZSSK--GBK1-0"/>
              </a:rPr>
              <a:t>此时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设备可以使用 </a:t>
            </a:r>
            <a:r>
              <a:rPr lang="en-US" altLang="zh-CN" sz="1800" b="0" i="0" dirty="0">
                <a:solidFill>
                  <a:srgbClr val="000000"/>
                </a:solidFill>
                <a:effectLst/>
                <a:latin typeface="E-BZ"/>
              </a:rPr>
              <a:t>Requester ID </a:t>
            </a:r>
            <a:r>
              <a:rPr lang="zh-CN" altLang="en-US" sz="1800" b="0" i="0" dirty="0">
                <a:solidFill>
                  <a:srgbClr val="000000"/>
                </a:solidFill>
                <a:effectLst/>
                <a:latin typeface="FZSSK--GBK1-0"/>
              </a:rPr>
              <a:t>的</a:t>
            </a:r>
            <a:r>
              <a:rPr lang="en-US" altLang="zh-CN" sz="1800" b="0" i="0" dirty="0">
                <a:solidFill>
                  <a:srgbClr val="000000"/>
                </a:solidFill>
                <a:effectLst/>
                <a:latin typeface="E-BZ"/>
              </a:rPr>
              <a:t>Function Number </a:t>
            </a:r>
            <a:r>
              <a:rPr lang="zh-CN" altLang="en-US" sz="1800" b="0" i="0" dirty="0">
                <a:solidFill>
                  <a:srgbClr val="000000"/>
                </a:solidFill>
                <a:effectLst/>
                <a:latin typeface="FZSSK--GBK1-0"/>
              </a:rPr>
              <a:t>字段对 </a:t>
            </a:r>
            <a:r>
              <a:rPr lang="en-US" altLang="zh-CN" sz="1800" b="0" i="0" dirty="0">
                <a:solidFill>
                  <a:srgbClr val="000000"/>
                </a:solidFill>
                <a:effectLst/>
                <a:latin typeface="E-BZ"/>
              </a:rPr>
              <a:t>Tag </a:t>
            </a:r>
            <a:r>
              <a:rPr lang="zh-CN" altLang="en-US" sz="1800" b="0" i="0" dirty="0">
                <a:solidFill>
                  <a:srgbClr val="000000"/>
                </a:solidFill>
                <a:effectLst/>
                <a:latin typeface="FZSSK--GBK1-0"/>
              </a:rPr>
              <a:t>字段进一步扩展</a:t>
            </a:r>
            <a:r>
              <a:rPr lang="zh-CN" altLang="en-US" sz="1800" b="0" i="0" dirty="0">
                <a:solidFill>
                  <a:srgbClr val="000000"/>
                </a:solidFill>
                <a:effectLst/>
                <a:latin typeface="E-BZ"/>
              </a:rPr>
              <a:t>， </a:t>
            </a:r>
            <a:r>
              <a:rPr lang="zh-CN" altLang="en-US" sz="1800" b="0" i="0" dirty="0">
                <a:solidFill>
                  <a:srgbClr val="000000"/>
                </a:solidFill>
                <a:effectLst/>
                <a:latin typeface="FZSSK--GBK1-0"/>
              </a:rPr>
              <a:t>此时一个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设备最多可以支持 </a:t>
            </a:r>
            <a:r>
              <a:rPr lang="en-US" altLang="zh-CN" sz="1800" b="0" i="0" dirty="0">
                <a:solidFill>
                  <a:srgbClr val="000000"/>
                </a:solidFill>
                <a:effectLst/>
                <a:latin typeface="E-BZ"/>
              </a:rPr>
              <a:t>2048 </a:t>
            </a:r>
            <a:r>
              <a:rPr lang="zh-CN" altLang="en-US" sz="1800" b="0" i="0" dirty="0">
                <a:solidFill>
                  <a:srgbClr val="000000"/>
                </a:solidFill>
                <a:effectLst/>
                <a:latin typeface="FZSSK--GBK1-0"/>
              </a:rPr>
              <a:t>个同类型的数据请求</a:t>
            </a:r>
            <a:r>
              <a:rPr lang="zh-CN" altLang="en-US" sz="1800" b="0" i="0" dirty="0">
                <a:solidFill>
                  <a:srgbClr val="000000"/>
                </a:solidFill>
                <a:effectLst/>
                <a:latin typeface="E-BZ"/>
              </a:rPr>
              <a:t>。</a:t>
            </a:r>
            <a:r>
              <a:rPr lang="zh-CN" altLang="en-US" sz="2800" dirty="0"/>
              <a:t> </a:t>
            </a:r>
            <a:br>
              <a:rPr lang="zh-CN" altLang="en-US" sz="2800" dirty="0"/>
            </a:br>
            <a:r>
              <a:rPr lang="zh-CN" altLang="en-US" sz="1800" b="0" i="0" dirty="0">
                <a:solidFill>
                  <a:srgbClr val="000000"/>
                </a:solidFill>
                <a:effectLst/>
                <a:latin typeface="FZSSK--GBK1-0"/>
              </a:rPr>
              <a:t>一个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设备最多可以支持 </a:t>
            </a:r>
            <a:r>
              <a:rPr lang="en-US" altLang="zh-CN" sz="1800" b="0" i="0" dirty="0">
                <a:solidFill>
                  <a:srgbClr val="000000"/>
                </a:solidFill>
                <a:effectLst/>
                <a:latin typeface="E-BZ"/>
              </a:rPr>
              <a:t>2048 </a:t>
            </a:r>
            <a:r>
              <a:rPr lang="zh-CN" altLang="en-US" sz="1800" b="0" i="0" dirty="0">
                <a:solidFill>
                  <a:srgbClr val="000000"/>
                </a:solidFill>
                <a:effectLst/>
                <a:latin typeface="FZSSK--GBK1-0"/>
              </a:rPr>
              <a:t>个存储器读数据请求</a:t>
            </a:r>
            <a:r>
              <a:rPr lang="zh-CN" altLang="en-US" sz="1800" b="0" i="0" dirty="0">
                <a:solidFill>
                  <a:srgbClr val="000000"/>
                </a:solidFill>
                <a:effectLst/>
                <a:latin typeface="E-BZ"/>
              </a:rPr>
              <a:t>， </a:t>
            </a:r>
            <a:r>
              <a:rPr lang="zh-CN" altLang="en-US" sz="1800" b="0" i="0" dirty="0">
                <a:solidFill>
                  <a:srgbClr val="000000"/>
                </a:solidFill>
                <a:effectLst/>
                <a:latin typeface="FZSSK--GBK1-0"/>
              </a:rPr>
              <a:t>基本上可以满足绝大多数需要</a:t>
            </a:r>
            <a:r>
              <a:rPr lang="zh-CN" altLang="en-US" sz="1800" b="0" i="0" dirty="0">
                <a:solidFill>
                  <a:srgbClr val="000000"/>
                </a:solidFill>
                <a:effectLst/>
                <a:latin typeface="E-BZ"/>
              </a:rPr>
              <a:t>。 </a:t>
            </a:r>
            <a:r>
              <a:rPr lang="zh-CN" altLang="en-US" sz="1800" b="0" i="0" dirty="0">
                <a:solidFill>
                  <a:srgbClr val="000000"/>
                </a:solidFill>
                <a:effectLst/>
                <a:latin typeface="FZSSK--GBK1-0"/>
              </a:rPr>
              <a:t>但是在某些特殊应用场合</a:t>
            </a:r>
            <a:r>
              <a:rPr lang="zh-CN" altLang="en-US" sz="1800" b="0" i="0" dirty="0">
                <a:solidFill>
                  <a:srgbClr val="000000"/>
                </a:solidFill>
                <a:effectLst/>
                <a:latin typeface="E-BZ"/>
              </a:rPr>
              <a:t>， </a:t>
            </a:r>
            <a:r>
              <a:rPr lang="en-US" altLang="zh-CN" sz="1800" b="0" i="0" dirty="0">
                <a:solidFill>
                  <a:srgbClr val="000000"/>
                </a:solidFill>
                <a:effectLst/>
                <a:latin typeface="E-BZ"/>
              </a:rPr>
              <a:t>PCIe </a:t>
            </a:r>
            <a:r>
              <a:rPr lang="zh-CN" altLang="en-US" sz="1800" b="0" i="0" dirty="0">
                <a:solidFill>
                  <a:srgbClr val="000000"/>
                </a:solidFill>
                <a:effectLst/>
                <a:latin typeface="FZSSK--GBK1-0"/>
              </a:rPr>
              <a:t>设备即使可以暂存 </a:t>
            </a:r>
            <a:r>
              <a:rPr lang="en-US" altLang="zh-CN" sz="1800" b="0" i="0" dirty="0">
                <a:solidFill>
                  <a:srgbClr val="000000"/>
                </a:solidFill>
                <a:effectLst/>
                <a:latin typeface="E-BZ"/>
              </a:rPr>
              <a:t>2048 </a:t>
            </a:r>
            <a:r>
              <a:rPr lang="zh-CN" altLang="en-US" sz="1800" b="0" i="0" dirty="0">
                <a:solidFill>
                  <a:srgbClr val="000000"/>
                </a:solidFill>
                <a:effectLst/>
                <a:latin typeface="FZSSK--GBK1-0"/>
              </a:rPr>
              <a:t>个存储器读请求</a:t>
            </a:r>
            <a:r>
              <a:rPr lang="zh-CN" altLang="en-US" sz="1800" b="0" i="0" dirty="0">
                <a:solidFill>
                  <a:srgbClr val="000000"/>
                </a:solidFill>
                <a:effectLst/>
                <a:latin typeface="E-BZ"/>
              </a:rPr>
              <a:t>， </a:t>
            </a:r>
            <a:r>
              <a:rPr lang="zh-CN" altLang="en-US" sz="1800" b="0" i="0" dirty="0">
                <a:solidFill>
                  <a:srgbClr val="000000"/>
                </a:solidFill>
                <a:effectLst/>
                <a:latin typeface="FZSSK--GBK1-0"/>
              </a:rPr>
              <a:t>也并不足够</a:t>
            </a:r>
            <a:r>
              <a:rPr lang="zh-CN" altLang="en-US" sz="1800" b="0" i="0" dirty="0">
                <a:solidFill>
                  <a:srgbClr val="000000"/>
                </a:solidFill>
                <a:effectLst/>
                <a:latin typeface="E-BZ"/>
              </a:rPr>
              <a:t>。</a:t>
            </a:r>
            <a:r>
              <a:rPr lang="zh-CN" altLang="en-US" dirty="0"/>
              <a:t> </a:t>
            </a:r>
            <a:br>
              <a:rPr lang="zh-CN" altLang="en-US" dirty="0"/>
            </a:br>
            <a:br>
              <a:rPr lang="zh-CN" altLang="en-US" dirty="0"/>
            </a:br>
            <a:br>
              <a:rPr lang="zh-CN" altLang="en-US" dirty="0"/>
            </a:br>
            <a:endParaRPr lang="zh-CN" altLang="en-US" dirty="0"/>
          </a:p>
        </p:txBody>
      </p:sp>
      <p:sp>
        <p:nvSpPr>
          <p:cNvPr id="4" name="灯片编号占位符 3"/>
          <p:cNvSpPr>
            <a:spLocks noGrp="1"/>
          </p:cNvSpPr>
          <p:nvPr>
            <p:ph type="sldNum" sz="quarter" idx="5"/>
          </p:nvPr>
        </p:nvSpPr>
        <p:spPr/>
        <p:txBody>
          <a:bodyPr/>
          <a:lstStyle/>
          <a:p>
            <a:fld id="{FEB3D97D-0215-411C-B390-5D5891D681D8}" type="slidenum">
              <a:rPr lang="zh-CN" altLang="en-US" smtClean="0"/>
              <a:t>14</a:t>
            </a:fld>
            <a:endParaRPr lang="zh-CN" altLang="en-US"/>
          </a:p>
        </p:txBody>
      </p:sp>
    </p:spTree>
    <p:extLst>
      <p:ext uri="{BB962C8B-B14F-4D97-AF65-F5344CB8AC3E}">
        <p14:creationId xmlns:p14="http://schemas.microsoft.com/office/powerpoint/2010/main" val="1083488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B3D97D-0215-411C-B390-5D5891D681D8}" type="slidenum">
              <a:rPr lang="zh-CN" altLang="en-US" smtClean="0"/>
              <a:t>18</a:t>
            </a:fld>
            <a:endParaRPr lang="zh-CN" altLang="en-US"/>
          </a:p>
        </p:txBody>
      </p:sp>
    </p:spTree>
    <p:extLst>
      <p:ext uri="{BB962C8B-B14F-4D97-AF65-F5344CB8AC3E}">
        <p14:creationId xmlns:p14="http://schemas.microsoft.com/office/powerpoint/2010/main" val="3137826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0" i="0" dirty="0">
                <a:solidFill>
                  <a:srgbClr val="000000"/>
                </a:solidFill>
                <a:effectLst/>
                <a:latin typeface="E-BZ"/>
              </a:rPr>
              <a:t>Processing Hint </a:t>
            </a:r>
            <a:r>
              <a:rPr lang="zh-CN" altLang="en-US" sz="1800" b="0" i="0" dirty="0">
                <a:solidFill>
                  <a:srgbClr val="000000"/>
                </a:solidFill>
                <a:effectLst/>
                <a:latin typeface="FZSSK--GBK1-0"/>
              </a:rPr>
              <a:t>字段的产生与智能设备的大量涌现密切相关</a:t>
            </a:r>
            <a:r>
              <a:rPr lang="zh-CN" altLang="en-US" sz="1800" b="0" i="0" dirty="0">
                <a:solidFill>
                  <a:srgbClr val="000000"/>
                </a:solidFill>
                <a:effectLst/>
                <a:latin typeface="E-BZ"/>
              </a:rPr>
              <a:t>。 </a:t>
            </a:r>
            <a:r>
              <a:rPr lang="zh-CN" altLang="en-US" sz="1800" b="0" i="0" dirty="0">
                <a:solidFill>
                  <a:srgbClr val="000000"/>
                </a:solidFill>
                <a:effectLst/>
                <a:latin typeface="FZSSK--GBK1-0"/>
              </a:rPr>
              <a:t>在智能设备中</a:t>
            </a:r>
            <a:r>
              <a:rPr lang="zh-CN" altLang="en-US" sz="1800" b="0" i="0" dirty="0">
                <a:solidFill>
                  <a:srgbClr val="000000"/>
                </a:solidFill>
                <a:effectLst/>
                <a:latin typeface="E-BZ"/>
              </a:rPr>
              <a:t>， </a:t>
            </a:r>
            <a:r>
              <a:rPr lang="zh-CN" altLang="en-US" sz="1800" b="0" i="0" dirty="0">
                <a:solidFill>
                  <a:srgbClr val="000000"/>
                </a:solidFill>
                <a:effectLst/>
                <a:latin typeface="FZSSK--GBK1-0"/>
              </a:rPr>
              <a:t>含有一个运算能力相当强的处理器</a:t>
            </a:r>
            <a:r>
              <a:rPr lang="zh-CN" altLang="en-US" sz="1800" b="0" i="0" dirty="0">
                <a:solidFill>
                  <a:srgbClr val="000000"/>
                </a:solidFill>
                <a:effectLst/>
                <a:latin typeface="E-BZ"/>
              </a:rPr>
              <a:t>。 </a:t>
            </a:r>
            <a:r>
              <a:rPr lang="zh-CN" altLang="en-US" sz="1800" b="0" i="0" dirty="0">
                <a:solidFill>
                  <a:srgbClr val="000000"/>
                </a:solidFill>
                <a:effectLst/>
                <a:latin typeface="FZSSK--GBK1-0"/>
              </a:rPr>
              <a:t>智能设备与处理器之间的数据交换</a:t>
            </a:r>
            <a:r>
              <a:rPr lang="zh-CN" altLang="en-US" sz="1800" b="0" i="0" dirty="0">
                <a:solidFill>
                  <a:srgbClr val="000000"/>
                </a:solidFill>
                <a:effectLst/>
                <a:latin typeface="E-BZ"/>
              </a:rPr>
              <a:t>， </a:t>
            </a:r>
            <a:r>
              <a:rPr lang="zh-CN" altLang="en-US" sz="1800" b="0" i="0" dirty="0">
                <a:solidFill>
                  <a:srgbClr val="000000"/>
                </a:solidFill>
                <a:effectLst/>
                <a:latin typeface="FZSSK--GBK1-0"/>
              </a:rPr>
              <a:t>实质上等效于两个处理器系统之间的数据传递</a:t>
            </a:r>
            <a:r>
              <a:rPr lang="zh-CN" altLang="en-US" sz="1800" b="0" i="0" dirty="0">
                <a:solidFill>
                  <a:srgbClr val="000000"/>
                </a:solidFill>
                <a:effectLst/>
                <a:latin typeface="E-BZ"/>
              </a:rPr>
              <a:t>。 </a:t>
            </a:r>
            <a:r>
              <a:rPr lang="zh-CN" altLang="en-US" sz="1800" b="0" i="0" dirty="0">
                <a:solidFill>
                  <a:srgbClr val="000000"/>
                </a:solidFill>
                <a:effectLst/>
                <a:latin typeface="FZSSK--GBK1-0"/>
              </a:rPr>
              <a:t>有些智能设备</a:t>
            </a:r>
            <a:r>
              <a:rPr lang="zh-CN" altLang="en-US" sz="1800" b="0" i="0" dirty="0">
                <a:solidFill>
                  <a:srgbClr val="000000"/>
                </a:solidFill>
                <a:effectLst/>
                <a:latin typeface="E-BZ"/>
              </a:rPr>
              <a:t>， </a:t>
            </a:r>
            <a:r>
              <a:rPr lang="zh-CN" altLang="en-US" sz="1800" b="0" i="0" dirty="0">
                <a:solidFill>
                  <a:srgbClr val="000000"/>
                </a:solidFill>
                <a:effectLst/>
                <a:latin typeface="FZSSK--GBK1-0"/>
              </a:rPr>
              <a:t>如在显卡中使用的 </a:t>
            </a:r>
            <a:r>
              <a:rPr lang="en-US" altLang="zh-CN" sz="1800" b="0" i="0" dirty="0">
                <a:solidFill>
                  <a:srgbClr val="000000"/>
                </a:solidFill>
                <a:effectLst/>
                <a:latin typeface="E-BZ"/>
              </a:rPr>
              <a:t>GPU </a:t>
            </a:r>
            <a:r>
              <a:rPr lang="zh-CN" altLang="en-US" sz="1800" b="0" i="0" dirty="0">
                <a:solidFill>
                  <a:srgbClr val="000000"/>
                </a:solidFill>
                <a:effectLst/>
                <a:latin typeface="E-BZ"/>
              </a:rPr>
              <a:t>（ </a:t>
            </a:r>
            <a:r>
              <a:rPr lang="en-US" altLang="zh-CN" sz="1800" b="0" i="0" dirty="0">
                <a:solidFill>
                  <a:srgbClr val="000000"/>
                </a:solidFill>
                <a:effectLst/>
                <a:latin typeface="E-BZ"/>
              </a:rPr>
              <a:t>Graphic Processing Unit</a:t>
            </a:r>
            <a:r>
              <a:rPr lang="zh-CN" altLang="en-US" sz="1800" b="0" i="0" dirty="0">
                <a:solidFill>
                  <a:srgbClr val="000000"/>
                </a:solidFill>
                <a:effectLst/>
                <a:latin typeface="E-BZ"/>
              </a:rPr>
              <a:t>） </a:t>
            </a:r>
            <a:r>
              <a:rPr lang="zh-CN" altLang="en-US" sz="1800" b="0" i="0" dirty="0">
                <a:solidFill>
                  <a:srgbClr val="000000"/>
                </a:solidFill>
                <a:effectLst/>
                <a:latin typeface="FZSSK--GBK1-0"/>
              </a:rPr>
              <a:t>和</a:t>
            </a:r>
            <a:r>
              <a:rPr lang="en-US" altLang="zh-CN" sz="1800" b="0" i="0" dirty="0">
                <a:solidFill>
                  <a:srgbClr val="000000"/>
                </a:solidFill>
                <a:effectLst/>
                <a:latin typeface="E-BZ"/>
              </a:rPr>
              <a:t>GP⁃GPU </a:t>
            </a:r>
            <a:r>
              <a:rPr lang="zh-CN" altLang="en-US" sz="1800" b="0" i="0" dirty="0">
                <a:solidFill>
                  <a:srgbClr val="000000"/>
                </a:solidFill>
                <a:effectLst/>
                <a:latin typeface="E-BZ"/>
              </a:rPr>
              <a:t>（</a:t>
            </a:r>
            <a:r>
              <a:rPr lang="en-US" altLang="zh-CN" sz="1800" b="0" i="0" dirty="0" err="1">
                <a:solidFill>
                  <a:srgbClr val="000000"/>
                </a:solidFill>
                <a:effectLst/>
                <a:latin typeface="E-BZ"/>
              </a:rPr>
              <a:t>Gerneral</a:t>
            </a:r>
            <a:r>
              <a:rPr lang="en-US" altLang="zh-CN" sz="1800" b="0" i="0" dirty="0">
                <a:solidFill>
                  <a:srgbClr val="000000"/>
                </a:solidFill>
                <a:effectLst/>
                <a:latin typeface="E-BZ"/>
              </a:rPr>
              <a:t> Purpose GPU</a:t>
            </a:r>
            <a:r>
              <a:rPr lang="zh-CN" altLang="en-US" sz="1800" b="0" i="0" dirty="0">
                <a:solidFill>
                  <a:srgbClr val="000000"/>
                </a:solidFill>
                <a:effectLst/>
                <a:latin typeface="E-BZ"/>
              </a:rPr>
              <a:t>） </a:t>
            </a:r>
            <a:r>
              <a:rPr lang="zh-CN" altLang="en-US" sz="1800" b="0" i="0" dirty="0">
                <a:solidFill>
                  <a:srgbClr val="000000"/>
                </a:solidFill>
                <a:effectLst/>
                <a:latin typeface="FZSSK--GBK1-0"/>
              </a:rPr>
              <a:t>的处理能力甚至超过多数通用处理器</a:t>
            </a:r>
            <a:r>
              <a:rPr lang="zh-CN" altLang="en-US" sz="1800" b="0" i="0" dirty="0">
                <a:solidFill>
                  <a:srgbClr val="000000"/>
                </a:solidFill>
                <a:effectLst/>
                <a:latin typeface="E-BZ"/>
              </a:rPr>
              <a:t>。</a:t>
            </a:r>
            <a:r>
              <a:rPr lang="zh-CN" altLang="en-US" dirty="0"/>
              <a:t> </a:t>
            </a:r>
            <a:br>
              <a:rPr lang="zh-CN" altLang="en-US" dirty="0"/>
            </a:br>
            <a:endParaRPr lang="zh-CN" altLang="en-US" dirty="0"/>
          </a:p>
        </p:txBody>
      </p:sp>
      <p:sp>
        <p:nvSpPr>
          <p:cNvPr id="4" name="灯片编号占位符 3"/>
          <p:cNvSpPr>
            <a:spLocks noGrp="1"/>
          </p:cNvSpPr>
          <p:nvPr>
            <p:ph type="sldNum" sz="quarter" idx="5"/>
          </p:nvPr>
        </p:nvSpPr>
        <p:spPr/>
        <p:txBody>
          <a:bodyPr/>
          <a:lstStyle/>
          <a:p>
            <a:fld id="{FEB3D97D-0215-411C-B390-5D5891D681D8}" type="slidenum">
              <a:rPr lang="zh-CN" altLang="en-US" smtClean="0"/>
              <a:t>24</a:t>
            </a:fld>
            <a:endParaRPr lang="zh-CN" altLang="en-US"/>
          </a:p>
        </p:txBody>
      </p:sp>
    </p:spTree>
    <p:extLst>
      <p:ext uri="{BB962C8B-B14F-4D97-AF65-F5344CB8AC3E}">
        <p14:creationId xmlns:p14="http://schemas.microsoft.com/office/powerpoint/2010/main" val="3629802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B3D97D-0215-411C-B390-5D5891D681D8}" type="slidenum">
              <a:rPr lang="zh-CN" altLang="en-US" smtClean="0"/>
              <a:t>25</a:t>
            </a:fld>
            <a:endParaRPr lang="zh-CN" altLang="en-US"/>
          </a:p>
        </p:txBody>
      </p:sp>
    </p:spTree>
    <p:extLst>
      <p:ext uri="{BB962C8B-B14F-4D97-AF65-F5344CB8AC3E}">
        <p14:creationId xmlns:p14="http://schemas.microsoft.com/office/powerpoint/2010/main" val="1837918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421E1-3128-9666-A56E-82AB0854B0E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7D156FE-C7D4-1D2F-1B82-131237C1B4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FBC2D1A-FF7C-2CB3-2A53-E9A280AD5D6C}"/>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5" name="页脚占位符 4">
            <a:extLst>
              <a:ext uri="{FF2B5EF4-FFF2-40B4-BE49-F238E27FC236}">
                <a16:creationId xmlns:a16="http://schemas.microsoft.com/office/drawing/2014/main" id="{C806B895-950E-7D17-30C4-925A4B9491E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B7A256-CBF5-7B2D-3129-7706EF2D407D}"/>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2721059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B54F3E-9D93-9D81-C2D5-87C4C68564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46857FF-21FB-D9B3-0208-EC5AFFD5136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7CDCDE-970F-8D44-C1F7-B32EC514ED60}"/>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5" name="页脚占位符 4">
            <a:extLst>
              <a:ext uri="{FF2B5EF4-FFF2-40B4-BE49-F238E27FC236}">
                <a16:creationId xmlns:a16="http://schemas.microsoft.com/office/drawing/2014/main" id="{0A5EE8A1-1044-15C5-AF6A-FB0B82382DF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89796F-C41B-1B91-56EC-511B63675013}"/>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2547176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12513C-41D3-726E-D994-AB5F8803ED7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61BF183-33C1-8A6A-A136-8688F926BB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C976820-5162-07CE-F5E7-5509DC34B679}"/>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5" name="页脚占位符 4">
            <a:extLst>
              <a:ext uri="{FF2B5EF4-FFF2-40B4-BE49-F238E27FC236}">
                <a16:creationId xmlns:a16="http://schemas.microsoft.com/office/drawing/2014/main" id="{4D567C3B-EDD2-4D5E-C5AD-6C7AF1F897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E6938C-1BF0-6C6E-31EA-B9DF3A0B28CD}"/>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326346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30E0F3-6F8F-7D5F-EB29-E999B041E5E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892DFDA-F42F-EF2C-C11C-8061A7C8F62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CA03A0A-9BEC-6180-0EF3-A3EFFF9691F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5B5DAAF-0AC2-D5CA-9998-411DA265D874}"/>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6" name="页脚占位符 5">
            <a:extLst>
              <a:ext uri="{FF2B5EF4-FFF2-40B4-BE49-F238E27FC236}">
                <a16:creationId xmlns:a16="http://schemas.microsoft.com/office/drawing/2014/main" id="{179AE760-F9AA-5A2A-1A66-723976D729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67B6824-B9F3-AC9A-16AD-489AB5950F3E}"/>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3922855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74057-9E2C-BD64-2C86-B8FDDA1FAC2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7D261CA-C800-9DE7-1296-89E5705FB6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1E27714-F6A2-783D-6C8A-1F7590A1231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FFA644D-CCEF-822B-9818-44C9E02811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295C833-8475-78A4-2414-C29BF1638C6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D5F67B7-C2CA-34D8-8E06-C420FEE449B8}"/>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8" name="页脚占位符 7">
            <a:extLst>
              <a:ext uri="{FF2B5EF4-FFF2-40B4-BE49-F238E27FC236}">
                <a16:creationId xmlns:a16="http://schemas.microsoft.com/office/drawing/2014/main" id="{60A5387E-7820-3EDC-720D-7619BFA3F74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4731F2F-D3B2-BB45-474D-66C28B946A91}"/>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220023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E31FE-4FA8-B8A3-185A-6E919442766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4C6D8BD-DDE0-70ED-3995-6DB1C8E348E9}"/>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4" name="页脚占位符 3">
            <a:extLst>
              <a:ext uri="{FF2B5EF4-FFF2-40B4-BE49-F238E27FC236}">
                <a16:creationId xmlns:a16="http://schemas.microsoft.com/office/drawing/2014/main" id="{F76ECE2E-A8CE-7696-372B-A8316EFEC02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5CBF6B5-197E-9DB2-4C03-A0C1A14C611F}"/>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3118226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192C6F0-A89E-5CDE-A8BE-833192F302F8}"/>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3" name="页脚占位符 2">
            <a:extLst>
              <a:ext uri="{FF2B5EF4-FFF2-40B4-BE49-F238E27FC236}">
                <a16:creationId xmlns:a16="http://schemas.microsoft.com/office/drawing/2014/main" id="{E239D85C-E9AE-BF4A-55AE-A1F5C981995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9B33E7C-9E59-7DD9-3894-33035DE5C72C}"/>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3011378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2881E-B4BF-D193-E2B2-765F8812C5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F6E77E8-4D07-BDD4-C57B-F7A319EAD8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7C96CA0-844A-8A38-DE8C-8D5A76E8F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E68890F-05A4-AEBC-0AB2-5F6FCB7FD854}"/>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6" name="页脚占位符 5">
            <a:extLst>
              <a:ext uri="{FF2B5EF4-FFF2-40B4-BE49-F238E27FC236}">
                <a16:creationId xmlns:a16="http://schemas.microsoft.com/office/drawing/2014/main" id="{73E17FF8-7288-3ECB-8040-4EFB43870A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CDDF9C-D114-D99C-3BCB-2C00DE33F02D}"/>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3830465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AD1DC0-B361-29A1-AA93-9E089A4229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1E0B342-9F8E-9822-EF60-4E8C88891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3EE6DF1-3133-6CA4-8E9D-E710DCEEC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39B044B-6DDA-26AE-73CC-7ECF84F49C6B}"/>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6" name="页脚占位符 5">
            <a:extLst>
              <a:ext uri="{FF2B5EF4-FFF2-40B4-BE49-F238E27FC236}">
                <a16:creationId xmlns:a16="http://schemas.microsoft.com/office/drawing/2014/main" id="{FE61CEC2-E004-54F5-D067-FBB588E1A3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B69E984-7D3D-93E2-9818-31066C79332B}"/>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2335547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6113C1-91B2-2120-5C43-FAB8CE09B5B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4115ACF-6F87-5411-C102-06FB5313004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DCE0A3-981A-041F-67F0-53CEC7225F45}"/>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5" name="页脚占位符 4">
            <a:extLst>
              <a:ext uri="{FF2B5EF4-FFF2-40B4-BE49-F238E27FC236}">
                <a16:creationId xmlns:a16="http://schemas.microsoft.com/office/drawing/2014/main" id="{F4447949-B3F9-507F-0D5E-85462D9ADD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67BCF1-A47D-E4AB-37F1-69DFEEEEA9F9}"/>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2853918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A530050-6FCD-790F-88FF-1C6FC5AE19F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885F9A1-2976-CF76-5298-055239BFAF1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FF9D76-F942-A131-8CA5-127B1CE7A916}"/>
              </a:ext>
            </a:extLst>
          </p:cNvPr>
          <p:cNvSpPr>
            <a:spLocks noGrp="1"/>
          </p:cNvSpPr>
          <p:nvPr>
            <p:ph type="dt" sz="half" idx="10"/>
          </p:nvPr>
        </p:nvSpPr>
        <p:spPr/>
        <p:txBody>
          <a:bodyPr/>
          <a:lstStyle/>
          <a:p>
            <a:fld id="{12CA9894-3BF6-4A35-BF81-E2CAC0244B39}" type="datetimeFigureOut">
              <a:rPr lang="zh-CN" altLang="en-US" smtClean="0"/>
              <a:t>2025/5/12</a:t>
            </a:fld>
            <a:endParaRPr lang="zh-CN" altLang="en-US"/>
          </a:p>
        </p:txBody>
      </p:sp>
      <p:sp>
        <p:nvSpPr>
          <p:cNvPr id="5" name="页脚占位符 4">
            <a:extLst>
              <a:ext uri="{FF2B5EF4-FFF2-40B4-BE49-F238E27FC236}">
                <a16:creationId xmlns:a16="http://schemas.microsoft.com/office/drawing/2014/main" id="{2494D849-2798-BCB0-0525-B77AFF7C84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7ECD2DF-9C98-71D1-C8B6-BAFE36AF6246}"/>
              </a:ext>
            </a:extLst>
          </p:cNvPr>
          <p:cNvSpPr>
            <a:spLocks noGrp="1"/>
          </p:cNvSpPr>
          <p:nvPr>
            <p:ph type="sldNum" sz="quarter" idx="12"/>
          </p:nvPr>
        </p:nvSpPr>
        <p:spPr/>
        <p:txBody>
          <a:body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894893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71CF348-E005-9C90-C48D-0E90344E1E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177B0B6-AF01-755C-DA13-7C73340F8F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EF80828-247F-8F54-88D1-DFFE321592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CA9894-3BF6-4A35-BF81-E2CAC0244B39}" type="datetimeFigureOut">
              <a:rPr lang="zh-CN" altLang="en-US" smtClean="0"/>
              <a:t>2025/5/12</a:t>
            </a:fld>
            <a:endParaRPr lang="zh-CN" altLang="en-US"/>
          </a:p>
        </p:txBody>
      </p:sp>
      <p:sp>
        <p:nvSpPr>
          <p:cNvPr id="5" name="页脚占位符 4">
            <a:extLst>
              <a:ext uri="{FF2B5EF4-FFF2-40B4-BE49-F238E27FC236}">
                <a16:creationId xmlns:a16="http://schemas.microsoft.com/office/drawing/2014/main" id="{F568D6D6-B892-E8BD-797B-4C90D9A14E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1EB9903-1267-C788-6F32-4EC0A29E95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F4AB66-35B9-4087-A2D8-C8DB622391F7}" type="slidenum">
              <a:rPr lang="zh-CN" altLang="en-US" smtClean="0"/>
              <a:t>‹#›</a:t>
            </a:fld>
            <a:endParaRPr lang="zh-CN" altLang="en-US"/>
          </a:p>
        </p:txBody>
      </p:sp>
    </p:spTree>
    <p:extLst>
      <p:ext uri="{BB962C8B-B14F-4D97-AF65-F5344CB8AC3E}">
        <p14:creationId xmlns:p14="http://schemas.microsoft.com/office/powerpoint/2010/main" val="3899120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11AE6B-6833-2C8D-7E61-A5114DE9B8DA}"/>
              </a:ext>
            </a:extLst>
          </p:cNvPr>
          <p:cNvSpPr>
            <a:spLocks noGrp="1"/>
          </p:cNvSpPr>
          <p:nvPr>
            <p:ph type="ctrTitle"/>
          </p:nvPr>
        </p:nvSpPr>
        <p:spPr>
          <a:xfrm>
            <a:off x="1524000" y="1122363"/>
            <a:ext cx="9144000" cy="2387600"/>
          </a:xfrm>
        </p:spPr>
        <p:txBody>
          <a:bodyPr/>
          <a:lstStyle/>
          <a:p>
            <a:r>
              <a:rPr lang="en-US" altLang="zh-CN" dirty="0"/>
              <a:t>PCIE</a:t>
            </a:r>
            <a:r>
              <a:rPr lang="zh-CN" altLang="en-US" dirty="0"/>
              <a:t>协议</a:t>
            </a:r>
            <a:r>
              <a:rPr lang="en-US" altLang="zh-CN" dirty="0"/>
              <a:t>-</a:t>
            </a:r>
            <a:r>
              <a:rPr lang="zh-CN" altLang="en-US" dirty="0"/>
              <a:t>事务层</a:t>
            </a:r>
          </a:p>
        </p:txBody>
      </p:sp>
    </p:spTree>
    <p:extLst>
      <p:ext uri="{BB962C8B-B14F-4D97-AF65-F5344CB8AC3E}">
        <p14:creationId xmlns:p14="http://schemas.microsoft.com/office/powerpoint/2010/main" val="2675954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6">
            <a:extLst>
              <a:ext uri="{FF2B5EF4-FFF2-40B4-BE49-F238E27FC236}">
                <a16:creationId xmlns:a16="http://schemas.microsoft.com/office/drawing/2014/main" id="{622F3C2D-7F6C-BF10-F185-94DB51F63392}"/>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en-US" altLang="zh-CN" sz="3600" dirty="0">
                <a:gradFill>
                  <a:gsLst>
                    <a:gs pos="0">
                      <a:srgbClr val="E30000"/>
                    </a:gs>
                    <a:gs pos="100000">
                      <a:srgbClr val="760303"/>
                    </a:gs>
                  </a:gsLst>
                  <a:lin scaled="0"/>
                </a:gradFill>
              </a:rPr>
              <a:t>TLP</a:t>
            </a:r>
            <a:endParaRPr lang="zh-CN" altLang="en-US" sz="3600" dirty="0">
              <a:gradFill>
                <a:gsLst>
                  <a:gs pos="0">
                    <a:srgbClr val="E30000"/>
                  </a:gs>
                  <a:gs pos="100000">
                    <a:srgbClr val="760303"/>
                  </a:gs>
                </a:gsLst>
                <a:lin scaled="0"/>
              </a:gradFill>
            </a:endParaRPr>
          </a:p>
        </p:txBody>
      </p:sp>
      <p:pic>
        <p:nvPicPr>
          <p:cNvPr id="6" name="图片 5">
            <a:extLst>
              <a:ext uri="{FF2B5EF4-FFF2-40B4-BE49-F238E27FC236}">
                <a16:creationId xmlns:a16="http://schemas.microsoft.com/office/drawing/2014/main" id="{B4460FD7-E0E0-61C6-B29A-36269B64F65F}"/>
              </a:ext>
            </a:extLst>
          </p:cNvPr>
          <p:cNvPicPr>
            <a:picLocks noChangeAspect="1"/>
          </p:cNvPicPr>
          <p:nvPr/>
        </p:nvPicPr>
        <p:blipFill>
          <a:blip r:embed="rId3"/>
          <a:stretch>
            <a:fillRect/>
          </a:stretch>
        </p:blipFill>
        <p:spPr>
          <a:xfrm>
            <a:off x="1434892" y="1094993"/>
            <a:ext cx="9322215" cy="823865"/>
          </a:xfrm>
          <a:prstGeom prst="rect">
            <a:avLst/>
          </a:prstGeom>
        </p:spPr>
      </p:pic>
      <p:sp>
        <p:nvSpPr>
          <p:cNvPr id="8" name="文本框 7">
            <a:extLst>
              <a:ext uri="{FF2B5EF4-FFF2-40B4-BE49-F238E27FC236}">
                <a16:creationId xmlns:a16="http://schemas.microsoft.com/office/drawing/2014/main" id="{C635EE1C-C47C-3D2E-9D5A-FDE22471CDA0}"/>
              </a:ext>
            </a:extLst>
          </p:cNvPr>
          <p:cNvSpPr txBox="1"/>
          <p:nvPr/>
        </p:nvSpPr>
        <p:spPr>
          <a:xfrm>
            <a:off x="1434892" y="2415435"/>
            <a:ext cx="9322215" cy="3693319"/>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一个完整的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个或者多个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Prefix</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（数据有效负载） 和</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Digest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组成。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最重要的标志， 不同的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其头的定义并不相同。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头包含了当前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的总线事务类型、 路由信息等一系列信息。 在一个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的长度可变， 最小为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最大为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1024DW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endParaRPr lang="en-US" altLang="zh-CN" dirty="0">
              <a:latin typeface="Times New Roman" panose="02020603050405020304" pitchFamily="18" charset="0"/>
              <a:ea typeface="华文宋体" panose="02010600040101010101" pitchFamily="2" charset="-122"/>
              <a:cs typeface="Times New Roman" panose="02020603050405020304" pitchFamily="18" charset="0"/>
            </a:endParaRPr>
          </a:p>
          <a:p>
            <a:endParaRPr lang="en-US" altLang="zh-CN" dirty="0">
              <a:latin typeface="Times New Roman" panose="02020603050405020304" pitchFamily="18" charset="0"/>
              <a:ea typeface="华文宋体" panose="02010600040101010101" pitchFamily="2" charset="-122"/>
              <a:cs typeface="Times New Roman" panose="02020603050405020304" pitchFamily="18" charset="0"/>
            </a:endParaRPr>
          </a:p>
          <a:p>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Digest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是一个可选项， 一个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是否需要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Digest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头决定。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也是一个可选项， 有些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并不需要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如存储器读请求、 配置和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写完成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并不需要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宋体" panose="02010600040101010101" pitchFamily="2" charset="-122"/>
                <a:cs typeface="Times New Roman" panose="02020603050405020304" pitchFamily="18" charset="0"/>
              </a:rPr>
              <a:t> </a:t>
            </a:r>
          </a:p>
          <a:p>
            <a:br>
              <a:rPr lang="en-US" altLang="zh-CN" dirty="0">
                <a:latin typeface="Times New Roman" panose="02020603050405020304" pitchFamily="18" charset="0"/>
                <a:ea typeface="华文宋体" panose="02010600040101010101" pitchFamily="2" charset="-122"/>
                <a:cs typeface="Times New Roman" panose="02020603050405020304" pitchFamily="18" charset="0"/>
              </a:rPr>
            </a:b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V2. 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总线规范引入， 分为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Local 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EP⁃EP 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两类。其中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Local 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的主要作用是在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链路的两端传递消息， 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EP⁃EP 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的主要作用是在发送设备和接收设备之间传递消息。 设置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的主要目的是为了扩展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 并以此支持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V2. 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规范的一些新的功能。</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2583122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144FE-91FE-3B09-23B3-61EB5E86914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1C07892-E807-09B3-B861-FD6B1F92F680}"/>
              </a:ext>
            </a:extLst>
          </p:cNvPr>
          <p:cNvPicPr>
            <a:picLocks noChangeAspect="1"/>
          </p:cNvPicPr>
          <p:nvPr/>
        </p:nvPicPr>
        <p:blipFill>
          <a:blip r:embed="rId2"/>
          <a:stretch>
            <a:fillRect/>
          </a:stretch>
        </p:blipFill>
        <p:spPr>
          <a:xfrm>
            <a:off x="1579618" y="546774"/>
            <a:ext cx="9032763" cy="3499425"/>
          </a:xfrm>
          <a:prstGeom prst="rect">
            <a:avLst/>
          </a:prstGeom>
        </p:spPr>
      </p:pic>
      <p:sp>
        <p:nvSpPr>
          <p:cNvPr id="5" name="文本框 4">
            <a:extLst>
              <a:ext uri="{FF2B5EF4-FFF2-40B4-BE49-F238E27FC236}">
                <a16:creationId xmlns:a16="http://schemas.microsoft.com/office/drawing/2014/main" id="{01E9D92E-EEC8-D211-EEFE-A278853570D9}"/>
              </a:ext>
            </a:extLst>
          </p:cNvPr>
          <p:cNvSpPr txBox="1"/>
          <p:nvPr/>
        </p:nvSpPr>
        <p:spPr>
          <a:xfrm>
            <a:off x="1579618" y="4294730"/>
            <a:ext cx="9032762" cy="2031325"/>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个双字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组成。 其中第一个双字中保存通用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 其他字段与通用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Type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字段相关。 一个通用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头由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Fmt</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Type</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等字段组成</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endParaRPr lang="en-US" altLang="zh-CN" dirty="0">
              <a:latin typeface="Times New Roman" panose="02020603050405020304" pitchFamily="18" charset="0"/>
              <a:ea typeface="华文宋体" panose="02010600040101010101" pitchFamily="2" charset="-122"/>
              <a:cs typeface="Times New Roman" panose="02020603050405020304" pitchFamily="18" charset="0"/>
            </a:endParaRPr>
          </a:p>
          <a:p>
            <a:endParaRPr lang="en-US" altLang="zh-CN" dirty="0">
              <a:latin typeface="Times New Roman" panose="02020603050405020304" pitchFamily="18" charset="0"/>
              <a:ea typeface="华文宋体" panose="02010600040101010101" pitchFamily="2" charset="-122"/>
              <a:cs typeface="Times New Roman" panose="02020603050405020304" pitchFamily="18" charset="0"/>
            </a:endParaRPr>
          </a:p>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如果存储器读写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位地址模式时，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头的长度为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否则为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而完成报文的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头不含有地址信息， 使用的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头长度为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其中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15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的格式与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相关</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97604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A483F-1FEF-6F51-5B58-1E244A81141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FF030A8-B369-75F7-BA7D-97C215B213FF}"/>
              </a:ext>
            </a:extLst>
          </p:cNvPr>
          <p:cNvPicPr>
            <a:picLocks noChangeAspect="1"/>
          </p:cNvPicPr>
          <p:nvPr/>
        </p:nvPicPr>
        <p:blipFill>
          <a:blip r:embed="rId3"/>
          <a:stretch>
            <a:fillRect/>
          </a:stretch>
        </p:blipFill>
        <p:spPr>
          <a:xfrm>
            <a:off x="1781503" y="483180"/>
            <a:ext cx="8628993" cy="2444696"/>
          </a:xfrm>
          <a:prstGeom prst="rect">
            <a:avLst/>
          </a:prstGeom>
        </p:spPr>
      </p:pic>
      <p:sp>
        <p:nvSpPr>
          <p:cNvPr id="5" name="文本框 4">
            <a:extLst>
              <a:ext uri="{FF2B5EF4-FFF2-40B4-BE49-F238E27FC236}">
                <a16:creationId xmlns:a16="http://schemas.microsoft.com/office/drawing/2014/main" id="{403835B5-FC09-016A-E74E-4750F6F4B2CD}"/>
              </a:ext>
            </a:extLst>
          </p:cNvPr>
          <p:cNvSpPr txBox="1"/>
          <p:nvPr/>
        </p:nvSpPr>
        <p:spPr>
          <a:xfrm>
            <a:off x="1781502" y="3329960"/>
            <a:ext cx="8628993" cy="1477328"/>
          </a:xfrm>
          <a:prstGeom prst="rect">
            <a:avLst/>
          </a:prstGeom>
          <a:noFill/>
        </p:spPr>
        <p:txBody>
          <a:bodyPr wrap="square">
            <a:spAutoFit/>
          </a:bodyPr>
          <a:lstStyle/>
          <a:p>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Fmt</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Type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字段确认当前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使用的总线事务，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头的大小是由</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个双字还是</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个双字组成， 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是否包含有效负载。 </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endParaRPr lang="en-US" altLang="zh-CN" dirty="0">
              <a:solidFill>
                <a:srgbClr val="000000"/>
              </a:solidFill>
              <a:latin typeface="Times New Roman" panose="02020603050405020304" pitchFamily="18" charset="0"/>
              <a:ea typeface="华文宋体" panose="02010600040101010101" pitchFamily="2" charset="-122"/>
              <a:cs typeface="Times New Roman" panose="02020603050405020304" pitchFamily="18" charset="0"/>
            </a:endParaRPr>
          </a:p>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所有读请求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都不带数据， 而写请求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带数据， 而其他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可能带数据也可能不带数据， 如完成报文可能含有数据， 也可能仅含有完成标志而并不携带数据。</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191625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57B0-46B6-22BF-97B7-49E9FA9C06CF}"/>
            </a:ext>
          </a:extLst>
        </p:cNvPr>
        <p:cNvGrpSpPr/>
        <p:nvPr/>
      </p:nvGrpSpPr>
      <p:grpSpPr>
        <a:xfrm>
          <a:off x="0" y="0"/>
          <a:ext cx="0" cy="0"/>
          <a:chOff x="0" y="0"/>
          <a:chExt cx="0" cy="0"/>
        </a:xfrm>
      </p:grpSpPr>
      <p:pic>
        <p:nvPicPr>
          <p:cNvPr id="3" name="图片 2" descr="表格&#10;&#10;AI 生成的内容可能不正确。">
            <a:extLst>
              <a:ext uri="{FF2B5EF4-FFF2-40B4-BE49-F238E27FC236}">
                <a16:creationId xmlns:a16="http://schemas.microsoft.com/office/drawing/2014/main" id="{51ED92F3-1DA5-AAB9-1BA0-BB033D58E9A0}"/>
              </a:ext>
            </a:extLst>
          </p:cNvPr>
          <p:cNvPicPr>
            <a:picLocks noChangeAspect="1"/>
          </p:cNvPicPr>
          <p:nvPr/>
        </p:nvPicPr>
        <p:blipFill>
          <a:blip r:embed="rId3"/>
          <a:stretch>
            <a:fillRect/>
          </a:stretch>
        </p:blipFill>
        <p:spPr>
          <a:xfrm>
            <a:off x="3104064" y="0"/>
            <a:ext cx="5983872" cy="6858000"/>
          </a:xfrm>
          <a:prstGeom prst="rect">
            <a:avLst/>
          </a:prstGeom>
        </p:spPr>
      </p:pic>
    </p:spTree>
    <p:extLst>
      <p:ext uri="{BB962C8B-B14F-4D97-AF65-F5344CB8AC3E}">
        <p14:creationId xmlns:p14="http://schemas.microsoft.com/office/powerpoint/2010/main" val="3696208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2228B-4D34-C481-3FF0-2199DEF90F5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9EFF283-DC16-4AD2-B843-86E4A5F80C0A}"/>
              </a:ext>
            </a:extLst>
          </p:cNvPr>
          <p:cNvSpPr txBox="1"/>
          <p:nvPr/>
        </p:nvSpPr>
        <p:spPr>
          <a:xfrm>
            <a:off x="912017" y="604996"/>
            <a:ext cx="10558723" cy="4801314"/>
          </a:xfrm>
          <a:prstGeom prst="rect">
            <a:avLst/>
          </a:prstGeom>
          <a:noFill/>
        </p:spPr>
        <p:txBody>
          <a:bodyPr wrap="square">
            <a:spAutoFit/>
          </a:bodyPr>
          <a:lstStyle/>
          <a:p>
            <a:pPr>
              <a:buNone/>
            </a:pP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总线规定所有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存储器请求使用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Split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总线方式进行数据传递。 当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设备进行存储器读、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读写或者配置读写请求时， 首先向目标设备发送数据读写请求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，当目标设备收到这些读写请求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后， 将数据和完成信息通过完成报文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Cpl</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CplD</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）发送给源设备。</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其中存储器读、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读和配置读需要使用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CplD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 因为目标设备需要将数据传递给源设备； 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写和配置写需要使用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Cpl</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 因为目标设备不需要将任何数据传递给源设备， 但是需要通知源设备， 写操作已经完成， 数据已经成功地传递给目标设备。</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总线中， 进行存储器或者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写操作时， 数据与数据包头一起传递； 而进行存储器或者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读操作时， 源设备首先向目标设备发送读请求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而目标设备在准备好数据</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后， 向源设备发出完成报文。</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总线规范还定义了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MRdLk</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 该报文的主要作用是与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总线的锁操作相兼容， 但是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总线规范并不建议用户使用这种功能， 因为使用这种功能将极大影响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总线的数据传送效率。</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总线不同，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总线规范定义了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Msg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 即消息报文， 分别为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Msg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MsgD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。这两种报文的区别在于一个报文可以传递数据， 一个不能传递数据。</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PCIe V2. 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总线规范还补充了一些总线事务， 如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FetchAdd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Swap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CAS</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LPrfx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EPrfx</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。其中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LPrfx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EPrfx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总线事务分别与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Local 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EP⁃EP 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对应。 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V2. 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头的大小为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而使用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LPrfx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EPrfx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总线事务可以对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头进行扩展。</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232019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5E1E-6740-C717-DCDE-9E4DEE4E82B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208887F-0ECB-C63D-3DBF-71863F4A6013}"/>
              </a:ext>
            </a:extLst>
          </p:cNvPr>
          <p:cNvSpPr txBox="1"/>
          <p:nvPr/>
        </p:nvSpPr>
        <p:spPr>
          <a:xfrm>
            <a:off x="1689462" y="302002"/>
            <a:ext cx="8813075" cy="1200329"/>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字段表示当前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的传送类型，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总线规定了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8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种传输类型， 分别为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TC7</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，缺省值为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TC0</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该字段与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QoS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相关。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区分不同类型的数据传递，而多数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中只含有一个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VC</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因此这些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在发送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也仅仅使用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TC0</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但是有些对实时性要求较高的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 含有可以设置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字段的寄存器。</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5" name="文本框 4">
            <a:extLst>
              <a:ext uri="{FF2B5EF4-FFF2-40B4-BE49-F238E27FC236}">
                <a16:creationId xmlns:a16="http://schemas.microsoft.com/office/drawing/2014/main" id="{17260E6D-9448-96C9-995E-5AD66AA601D7}"/>
              </a:ext>
            </a:extLst>
          </p:cNvPr>
          <p:cNvSpPr txBox="1"/>
          <p:nvPr/>
        </p:nvSpPr>
        <p:spPr>
          <a:xfrm>
            <a:off x="1331931" y="4438733"/>
            <a:ext cx="9912925" cy="2308324"/>
          </a:xfrm>
          <a:prstGeom prst="rect">
            <a:avLst/>
          </a:prstGeom>
          <a:noFill/>
        </p:spPr>
        <p:txBody>
          <a:bodyPr wrap="square">
            <a:spAutoFit/>
          </a:bodyPr>
          <a:lstStyle/>
          <a:p>
            <a:pPr>
              <a:buNone/>
            </a:pP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Attr</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位组成， 其中第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位表示该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是否支持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总线的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ID⁃based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Ordering</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第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位表示是否支持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Relaxed Ordering</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而第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位表示该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在经过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到达存储器时， 是否需要进行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Cache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共享一致性处理。 </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可以同时支持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ID⁃based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Ordering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Relaxed Orde⁃ ring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两种位序。</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endParaRPr lang="en-US" altLang="zh-CN" dirty="0">
              <a:latin typeface="Times New Roman" panose="02020603050405020304" pitchFamily="18" charset="0"/>
              <a:ea typeface="华文宋体" panose="02010600040101010101" pitchFamily="2" charset="-122"/>
              <a:cs typeface="Times New Roman" panose="02020603050405020304" pitchFamily="18" charset="0"/>
            </a:endParaRPr>
          </a:p>
          <a:p>
            <a:pPr>
              <a:buNone/>
            </a:pP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Attr</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字段的第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 Snoop Attribute”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 当该位为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时表示当前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所传送的数据在通过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FSB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需要与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Cache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保持一致， 这种一致性由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FSB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通过总线监听自动完成而不需要软件干预； 如果为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表示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FSB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并不会将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中的数据与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Cache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进行一致， 在这种情况下， 进行数据传送时， 必须使用软件保证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Cache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的一致性。</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pic>
        <p:nvPicPr>
          <p:cNvPr id="7" name="图片 6">
            <a:extLst>
              <a:ext uri="{FF2B5EF4-FFF2-40B4-BE49-F238E27FC236}">
                <a16:creationId xmlns:a16="http://schemas.microsoft.com/office/drawing/2014/main" id="{10081F23-1CE4-88F8-95CF-E0E137317F9E}"/>
              </a:ext>
            </a:extLst>
          </p:cNvPr>
          <p:cNvPicPr>
            <a:picLocks noChangeAspect="1"/>
          </p:cNvPicPr>
          <p:nvPr/>
        </p:nvPicPr>
        <p:blipFill>
          <a:blip r:embed="rId3"/>
          <a:stretch>
            <a:fillRect/>
          </a:stretch>
        </p:blipFill>
        <p:spPr>
          <a:xfrm>
            <a:off x="1331931" y="1994621"/>
            <a:ext cx="3308836" cy="2039773"/>
          </a:xfrm>
          <a:prstGeom prst="rect">
            <a:avLst/>
          </a:prstGeom>
        </p:spPr>
      </p:pic>
      <p:pic>
        <p:nvPicPr>
          <p:cNvPr id="9" name="图片 8">
            <a:extLst>
              <a:ext uri="{FF2B5EF4-FFF2-40B4-BE49-F238E27FC236}">
                <a16:creationId xmlns:a16="http://schemas.microsoft.com/office/drawing/2014/main" id="{293DAAB2-63EA-D087-BB40-AA8A8841D194}"/>
              </a:ext>
            </a:extLst>
          </p:cNvPr>
          <p:cNvPicPr>
            <a:picLocks noChangeAspect="1"/>
          </p:cNvPicPr>
          <p:nvPr/>
        </p:nvPicPr>
        <p:blipFill>
          <a:blip r:embed="rId4"/>
          <a:stretch>
            <a:fillRect/>
          </a:stretch>
        </p:blipFill>
        <p:spPr>
          <a:xfrm>
            <a:off x="5148856" y="2166227"/>
            <a:ext cx="6096000" cy="1529945"/>
          </a:xfrm>
          <a:prstGeom prst="rect">
            <a:avLst/>
          </a:prstGeom>
        </p:spPr>
      </p:pic>
    </p:spTree>
    <p:extLst>
      <p:ext uri="{BB962C8B-B14F-4D97-AF65-F5344CB8AC3E}">
        <p14:creationId xmlns:p14="http://schemas.microsoft.com/office/powerpoint/2010/main" val="1082200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9323F-7CB6-C4EE-5F68-1CC88FBED0A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DF53C26-92D4-0EC5-97AA-61013F946449}"/>
              </a:ext>
            </a:extLst>
          </p:cNvPr>
          <p:cNvSpPr txBox="1"/>
          <p:nvPr/>
        </p:nvSpPr>
        <p:spPr>
          <a:xfrm>
            <a:off x="796705" y="211950"/>
            <a:ext cx="10357164" cy="923330"/>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中含有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Processing Hint</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信息，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V2. 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总线规范引入的一个重要功能。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的发送端可以使用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信息， 通知接收端即将访问数据的特性， 以便接收端合理地预读和管理数据</a:t>
            </a:r>
            <a:r>
              <a:rPr lang="zh-CN" altLang="en-US" dirty="0">
                <a:solidFill>
                  <a:srgbClr val="000000"/>
                </a:solidFill>
                <a:latin typeface="Times New Roman" panose="02020603050405020304" pitchFamily="18" charset="0"/>
                <a:ea typeface="华文宋体" panose="02010600040101010101" pitchFamily="2" charset="-122"/>
                <a:cs typeface="Times New Roman" panose="02020603050405020304" pitchFamily="18" charset="0"/>
              </a:rPr>
              <a:t>。</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1C26FA7D-D0E3-509B-8FDB-F9A140DAB496}"/>
              </a:ext>
            </a:extLst>
          </p:cNvPr>
          <p:cNvSpPr txBox="1"/>
          <p:nvPr/>
        </p:nvSpPr>
        <p:spPr>
          <a:xfrm>
            <a:off x="796704" y="1135280"/>
            <a:ext cx="10357163" cy="646331"/>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位表示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Digest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是否有效， 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表示有效， 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表示无效。</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位表示当前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中的数据是否有效， 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表示无效， 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表示有效。</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7" name="文本框 6">
            <a:extLst>
              <a:ext uri="{FF2B5EF4-FFF2-40B4-BE49-F238E27FC236}">
                <a16:creationId xmlns:a16="http://schemas.microsoft.com/office/drawing/2014/main" id="{66B5B555-5C09-E2EA-136F-AA5C37797386}"/>
              </a:ext>
            </a:extLst>
          </p:cNvPr>
          <p:cNvSpPr txBox="1"/>
          <p:nvPr/>
        </p:nvSpPr>
        <p:spPr>
          <a:xfrm>
            <a:off x="796701" y="1781611"/>
            <a:ext cx="10357163" cy="1200329"/>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总线的地址转换相关。 在一些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设备中设置了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Address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Transla</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tion</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Cache</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部件， 这个部件的主要功能是进行地址转换。 只有在支持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IOMMU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技术的处理器系统中，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设备才能使用该字段。</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字段可以用作存储器域与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总线域之间的地址转换， 但是设置这个字段的主要目的是为了方便多个虚拟主机共享同一个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 </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7D14DCA8-D62A-B3AA-E664-408EDA259359}"/>
              </a:ext>
            </a:extLst>
          </p:cNvPr>
          <p:cNvSpPr txBox="1"/>
          <p:nvPr/>
        </p:nvSpPr>
        <p:spPr>
          <a:xfrm>
            <a:off x="796698" y="2981940"/>
            <a:ext cx="10357162" cy="1477328"/>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字段用来描述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的有效负载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大小。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总线规范规定一个</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的大小在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4096 B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之间。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总线设置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字段的目的是提高总线的传输效率。存储器读请求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没有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DataPayload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此时该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字段表示需要读取多少数据</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为单位， 其最小单位为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主设备传送的单位小于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或者传送的数据并不以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对界时， 需要使用字节使能字段， 即 “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386644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59F0E-815D-AC68-93D6-61A3F416AAC4}"/>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EDCF38C7-A881-870D-2722-626E0384D803}"/>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en-US" altLang="zh-CN" sz="3600" dirty="0">
                <a:gradFill>
                  <a:gsLst>
                    <a:gs pos="0">
                      <a:srgbClr val="E30000"/>
                    </a:gs>
                    <a:gs pos="100000">
                      <a:srgbClr val="760303"/>
                    </a:gs>
                  </a:gsLst>
                  <a:lin scaled="0"/>
                </a:gradFill>
              </a:rPr>
              <a:t>TLP</a:t>
            </a:r>
            <a:r>
              <a:rPr lang="zh-CN" altLang="en-US" sz="3600" dirty="0">
                <a:gradFill>
                  <a:gsLst>
                    <a:gs pos="0">
                      <a:srgbClr val="E30000"/>
                    </a:gs>
                    <a:gs pos="100000">
                      <a:srgbClr val="760303"/>
                    </a:gs>
                  </a:gsLst>
                  <a:lin scaled="0"/>
                </a:gradFill>
              </a:rPr>
              <a:t>路由</a:t>
            </a:r>
          </a:p>
        </p:txBody>
      </p:sp>
      <p:sp>
        <p:nvSpPr>
          <p:cNvPr id="4" name="文本框 3">
            <a:extLst>
              <a:ext uri="{FF2B5EF4-FFF2-40B4-BE49-F238E27FC236}">
                <a16:creationId xmlns:a16="http://schemas.microsoft.com/office/drawing/2014/main" id="{B7608E64-0012-6FFE-9C66-7A5B4E7BE188}"/>
              </a:ext>
            </a:extLst>
          </p:cNvPr>
          <p:cNvSpPr txBox="1"/>
          <p:nvPr/>
        </p:nvSpPr>
        <p:spPr>
          <a:xfrm>
            <a:off x="1086416" y="927174"/>
            <a:ext cx="9650994" cy="3693319"/>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的路由是指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通过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桥片时采用哪条路径， 最终到达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的方法。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总线一共定义了三种路由方法， 分别是</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基于地址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Address</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的路由</a:t>
            </a:r>
            <a:endParaRPr lang="en-US" altLang="zh-CN" dirty="0">
              <a:solidFill>
                <a:srgbClr val="000000"/>
              </a:solidFill>
              <a:latin typeface="Times New Roman" panose="02020603050405020304" pitchFamily="18" charset="0"/>
              <a:ea typeface="华文宋体" panose="02010600040101010101" pitchFamily="2" charset="-122"/>
              <a:cs typeface="Times New Roman" panose="02020603050405020304" pitchFamily="18" charset="0"/>
            </a:endParaRPr>
          </a:p>
          <a:p>
            <a:pPr lvl="2"/>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存储器和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使用基于地址的路由方式， 这种方式使用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Address</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字段进行路由选径， 最终到达目的地。</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endPar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基于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的路由</a:t>
            </a:r>
            <a:endPar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lvl="2"/>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配置读写报文、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Vendor_Defined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Messages”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Cpl</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CplD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报文使用基于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的路由方式， 这种方式使用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总线号（</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Bus Number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进行路由选径。在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或者多端口</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的虚拟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PCI⁃to⁃PCI</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桥配置空间中， 包含如何使用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总线号进行路由选径的信息。</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endPar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隐式路由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Implicit</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方式</a:t>
            </a:r>
            <a:endPar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lvl="2"/>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隐式路由方式主要用于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Message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报文的传递。隐式路由方式是指从下游端口到上游端口进行数据传递的使用路由方式， 或者用于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向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发出广播报文。</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839101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899E3-9E1D-EF1A-524E-31FBD336E85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056143C-3191-BDE3-0D3D-1C72D708DA5B}"/>
              </a:ext>
            </a:extLst>
          </p:cNvPr>
          <p:cNvPicPr>
            <a:picLocks noChangeAspect="1"/>
          </p:cNvPicPr>
          <p:nvPr/>
        </p:nvPicPr>
        <p:blipFill>
          <a:blip r:embed="rId3"/>
          <a:stretch>
            <a:fillRect/>
          </a:stretch>
        </p:blipFill>
        <p:spPr>
          <a:xfrm>
            <a:off x="2623468" y="80984"/>
            <a:ext cx="6945064" cy="2752999"/>
          </a:xfrm>
          <a:prstGeom prst="rect">
            <a:avLst/>
          </a:prstGeom>
        </p:spPr>
      </p:pic>
      <p:sp>
        <p:nvSpPr>
          <p:cNvPr id="5" name="文本框 4">
            <a:extLst>
              <a:ext uri="{FF2B5EF4-FFF2-40B4-BE49-F238E27FC236}">
                <a16:creationId xmlns:a16="http://schemas.microsoft.com/office/drawing/2014/main" id="{139DDCD1-06C9-A823-79A1-9AD0D67A1704}"/>
              </a:ext>
            </a:extLst>
          </p:cNvPr>
          <p:cNvSpPr txBox="1"/>
          <p:nvPr/>
        </p:nvSpPr>
        <p:spPr>
          <a:xfrm>
            <a:off x="1391969" y="2833983"/>
            <a:ext cx="9472187" cy="1200329"/>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路由方式的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 其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Byte8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Byte11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字段与基于地址路由的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不同。 基于</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路由的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Bus Number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Number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 Number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进行路由寻址。 从软件的角度来看，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总线兼容， 只是在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总线中， 每一个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设备使用唯一的</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设备号， 但是每一个设备仍然可以有多个子设备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宋体" panose="02010600040101010101" pitchFamily="2" charset="-122"/>
                <a:cs typeface="Times New Roman" panose="02020603050405020304" pitchFamily="18" charset="0"/>
              </a:rPr>
              <a:t> </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DB72AE48-68FE-E3F0-2697-E9E0202034AA}"/>
              </a:ext>
            </a:extLst>
          </p:cNvPr>
          <p:cNvSpPr txBox="1"/>
          <p:nvPr/>
        </p:nvSpPr>
        <p:spPr>
          <a:xfrm>
            <a:off x="1391969" y="4034312"/>
            <a:ext cx="9472187" cy="1200329"/>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在一个</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 </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marL="742950" lvl="1" indent="-285750">
              <a:buFont typeface="Arial" panose="020B0604020202020204" pitchFamily="34" charset="0"/>
              <a:buChar char="•"/>
            </a:pP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Bus Number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由五位组成；</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总线域空间中， 最多只能有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256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条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marL="742950" lvl="1" indent="-285750">
              <a:buFont typeface="Arial" panose="020B0604020202020204" pitchFamily="34" charset="0"/>
              <a:buChar char="•"/>
            </a:pP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Number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5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位组成，每一条总线中最多包含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32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个设备</a:t>
            </a:r>
            <a:endPar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marL="742950" lvl="1" indent="-285750">
              <a:buFont typeface="Arial" panose="020B0604020202020204" pitchFamily="34" charset="0"/>
              <a:buChar char="•"/>
            </a:pP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 Number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位组成，每一个设备中最多包含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8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个功能</a:t>
            </a:r>
            <a:endParaRPr lang="zh-CN" altLang="en-US" dirty="0"/>
          </a:p>
        </p:txBody>
      </p:sp>
      <p:sp>
        <p:nvSpPr>
          <p:cNvPr id="9" name="文本框 8">
            <a:extLst>
              <a:ext uri="{FF2B5EF4-FFF2-40B4-BE49-F238E27FC236}">
                <a16:creationId xmlns:a16="http://schemas.microsoft.com/office/drawing/2014/main" id="{36194237-87DF-ED39-E444-7E2153392D5B}"/>
              </a:ext>
            </a:extLst>
          </p:cNvPr>
          <p:cNvSpPr txBox="1"/>
          <p:nvPr/>
        </p:nvSpPr>
        <p:spPr>
          <a:xfrm>
            <a:off x="1327844" y="5234641"/>
            <a:ext cx="9472187" cy="1477328"/>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配置读写请求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是使用 “基于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路由” 的一组重要报文， 其主要作用是读写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及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桥片的配置寄存器， 以完成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总线的配置。 在处理器系统上电之后需要进行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总线系统的枚举， 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总线分配总线号， 并设置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桥片或者</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的配置寄存器， 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Limit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寄存器组、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Base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寄存器组、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BAR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寄存器、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Subordinate Bus Number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Secondary Bus Number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Primary Bus Number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等一系列配置寄存器。</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10" name="标题 6">
            <a:extLst>
              <a:ext uri="{FF2B5EF4-FFF2-40B4-BE49-F238E27FC236}">
                <a16:creationId xmlns:a16="http://schemas.microsoft.com/office/drawing/2014/main" id="{C440D374-CBD6-5631-E893-C96B39FC2E3A}"/>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en-US" altLang="zh-CN" sz="3600" dirty="0">
                <a:gradFill>
                  <a:gsLst>
                    <a:gs pos="0">
                      <a:srgbClr val="E30000"/>
                    </a:gs>
                    <a:gs pos="100000">
                      <a:srgbClr val="760303"/>
                    </a:gs>
                  </a:gsLst>
                  <a:lin scaled="0"/>
                </a:gradFill>
              </a:rPr>
              <a:t>ID</a:t>
            </a:r>
            <a:r>
              <a:rPr lang="zh-CN" altLang="en-US" sz="3600" dirty="0">
                <a:gradFill>
                  <a:gsLst>
                    <a:gs pos="0">
                      <a:srgbClr val="E30000"/>
                    </a:gs>
                    <a:gs pos="100000">
                      <a:srgbClr val="760303"/>
                    </a:gs>
                  </a:gsLst>
                  <a:lin scaled="0"/>
                </a:gradFill>
              </a:rPr>
              <a:t>路由</a:t>
            </a:r>
          </a:p>
        </p:txBody>
      </p:sp>
    </p:spTree>
    <p:extLst>
      <p:ext uri="{BB962C8B-B14F-4D97-AF65-F5344CB8AC3E}">
        <p14:creationId xmlns:p14="http://schemas.microsoft.com/office/powerpoint/2010/main" val="231911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CCCCE-1A8C-BB54-8160-354A92AF1DA5}"/>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B5A02F6E-33F2-B5DB-F7D6-EA3197E26692}"/>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zh-CN" altLang="en-US" sz="3600" dirty="0">
                <a:gradFill>
                  <a:gsLst>
                    <a:gs pos="0">
                      <a:srgbClr val="E30000"/>
                    </a:gs>
                    <a:gs pos="100000">
                      <a:srgbClr val="760303"/>
                    </a:gs>
                  </a:gsLst>
                  <a:lin scaled="0"/>
                </a:gradFill>
              </a:rPr>
              <a:t>隐式路由</a:t>
            </a:r>
          </a:p>
        </p:txBody>
      </p:sp>
      <p:sp>
        <p:nvSpPr>
          <p:cNvPr id="4" name="文本框 3">
            <a:extLst>
              <a:ext uri="{FF2B5EF4-FFF2-40B4-BE49-F238E27FC236}">
                <a16:creationId xmlns:a16="http://schemas.microsoft.com/office/drawing/2014/main" id="{65319438-36CC-59A3-63D1-14D03799E4CB}"/>
              </a:ext>
            </a:extLst>
          </p:cNvPr>
          <p:cNvSpPr txBox="1"/>
          <p:nvPr/>
        </p:nvSpPr>
        <p:spPr>
          <a:xfrm>
            <a:off x="1358020" y="806781"/>
            <a:ext cx="9850170" cy="1477328"/>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总线规定消息请求报文使用隐式路由方式。 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总线中， 有许多消息是直接发向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或者来自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的广播报文， 这些报文不使用地址或者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进行路由， 而是使用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Msg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MsgD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Route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字段进行路由， 这种路由方式称为隐式路由。</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总线定义了一些用于中断请求、 错误状态处理、 锁定总线事务、 热插拔信号处理和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Vendor_Defined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Messages”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消息报文。 这些消息报文需要使用隐式路由方式进行传递。</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pic>
        <p:nvPicPr>
          <p:cNvPr id="6" name="图片 5">
            <a:extLst>
              <a:ext uri="{FF2B5EF4-FFF2-40B4-BE49-F238E27FC236}">
                <a16:creationId xmlns:a16="http://schemas.microsoft.com/office/drawing/2014/main" id="{52B872B5-C8F9-1732-A780-5D54FD2B41CE}"/>
              </a:ext>
            </a:extLst>
          </p:cNvPr>
          <p:cNvPicPr>
            <a:picLocks noChangeAspect="1"/>
          </p:cNvPicPr>
          <p:nvPr/>
        </p:nvPicPr>
        <p:blipFill>
          <a:blip r:embed="rId3"/>
          <a:stretch>
            <a:fillRect/>
          </a:stretch>
        </p:blipFill>
        <p:spPr>
          <a:xfrm>
            <a:off x="2755596" y="2441240"/>
            <a:ext cx="6680807" cy="2509721"/>
          </a:xfrm>
          <a:prstGeom prst="rect">
            <a:avLst/>
          </a:prstGeom>
        </p:spPr>
      </p:pic>
      <p:sp>
        <p:nvSpPr>
          <p:cNvPr id="8" name="文本框 7">
            <a:extLst>
              <a:ext uri="{FF2B5EF4-FFF2-40B4-BE49-F238E27FC236}">
                <a16:creationId xmlns:a16="http://schemas.microsoft.com/office/drawing/2014/main" id="{F14938CE-4238-56F9-C0E6-36B3DCBCF02A}"/>
              </a:ext>
            </a:extLst>
          </p:cNvPr>
          <p:cNvSpPr txBox="1"/>
          <p:nvPr/>
        </p:nvSpPr>
        <p:spPr>
          <a:xfrm>
            <a:off x="107503" y="5035556"/>
            <a:ext cx="11861177" cy="1754326"/>
          </a:xfrm>
          <a:prstGeom prst="rect">
            <a:avLst/>
          </a:prstGeom>
          <a:noFill/>
        </p:spPr>
        <p:txBody>
          <a:bodyPr wrap="square">
            <a:spAutoFit/>
          </a:bodyPr>
          <a:lstStyle/>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收到一条使用隐式路由的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将根据报文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Route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字段的不同而分别处理。 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的上游端口接收了一条来自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的广播消息， 则将该报文发向所有的下游端口； 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接收了一条来自下游端口发向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的消息报文时，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将此报文直接转发到上游端口， 直至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接收了一条使用隐式路由方式的本地消息报文， 则</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接收并终结此报文， 不再上传或下推。</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收到一个使用隐式路由的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将根据报文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Route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字段而分别处理这些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。如果该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Route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0b000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0b101</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将接收该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并作相应的处理； 如果为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0b100</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将接收该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并结束该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报文传递。</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1930064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8CCBE-E28B-0953-A22E-BF69CE29F7B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C448E75-4C66-28A7-A0D5-6859996C59E7}"/>
              </a:ext>
            </a:extLst>
          </p:cNvPr>
          <p:cNvPicPr>
            <a:picLocks noChangeAspect="1"/>
          </p:cNvPicPr>
          <p:nvPr/>
        </p:nvPicPr>
        <p:blipFill>
          <a:blip r:embed="rId3"/>
          <a:stretch>
            <a:fillRect/>
          </a:stretch>
        </p:blipFill>
        <p:spPr>
          <a:xfrm>
            <a:off x="5112204" y="0"/>
            <a:ext cx="7079796" cy="4999264"/>
          </a:xfrm>
          <a:prstGeom prst="rect">
            <a:avLst/>
          </a:prstGeom>
        </p:spPr>
      </p:pic>
      <p:sp>
        <p:nvSpPr>
          <p:cNvPr id="4" name="标题 6">
            <a:extLst>
              <a:ext uri="{FF2B5EF4-FFF2-40B4-BE49-F238E27FC236}">
                <a16:creationId xmlns:a16="http://schemas.microsoft.com/office/drawing/2014/main" id="{427CC26E-7BEF-C110-C2B0-779DAD0B3EB3}"/>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zh-CN" altLang="en-US" sz="3600" dirty="0">
                <a:gradFill>
                  <a:gsLst>
                    <a:gs pos="0">
                      <a:srgbClr val="E30000"/>
                    </a:gs>
                    <a:gs pos="100000">
                      <a:srgbClr val="760303"/>
                    </a:gs>
                  </a:gsLst>
                  <a:lin scaled="0"/>
                </a:gradFill>
              </a:rPr>
              <a:t>存储器读写请求</a:t>
            </a:r>
            <a:r>
              <a:rPr lang="en-US" altLang="zh-CN" sz="3600" dirty="0">
                <a:gradFill>
                  <a:gsLst>
                    <a:gs pos="0">
                      <a:srgbClr val="E30000"/>
                    </a:gs>
                    <a:gs pos="100000">
                      <a:srgbClr val="760303"/>
                    </a:gs>
                  </a:gsLst>
                  <a:lin scaled="0"/>
                </a:gradFill>
              </a:rPr>
              <a:t>TLP</a:t>
            </a:r>
            <a:endParaRPr lang="zh-CN" altLang="en-US" sz="3600" dirty="0">
              <a:gradFill>
                <a:gsLst>
                  <a:gs pos="0">
                    <a:srgbClr val="E30000"/>
                  </a:gs>
                  <a:gs pos="100000">
                    <a:srgbClr val="760303"/>
                  </a:gs>
                </a:gsLst>
                <a:lin scaled="0"/>
              </a:gradFill>
            </a:endParaRPr>
          </a:p>
        </p:txBody>
      </p:sp>
      <p:sp>
        <p:nvSpPr>
          <p:cNvPr id="6" name="文本框 5">
            <a:extLst>
              <a:ext uri="{FF2B5EF4-FFF2-40B4-BE49-F238E27FC236}">
                <a16:creationId xmlns:a16="http://schemas.microsoft.com/office/drawing/2014/main" id="{C5FBDBCB-E711-F228-99B7-D1C03543EF80}"/>
              </a:ext>
            </a:extLst>
          </p:cNvPr>
          <p:cNvSpPr txBox="1"/>
          <p:nvPr/>
        </p:nvSpPr>
        <p:spPr>
          <a:xfrm>
            <a:off x="201064" y="2346668"/>
            <a:ext cx="4817581" cy="3693319"/>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总线中， 存储器写请求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Posted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数据传送方式。 而其他与存储器和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相关的报文都使用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Split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方式进行数据传送， 这些请求报文需要完成报文， 通知发送端之前的数据请求报文已经处理完毕， </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存储器读写请求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使用地址路由方式进行数据传递， 在这类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头中包含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Address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Address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字段具有两种地址格式， 分别是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32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位地址。 在存储器读写和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读写请求的第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和第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个双字中， 存放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32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位地址。 存储器、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和原子操作读写请求使用的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头较为类似。</a:t>
            </a:r>
            <a:endParaRPr lang="zh-CN" altLang="en-US" dirty="0"/>
          </a:p>
        </p:txBody>
      </p:sp>
    </p:spTree>
    <p:extLst>
      <p:ext uri="{BB962C8B-B14F-4D97-AF65-F5344CB8AC3E}">
        <p14:creationId xmlns:p14="http://schemas.microsoft.com/office/powerpoint/2010/main" val="2966598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A56B8-22B1-1984-72C2-1B0D5433391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057D564-D11B-4C32-4113-52DB1645807B}"/>
              </a:ext>
            </a:extLst>
          </p:cNvPr>
          <p:cNvSpPr txBox="1"/>
          <p:nvPr/>
        </p:nvSpPr>
        <p:spPr>
          <a:xfrm>
            <a:off x="966458" y="248445"/>
            <a:ext cx="10250786" cy="2862322"/>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中并不包含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在该报文中，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字段表示需要从目标设备数据区域读取的数据长度； 而在存储器写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字段表示当前报文的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长度。</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字段的最小单位为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当该字段为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表示需要获得的数据长度或者当前报文的数据长度为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其中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0≤n≤0x3FF</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值得注意的是， </a:t>
            </a:r>
            <a:r>
              <a:rPr lang="zh-CN" altLang="en-US"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n </a:t>
            </a:r>
            <a:r>
              <a:rPr lang="zh-CN" altLang="en-US"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等于 </a:t>
            </a:r>
            <a:r>
              <a:rPr lang="en-US" altLang="zh-CN"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0 </a:t>
            </a:r>
            <a:r>
              <a:rPr lang="zh-CN" altLang="en-US"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时， 表示数据长度为 </a:t>
            </a:r>
            <a:r>
              <a:rPr lang="en-US" altLang="zh-CN"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1024 </a:t>
            </a:r>
            <a:r>
              <a:rPr lang="zh-CN" altLang="en-US"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个 </a:t>
            </a:r>
            <a:r>
              <a:rPr lang="en-US" altLang="zh-CN" sz="1800" b="1" i="0" dirty="0">
                <a:solidFill>
                  <a:srgbClr val="FF0000"/>
                </a:solidFill>
                <a:effectLst/>
                <a:latin typeface="Times New Roman" panose="02020603050405020304" pitchFamily="18" charset="0"/>
                <a:ea typeface="华文宋体" panose="02010600040101010101" pitchFamily="2" charset="-122"/>
                <a:cs typeface="Times New Roman" panose="02020603050405020304" pitchFamily="18" charset="0"/>
              </a:rPr>
              <a:t>DW</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总线以字节为基本单位进行数据传递， 但是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为最小单位。 为此</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Last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First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这两个字段进行字节使能， 使得在一个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 有效数据以字节为单位。这两个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字段各由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位组成， 其中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Last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字段的每一位对应数据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Payload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最后一个双字的字节使能位； 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First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字段的每一位对应数据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Payload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第一个双字的字节使能位。 </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E02FB9AC-546B-F681-5C6A-69D02AC5CCCF}"/>
              </a:ext>
            </a:extLst>
          </p:cNvPr>
          <p:cNvPicPr>
            <a:picLocks noChangeAspect="1"/>
          </p:cNvPicPr>
          <p:nvPr/>
        </p:nvPicPr>
        <p:blipFill>
          <a:blip r:embed="rId2"/>
          <a:stretch>
            <a:fillRect/>
          </a:stretch>
        </p:blipFill>
        <p:spPr>
          <a:xfrm>
            <a:off x="1353475" y="3282217"/>
            <a:ext cx="9476752" cy="3013808"/>
          </a:xfrm>
          <a:prstGeom prst="rect">
            <a:avLst/>
          </a:prstGeom>
        </p:spPr>
      </p:pic>
    </p:spTree>
    <p:extLst>
      <p:ext uri="{BB962C8B-B14F-4D97-AF65-F5344CB8AC3E}">
        <p14:creationId xmlns:p14="http://schemas.microsoft.com/office/powerpoint/2010/main" val="3435377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6FBB9-30E6-94C4-BE0D-D0E1AE127D0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773EBFC2-FAA1-D3A7-2A51-2A4F4038316C}"/>
              </a:ext>
            </a:extLst>
          </p:cNvPr>
          <p:cNvSpPr txBox="1"/>
          <p:nvPr/>
        </p:nvSpPr>
        <p:spPr>
          <a:xfrm>
            <a:off x="970607" y="229163"/>
            <a:ext cx="10250785" cy="3416320"/>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 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字段包含 “生成这个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 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设备的总线号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Bus Number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设备号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Number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和功能号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 Number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字段对于存储器写请求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并没有实际意义，依然需要将存储器写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字段置为有效。</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对于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数据请求， 目标设备需要使用完成报文做为回应。 在这个完成报文中，需要使用源设备的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因此在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 如存储器读请求、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和配置读写请求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必须使用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存储器，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中含有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字段合称为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。存储器读，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和配置读写请求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字段的主要目的是使接收端通过分析报文的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确认完成报文的目的地。</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999F1C62-74D6-5306-F671-1C6AC4F05C73}"/>
              </a:ext>
            </a:extLst>
          </p:cNvPr>
          <p:cNvPicPr>
            <a:picLocks noChangeAspect="1"/>
          </p:cNvPicPr>
          <p:nvPr/>
        </p:nvPicPr>
        <p:blipFill>
          <a:blip r:embed="rId3"/>
          <a:stretch>
            <a:fillRect/>
          </a:stretch>
        </p:blipFill>
        <p:spPr>
          <a:xfrm>
            <a:off x="2642340" y="3429000"/>
            <a:ext cx="6907317" cy="1977614"/>
          </a:xfrm>
          <a:prstGeom prst="rect">
            <a:avLst/>
          </a:prstGeom>
        </p:spPr>
      </p:pic>
      <p:sp>
        <p:nvSpPr>
          <p:cNvPr id="5" name="文本框 4">
            <a:extLst>
              <a:ext uri="{FF2B5EF4-FFF2-40B4-BE49-F238E27FC236}">
                <a16:creationId xmlns:a16="http://schemas.microsoft.com/office/drawing/2014/main" id="{58BEC6F3-9C12-A10C-1C13-ABF6D701BEC4}"/>
              </a:ext>
            </a:extLst>
          </p:cNvPr>
          <p:cNvSpPr txBox="1"/>
          <p:nvPr/>
        </p:nvSpPr>
        <p:spPr>
          <a:xfrm>
            <a:off x="970607" y="5406614"/>
            <a:ext cx="10590670" cy="1477328"/>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在同一个时间段内，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设备发出的每一个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其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必须是唯一的。源设备发送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数据请求后， 在没有获得全部完成报文之前， 不能释放这个</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占用的资源。</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endParaRPr lang="en-US" altLang="zh-CN" dirty="0">
              <a:latin typeface="Times New Roman" panose="02020603050405020304" pitchFamily="18" charset="0"/>
              <a:ea typeface="华文宋体" panose="02010600040101010101" pitchFamily="2" charset="-122"/>
              <a:cs typeface="Times New Roman" panose="02020603050405020304" pitchFamily="18" charset="0"/>
            </a:endParaRPr>
          </a:p>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设备在发送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数据请求时， 需要暂存这些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数据请求。 其中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字段的长度决定了发送端能够暂存多少个同类型的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字段长度为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5</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发送端能够暂存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32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个报文</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1045360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27A79-1779-5569-AF73-22DCF4D6594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EDF0A42-DA1F-8E82-282B-0CAA62AF79D7}"/>
              </a:ext>
            </a:extLst>
          </p:cNvPr>
          <p:cNvPicPr>
            <a:picLocks noChangeAspect="1"/>
          </p:cNvPicPr>
          <p:nvPr/>
        </p:nvPicPr>
        <p:blipFill>
          <a:blip r:embed="rId2"/>
          <a:stretch>
            <a:fillRect/>
          </a:stretch>
        </p:blipFill>
        <p:spPr>
          <a:xfrm>
            <a:off x="3691238" y="262281"/>
            <a:ext cx="4809524" cy="1752381"/>
          </a:xfrm>
          <a:prstGeom prst="rect">
            <a:avLst/>
          </a:prstGeom>
        </p:spPr>
      </p:pic>
      <p:sp>
        <p:nvSpPr>
          <p:cNvPr id="5" name="文本框 4">
            <a:extLst>
              <a:ext uri="{FF2B5EF4-FFF2-40B4-BE49-F238E27FC236}">
                <a16:creationId xmlns:a16="http://schemas.microsoft.com/office/drawing/2014/main" id="{98174475-910E-C508-8072-580313152A82}"/>
              </a:ext>
            </a:extLst>
          </p:cNvPr>
          <p:cNvSpPr txBox="1"/>
          <p:nvPr/>
        </p:nvSpPr>
        <p:spPr>
          <a:xfrm>
            <a:off x="1167896" y="2195732"/>
            <a:ext cx="10348111" cy="2308324"/>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V2. 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总线规范还提出了另一种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格式， 即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ARI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Alternative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Routing⁃ID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Interpretation</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格式， 除了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外， 在完成报文中使用的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Completer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也可以使用这种格式。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ARI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格式将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号分为两个字段， 分别为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Bus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号和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号， 而不使用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号。</a:t>
            </a:r>
            <a:endPar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总线引入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ARI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格式的依据是在一个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链路上仅可能存在一个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 因而其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号一定为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在多数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Completion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包含的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号是没有意义的。 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ARI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格式时， 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设备最多可以支持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256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而传统的</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设备最多只能支持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8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194030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13665-2DD2-F9A8-8832-C9783DAD3389}"/>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F2FC164F-4905-ED1B-90FF-484C7CB7EE1B}"/>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zh-CN" altLang="en-US" sz="3600" dirty="0">
                <a:gradFill>
                  <a:gsLst>
                    <a:gs pos="0">
                      <a:srgbClr val="E30000"/>
                    </a:gs>
                    <a:gs pos="100000">
                      <a:srgbClr val="760303"/>
                    </a:gs>
                  </a:gsLst>
                  <a:lin scaled="0"/>
                </a:gradFill>
              </a:rPr>
              <a:t>完成报文</a:t>
            </a:r>
          </a:p>
        </p:txBody>
      </p:sp>
      <p:pic>
        <p:nvPicPr>
          <p:cNvPr id="4" name="图片 3">
            <a:extLst>
              <a:ext uri="{FF2B5EF4-FFF2-40B4-BE49-F238E27FC236}">
                <a16:creationId xmlns:a16="http://schemas.microsoft.com/office/drawing/2014/main" id="{01E8B6EA-2507-1480-781C-38DDEBFBF629}"/>
              </a:ext>
            </a:extLst>
          </p:cNvPr>
          <p:cNvPicPr>
            <a:picLocks noChangeAspect="1"/>
          </p:cNvPicPr>
          <p:nvPr/>
        </p:nvPicPr>
        <p:blipFill>
          <a:blip r:embed="rId3"/>
          <a:stretch>
            <a:fillRect/>
          </a:stretch>
        </p:blipFill>
        <p:spPr>
          <a:xfrm>
            <a:off x="2211190" y="0"/>
            <a:ext cx="7769619" cy="2518350"/>
          </a:xfrm>
          <a:prstGeom prst="rect">
            <a:avLst/>
          </a:prstGeom>
        </p:spPr>
      </p:pic>
      <p:sp>
        <p:nvSpPr>
          <p:cNvPr id="6" name="文本框 5">
            <a:extLst>
              <a:ext uri="{FF2B5EF4-FFF2-40B4-BE49-F238E27FC236}">
                <a16:creationId xmlns:a16="http://schemas.microsoft.com/office/drawing/2014/main" id="{FA183198-9DF7-58B3-4338-1AB522CB5DD1}"/>
              </a:ext>
            </a:extLst>
          </p:cNvPr>
          <p:cNvSpPr txBox="1"/>
          <p:nvPr/>
        </p:nvSpPr>
        <p:spPr>
          <a:xfrm>
            <a:off x="637899" y="2518350"/>
            <a:ext cx="10915926" cy="2862322"/>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Split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传送方式， 目标设备使用完成报文向源设备主动发送数据。 完成报文使用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路由方式， 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Predix</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报文头和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组成， 但是某些完成报文可以不含有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或者配置写完成和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Zero⁃Length</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读完成报文。 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总线中， 有以下几类数据请求需要收到完成报文之后， 才能完成整个数据传送过程：</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所有的数据读请求， 包括存储器、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读请求、 配置读请求和原子操作请求。 当一个</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设备发出这些数据请求报文后， 必须收到目标设备的完成报文后， 才能结束一次数据传送。 这一类完成报文必须包含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Data Payload</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所有的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Non⁃Posted</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数据写请求， 包括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和配置写请求。 当一个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设备发出这些数据请求报文后， 必须收到目标设备的完成报文后， 才能结束数据传送。 但是这一类完成报文不包含数据， 仅包含应答信息。</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机制相关的一些报文</a:t>
            </a:r>
            <a:r>
              <a:rPr lang="zh-CN" altLang="en-US" dirty="0">
                <a:solidFill>
                  <a:srgbClr val="000000"/>
                </a:solidFill>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endParaRPr lang="zh-CN" altLang="en-US" dirty="0"/>
          </a:p>
        </p:txBody>
      </p:sp>
      <p:sp>
        <p:nvSpPr>
          <p:cNvPr id="8" name="文本框 7">
            <a:extLst>
              <a:ext uri="{FF2B5EF4-FFF2-40B4-BE49-F238E27FC236}">
                <a16:creationId xmlns:a16="http://schemas.microsoft.com/office/drawing/2014/main" id="{86FCE37E-3F4A-AACA-FA74-2DDEC811904B}"/>
              </a:ext>
            </a:extLst>
          </p:cNvPr>
          <p:cNvSpPr txBox="1"/>
          <p:nvPr/>
        </p:nvSpPr>
        <p:spPr>
          <a:xfrm>
            <a:off x="637899" y="5781499"/>
            <a:ext cx="10706094" cy="923330"/>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完成报文一次最多能够传送的报文大小不能超过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Max_Payload_Size</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参数。 在多数处理器中， 完成报文中包含的数据在一个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Cache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行之内， 完成报文使用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RCB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参数来处理数据对界，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RCB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参数的大小与处理器系统的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Cache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行长度和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DDR⁃SDRAM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的一次突发传送长度相关</a:t>
            </a:r>
            <a:r>
              <a:rPr lang="zh-CN" altLang="en-US" dirty="0">
                <a:solidFill>
                  <a:srgbClr val="000000"/>
                </a:solidFill>
                <a:latin typeface="Times New Roman" panose="02020603050405020304" pitchFamily="18" charset="0"/>
                <a:ea typeface="华文宋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811182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C9636-0DA0-B62C-6CE0-0479B7844A0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5278660-1B75-6B04-7D52-57F01FC6D2A0}"/>
              </a:ext>
            </a:extLst>
          </p:cNvPr>
          <p:cNvSpPr txBox="1"/>
          <p:nvPr/>
        </p:nvSpPr>
        <p:spPr>
          <a:xfrm>
            <a:off x="206719" y="338109"/>
            <a:ext cx="11778559" cy="3693319"/>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Requester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lvl="1"/>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完成报文使用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路由方式。 完成报文头的长度为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3DW</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，完成报文头中包含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信息， 由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字段组成， 这个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必须与源设备发送的数据请求报文的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对应， 完成报文使用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进行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路由，并将数据发送给源设备。</a:t>
            </a:r>
          </a:p>
          <a:p>
            <a:pPr lvl="1"/>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设备收到存储器读、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读写或者配置读写请求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需要首先保存这些报文的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之后当该设备准备好完成报文后， 将完成报文的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字段赋值为之前保存的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Transaction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 Completer 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Completer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字段的含义与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字段较为相似， 只是该字段存放 “发送完成报文” 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号。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设备进行数据请求时需要在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字段中包含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Requester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而使用完成报文结束数据请求时， 需要提供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Completer ID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3. Status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Status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字段保存当前完成报文的完成状态， 表示当前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是正确地将数据传递给数据请求端； 还是在数据传递过程中出现错误； 或者要求数据请求方进行重试。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总线规定了几类完成状态</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EC8FB1C0-2AF0-BDAF-D172-3D7E3825D213}"/>
              </a:ext>
            </a:extLst>
          </p:cNvPr>
          <p:cNvPicPr>
            <a:picLocks noChangeAspect="1"/>
          </p:cNvPicPr>
          <p:nvPr/>
        </p:nvPicPr>
        <p:blipFill>
          <a:blip r:embed="rId2"/>
          <a:stretch>
            <a:fillRect/>
          </a:stretch>
        </p:blipFill>
        <p:spPr>
          <a:xfrm>
            <a:off x="2218844" y="4308427"/>
            <a:ext cx="7754311" cy="2369372"/>
          </a:xfrm>
          <a:prstGeom prst="rect">
            <a:avLst/>
          </a:prstGeom>
        </p:spPr>
      </p:pic>
    </p:spTree>
    <p:extLst>
      <p:ext uri="{BB962C8B-B14F-4D97-AF65-F5344CB8AC3E}">
        <p14:creationId xmlns:p14="http://schemas.microsoft.com/office/powerpoint/2010/main" val="3817095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B92D6-308E-B37C-F719-3273AA272E1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D6A19C8-ADD6-A99E-93E1-D1572BBC6346}"/>
              </a:ext>
            </a:extLst>
          </p:cNvPr>
          <p:cNvSpPr txBox="1"/>
          <p:nvPr/>
        </p:nvSpPr>
        <p:spPr>
          <a:xfrm>
            <a:off x="559051" y="117693"/>
            <a:ext cx="11020331" cy="5078313"/>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 BCM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BCM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Modified</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字段由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PCI⁃X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设备设置。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PCI⁃X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设备也支持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Split Trans⁃ action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传送方式， 当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PCI⁃X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设备进行存储器读请求时， 目标设备不一定一次就能将所有数据传递给源设备。 此时目标设备在进行第一次数据传送时， 需要设置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BCM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BCM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位表示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字段是否被更改， 该位仅对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PCI⁃X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设备有效， 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设备不能操纵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BCM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 只有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PCI⁃X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设备或者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PCIe⁃to⁃PCI⁃X</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桥可以改变该位。 </a:t>
            </a:r>
            <a:endPar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endParaRPr>
          </a:p>
          <a:p>
            <a:pPr lvl="1"/>
            <a:r>
              <a:rPr lang="en-US" altLang="zh-CN" dirty="0">
                <a:solidFill>
                  <a:srgbClr val="000000"/>
                </a:solidFill>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字段记录源设备还需要从目标设备中获得多少字节的数据就能完成全部数据传递， 当前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中的有效负载也被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字段统计在内。 该字段由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12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位组成。 该字段为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0b0000⁃0000⁃0001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表示还剩一个字节， 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0b1111⁃1111⁃1111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表示还剩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4095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个字节， 而为</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0b0000⁃0000⁃0000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表示还剩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4096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个字节。 除了存储器读请求的完成报文外， 大多数完成报文的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如一个源设备向目标设备发送一个 “读取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128B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的存储器读请求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而目标设备收到这个读请求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后， 可能使用两个存储器读完成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传递数据。 其中第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的有效数据为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 B</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128</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第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中的有效数据为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 B</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字段也为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当数据请求端接收完毕第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后，发现还有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 B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的数据没有接收完毕， 此时必须等待下一个存储器读完成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等到数据请求端收齐所有数据后， 才能结束整个存储器读请求。</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目标设备发出的第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个读完成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中的有效数据为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64B</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64</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当数据请求端接收完毕这个读完成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后， 将完成一个完整的存储器读过程， 从而可以释放这个存储器读过程使用的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资源。存储器读请求的完成报文的拆分方式较为复杂，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Count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字段的设置也相对较为复杂</a:t>
            </a:r>
            <a:endParaRPr lang="en-US" altLang="zh-CN" dirty="0">
              <a:solidFill>
                <a:srgbClr val="000000"/>
              </a:solidFill>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3C2B156B-D09D-ECB1-D135-1A07F7236F65}"/>
              </a:ext>
            </a:extLst>
          </p:cNvPr>
          <p:cNvSpPr txBox="1"/>
          <p:nvPr/>
        </p:nvSpPr>
        <p:spPr>
          <a:xfrm>
            <a:off x="559051" y="5395182"/>
            <a:ext cx="11020330" cy="1200329"/>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5. Lower Address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如果当前完成报文为存储器读完成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该字段存放在存储器读完成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中第一个数据所对应地址的最低位。 值得注意的是， 在完成报文中， 并不存在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First DW BE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Last DW BE</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因此接收端必须使用存储器读完成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Low Address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识别一个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中包含数据的起始地址。 </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352675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71DC2-80AE-97E0-2D10-78F6D7AF78AA}"/>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87C65248-BFA0-9E10-CFDE-A2329A153240}"/>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zh-CN" altLang="en-US" sz="3600" dirty="0">
                <a:gradFill>
                  <a:gsLst>
                    <a:gs pos="0">
                      <a:srgbClr val="E30000"/>
                    </a:gs>
                    <a:gs pos="100000">
                      <a:srgbClr val="760303"/>
                    </a:gs>
                  </a:gsLst>
                  <a:lin scaled="0"/>
                </a:gradFill>
              </a:rPr>
              <a:t>配置读写请求</a:t>
            </a:r>
            <a:r>
              <a:rPr lang="en-US" altLang="zh-CN" sz="3600" dirty="0">
                <a:gradFill>
                  <a:gsLst>
                    <a:gs pos="0">
                      <a:srgbClr val="E30000"/>
                    </a:gs>
                    <a:gs pos="100000">
                      <a:srgbClr val="760303"/>
                    </a:gs>
                  </a:gsLst>
                  <a:lin scaled="0"/>
                </a:gradFill>
              </a:rPr>
              <a:t>TLP</a:t>
            </a:r>
            <a:endParaRPr lang="zh-CN" altLang="en-US" sz="3600" dirty="0">
              <a:gradFill>
                <a:gsLst>
                  <a:gs pos="0">
                    <a:srgbClr val="E30000"/>
                  </a:gs>
                  <a:gs pos="100000">
                    <a:srgbClr val="760303"/>
                  </a:gs>
                </a:gsLst>
                <a:lin scaled="0"/>
              </a:gradFill>
            </a:endParaRPr>
          </a:p>
        </p:txBody>
      </p:sp>
      <p:sp>
        <p:nvSpPr>
          <p:cNvPr id="4" name="文本框 3">
            <a:extLst>
              <a:ext uri="{FF2B5EF4-FFF2-40B4-BE49-F238E27FC236}">
                <a16:creationId xmlns:a16="http://schemas.microsoft.com/office/drawing/2014/main" id="{E7B54137-AA7C-6405-8D35-AA7A7592866B}"/>
              </a:ext>
            </a:extLst>
          </p:cNvPr>
          <p:cNvSpPr txBox="1"/>
          <p:nvPr/>
        </p:nvSpPr>
        <p:spPr>
          <a:xfrm>
            <a:off x="854792" y="2876351"/>
            <a:ext cx="10482415" cy="646331"/>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配置读写请求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发起， 用来访问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设备的配置空间。 配置请求报文使用基于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ID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的路由方式。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总线也支持两种配置请求报文， 分别为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Type 00h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Type 01h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配置请求。</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pic>
        <p:nvPicPr>
          <p:cNvPr id="6" name="图片 5">
            <a:extLst>
              <a:ext uri="{FF2B5EF4-FFF2-40B4-BE49-F238E27FC236}">
                <a16:creationId xmlns:a16="http://schemas.microsoft.com/office/drawing/2014/main" id="{0F1637CD-F30C-5FF8-3DF8-CC0F8D2837B5}"/>
              </a:ext>
            </a:extLst>
          </p:cNvPr>
          <p:cNvPicPr>
            <a:picLocks noChangeAspect="1"/>
          </p:cNvPicPr>
          <p:nvPr/>
        </p:nvPicPr>
        <p:blipFill>
          <a:blip r:embed="rId3"/>
          <a:stretch>
            <a:fillRect/>
          </a:stretch>
        </p:blipFill>
        <p:spPr>
          <a:xfrm>
            <a:off x="3848228" y="0"/>
            <a:ext cx="8236268" cy="2687711"/>
          </a:xfrm>
          <a:prstGeom prst="rect">
            <a:avLst/>
          </a:prstGeom>
        </p:spPr>
      </p:pic>
      <p:sp>
        <p:nvSpPr>
          <p:cNvPr id="8" name="文本框 7">
            <a:extLst>
              <a:ext uri="{FF2B5EF4-FFF2-40B4-BE49-F238E27FC236}">
                <a16:creationId xmlns:a16="http://schemas.microsoft.com/office/drawing/2014/main" id="{B17ABBE5-FC2C-BD1C-9994-7F02E17DC57F}"/>
              </a:ext>
            </a:extLst>
          </p:cNvPr>
          <p:cNvSpPr txBox="1"/>
          <p:nvPr/>
        </p:nvSpPr>
        <p:spPr>
          <a:xfrm>
            <a:off x="854792" y="3711322"/>
            <a:ext cx="10651408" cy="2308324"/>
          </a:xfrm>
          <a:prstGeom prst="rect">
            <a:avLst/>
          </a:prstGeom>
          <a:noFill/>
        </p:spPr>
        <p:txBody>
          <a:bodyPr wrap="square">
            <a:spAutoFit/>
          </a:bodyPr>
          <a:lstStyle/>
          <a:p>
            <a:pPr>
              <a:buNone/>
            </a:pP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配置请求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的第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4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7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字节与存储器请求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类似。 而第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8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11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字节的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Bus</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Function Number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中存放该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访问的目标设备的相应的号码， 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Ext Register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Reigister</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Number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存放寄存器号。 配置请求报文的其他字段必须为以下值。</a:t>
            </a:r>
          </a:p>
          <a:p>
            <a:pPr lvl="1"/>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 [2∶ 0]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必须为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请求报文的传送类型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TC</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只能为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TH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位为保留位；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Attr2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位为保留， 而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Attr</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[1∶ 0]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必须为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00b”</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这表示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 / O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请求报文使用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总线的强序数据传送模式；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[1∶ 0]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必须为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0b00”</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表示不进行地址转换。</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Length [9∶ 0]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0b00 0000 0001”</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表示配置读写请求最大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Payload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1DW</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Last DW BE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0b0000”</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First DW BE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字段根据配置读写请求的大小设置。</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1657189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21975-5E70-1517-9A65-8E9112DC9A29}"/>
            </a:ext>
          </a:extLst>
        </p:cNvPr>
        <p:cNvGrpSpPr/>
        <p:nvPr/>
      </p:nvGrpSpPr>
      <p:grpSpPr>
        <a:xfrm>
          <a:off x="0" y="0"/>
          <a:ext cx="0" cy="0"/>
          <a:chOff x="0" y="0"/>
          <a:chExt cx="0" cy="0"/>
        </a:xfrm>
      </p:grpSpPr>
      <p:pic>
        <p:nvPicPr>
          <p:cNvPr id="3" name="图片 2" descr="表格&#10;&#10;AI 生成的内容可能不正确。">
            <a:extLst>
              <a:ext uri="{FF2B5EF4-FFF2-40B4-BE49-F238E27FC236}">
                <a16:creationId xmlns:a16="http://schemas.microsoft.com/office/drawing/2014/main" id="{88482F53-35BB-4DBD-676F-7AAE3D51755A}"/>
              </a:ext>
            </a:extLst>
          </p:cNvPr>
          <p:cNvPicPr>
            <a:picLocks noChangeAspect="1"/>
          </p:cNvPicPr>
          <p:nvPr/>
        </p:nvPicPr>
        <p:blipFill>
          <a:blip r:embed="rId3"/>
          <a:stretch>
            <a:fillRect/>
          </a:stretch>
        </p:blipFill>
        <p:spPr>
          <a:xfrm>
            <a:off x="7398419" y="4191000"/>
            <a:ext cx="4793581" cy="2667000"/>
          </a:xfrm>
          <a:prstGeom prst="rect">
            <a:avLst/>
          </a:prstGeom>
        </p:spPr>
      </p:pic>
      <p:sp>
        <p:nvSpPr>
          <p:cNvPr id="4" name="标题 6">
            <a:extLst>
              <a:ext uri="{FF2B5EF4-FFF2-40B4-BE49-F238E27FC236}">
                <a16:creationId xmlns:a16="http://schemas.microsoft.com/office/drawing/2014/main" id="{39F801FB-5534-B6E0-CC5E-B058C3E83463}"/>
              </a:ext>
            </a:extLst>
          </p:cNvPr>
          <p:cNvSpPr>
            <a:spLocks noGrp="1"/>
          </p:cNvSpPr>
          <p:nvPr>
            <p:ph type="title"/>
            <p:custDataLst>
              <p:tags r:id="rId1"/>
            </p:custDataLst>
          </p:nvPr>
        </p:nvSpPr>
        <p:spPr>
          <a:xfrm>
            <a:off x="98795" y="214765"/>
            <a:ext cx="8508365" cy="461010"/>
          </a:xfrm>
        </p:spPr>
        <p:txBody>
          <a:bodyPr>
            <a:normAutofit fontScale="90000"/>
          </a:bodyPr>
          <a:lstStyle/>
          <a:p>
            <a:pPr algn="l"/>
            <a:r>
              <a:rPr lang="en-US" altLang="zh-CN" sz="3600" dirty="0">
                <a:gradFill>
                  <a:gsLst>
                    <a:gs pos="0">
                      <a:srgbClr val="E30000"/>
                    </a:gs>
                    <a:gs pos="100000">
                      <a:srgbClr val="760303"/>
                    </a:gs>
                  </a:gsLst>
                  <a:lin scaled="0"/>
                </a:gradFill>
              </a:rPr>
              <a:t>ECAM</a:t>
            </a:r>
            <a:r>
              <a:rPr lang="en-US" altLang="zh-CN" sz="2000" dirty="0">
                <a:gradFill>
                  <a:gsLst>
                    <a:gs pos="0">
                      <a:srgbClr val="E30000"/>
                    </a:gs>
                    <a:gs pos="100000">
                      <a:srgbClr val="760303"/>
                    </a:gs>
                  </a:gsLst>
                  <a:lin scaled="0"/>
                </a:gradFill>
              </a:rPr>
              <a:t>(Enhanced Configuration Access Mechanism)</a:t>
            </a:r>
            <a:endParaRPr lang="zh-CN" altLang="en-US" sz="2000" dirty="0">
              <a:gradFill>
                <a:gsLst>
                  <a:gs pos="0">
                    <a:srgbClr val="E30000"/>
                  </a:gs>
                  <a:gs pos="100000">
                    <a:srgbClr val="760303"/>
                  </a:gs>
                </a:gsLst>
                <a:lin scaled="0"/>
              </a:gradFill>
            </a:endParaRPr>
          </a:p>
        </p:txBody>
      </p:sp>
      <p:pic>
        <p:nvPicPr>
          <p:cNvPr id="6" name="图片 5">
            <a:extLst>
              <a:ext uri="{FF2B5EF4-FFF2-40B4-BE49-F238E27FC236}">
                <a16:creationId xmlns:a16="http://schemas.microsoft.com/office/drawing/2014/main" id="{D4849126-F3DD-693F-E1F4-8FFACA7C6286}"/>
              </a:ext>
            </a:extLst>
          </p:cNvPr>
          <p:cNvPicPr>
            <a:picLocks noChangeAspect="1"/>
          </p:cNvPicPr>
          <p:nvPr/>
        </p:nvPicPr>
        <p:blipFill>
          <a:blip r:embed="rId4"/>
          <a:stretch>
            <a:fillRect/>
          </a:stretch>
        </p:blipFill>
        <p:spPr>
          <a:xfrm>
            <a:off x="6652399" y="0"/>
            <a:ext cx="5539601" cy="4019550"/>
          </a:xfrm>
          <a:prstGeom prst="rect">
            <a:avLst/>
          </a:prstGeom>
        </p:spPr>
      </p:pic>
      <p:sp>
        <p:nvSpPr>
          <p:cNvPr id="7" name="文本框 6">
            <a:extLst>
              <a:ext uri="{FF2B5EF4-FFF2-40B4-BE49-F238E27FC236}">
                <a16:creationId xmlns:a16="http://schemas.microsoft.com/office/drawing/2014/main" id="{890B29E3-16D8-6B49-5164-55E44610A096}"/>
              </a:ext>
            </a:extLst>
          </p:cNvPr>
          <p:cNvSpPr txBox="1"/>
          <p:nvPr/>
        </p:nvSpPr>
        <p:spPr>
          <a:xfrm>
            <a:off x="-1" y="1065465"/>
            <a:ext cx="5984341" cy="646331"/>
          </a:xfrm>
          <a:prstGeom prst="rect">
            <a:avLst/>
          </a:prstGeom>
          <a:noFill/>
        </p:spPr>
        <p:txBody>
          <a:bodyPr wrap="square" rtlCol="0">
            <a:spAutoFit/>
          </a:bodyPr>
          <a:lstStyle/>
          <a:p>
            <a:r>
              <a:rPr lang="en-US" altLang="zh-CN"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PCI</a:t>
            </a:r>
            <a:r>
              <a:rPr lang="zh-CN" altLang="en-US"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兼容的配置空间可以通过</a:t>
            </a:r>
            <a:r>
              <a:rPr lang="en-US" altLang="zh-CN"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CAM</a:t>
            </a:r>
            <a:r>
              <a:rPr lang="zh-CN" altLang="en-US"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ECAM</a:t>
            </a:r>
            <a:r>
              <a:rPr lang="zh-CN" altLang="en-US"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机制来访问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latin typeface="Times New Roman" panose="02020603050405020304" pitchFamily="18" charset="0"/>
                <a:ea typeface="宋体" panose="02010600030101010101" pitchFamily="2" charset="-122"/>
                <a:cs typeface="Times New Roman" panose="02020603050405020304" pitchFamily="18" charset="0"/>
              </a:rPr>
              <a:t>PCIE</a:t>
            </a:r>
            <a:r>
              <a:rPr lang="zh-CN" altLang="en-US" dirty="0">
                <a:latin typeface="Times New Roman" panose="02020603050405020304" pitchFamily="18" charset="0"/>
                <a:ea typeface="宋体" panose="02010600030101010101" pitchFamily="2" charset="-122"/>
                <a:cs typeface="Times New Roman" panose="02020603050405020304" pitchFamily="18" charset="0"/>
              </a:rPr>
              <a:t>增强配置空间只能通过</a:t>
            </a:r>
            <a:r>
              <a:rPr lang="en-US" altLang="zh-CN" dirty="0">
                <a:latin typeface="Times New Roman" panose="02020603050405020304" pitchFamily="18" charset="0"/>
                <a:ea typeface="宋体" panose="02010600030101010101" pitchFamily="2" charset="-122"/>
                <a:cs typeface="Times New Roman" panose="02020603050405020304" pitchFamily="18" charset="0"/>
              </a:rPr>
              <a:t>ECAM</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访问</a:t>
            </a:r>
          </a:p>
        </p:txBody>
      </p:sp>
      <p:sp>
        <p:nvSpPr>
          <p:cNvPr id="5" name="文本框 4">
            <a:extLst>
              <a:ext uri="{FF2B5EF4-FFF2-40B4-BE49-F238E27FC236}">
                <a16:creationId xmlns:a16="http://schemas.microsoft.com/office/drawing/2014/main" id="{C7B0B175-845D-CBE6-2FDC-EC6CFD90C842}"/>
              </a:ext>
            </a:extLst>
          </p:cNvPr>
          <p:cNvSpPr txBox="1"/>
          <p:nvPr/>
        </p:nvSpPr>
        <p:spPr>
          <a:xfrm>
            <a:off x="0" y="1721146"/>
            <a:ext cx="6096000" cy="697820"/>
          </a:xfrm>
          <a:prstGeom prst="rect">
            <a:avLst/>
          </a:prstGeom>
          <a:noFill/>
        </p:spPr>
        <p:txBody>
          <a:bodyPr wrap="square">
            <a:spAutoFit/>
          </a:bodyPr>
          <a:lstStyle/>
          <a:p>
            <a:pPr lvl="0" algn="just">
              <a:lnSpc>
                <a:spcPct val="150000"/>
              </a:lnSpc>
              <a:buSzPts val="1000"/>
              <a:tabLst>
                <a:tab pos="457200" algn="l"/>
              </a:tabLst>
            </a:pP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传统的</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PCI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配置机制（</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CAM</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IO</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间接访问（</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IO-indirect access</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lvl="0" algn="just">
              <a:lnSpc>
                <a:spcPct val="150000"/>
              </a:lnSpc>
              <a:buSzPts val="1000"/>
              <a:tabLst>
                <a:tab pos="457200" algn="l"/>
              </a:tabLst>
            </a:pP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增强型配置机制（</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ECAM</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），使用内存映射访问（</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memory-mapped access</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 name="文本框 7">
            <a:extLst>
              <a:ext uri="{FF2B5EF4-FFF2-40B4-BE49-F238E27FC236}">
                <a16:creationId xmlns:a16="http://schemas.microsoft.com/office/drawing/2014/main" id="{71A0156D-5ACF-3176-5E65-9502A5D5D5DC}"/>
              </a:ext>
            </a:extLst>
          </p:cNvPr>
          <p:cNvSpPr txBox="1"/>
          <p:nvPr/>
        </p:nvSpPr>
        <p:spPr>
          <a:xfrm>
            <a:off x="55829" y="2515334"/>
            <a:ext cx="5984341" cy="646331"/>
          </a:xfrm>
          <a:prstGeom prst="rect">
            <a:avLst/>
          </a:prstGeom>
          <a:noFill/>
        </p:spPr>
        <p:txBody>
          <a:bodyPr wrap="square" rtlCol="0">
            <a:spAutoFit/>
          </a:bodyPr>
          <a:lstStyle/>
          <a:p>
            <a:r>
              <a:rPr lang="en-US" altLang="zh-CN"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ECAM</a:t>
            </a:r>
            <a:r>
              <a:rPr lang="zh-CN" altLang="en-US"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就是将</a:t>
            </a:r>
            <a:r>
              <a:rPr lang="en-US" altLang="zh-CN"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PCIE</a:t>
            </a:r>
            <a:r>
              <a:rPr lang="zh-CN" altLang="en-US"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的配置空间映射到</a:t>
            </a:r>
            <a:r>
              <a:rPr lang="en-US" altLang="zh-CN"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MEM</a:t>
            </a:r>
            <a:r>
              <a:rPr lang="zh-CN" altLang="en-US"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空间，使用</a:t>
            </a:r>
            <a:r>
              <a:rPr lang="en-US" altLang="zh-CN" b="0" i="0" dirty="0">
                <a:solidFill>
                  <a:srgbClr val="191B1F"/>
                </a:solidFill>
                <a:effectLst/>
                <a:latin typeface="Times New Roman" panose="02020603050405020304" pitchFamily="18" charset="0"/>
                <a:ea typeface="宋体" panose="02010600030101010101" pitchFamily="2" charset="-122"/>
                <a:cs typeface="Times New Roman" panose="02020603050405020304" pitchFamily="18" charset="0"/>
              </a:rPr>
              <a:t>MEM</a:t>
            </a:r>
            <a:r>
              <a:rPr lang="zh-CN" altLang="en-US" dirty="0">
                <a:solidFill>
                  <a:srgbClr val="191B1F"/>
                </a:solidFill>
                <a:latin typeface="Times New Roman" panose="02020603050405020304" pitchFamily="18" charset="0"/>
                <a:ea typeface="宋体" panose="02010600030101010101" pitchFamily="2" charset="-122"/>
                <a:cs typeface="Times New Roman" panose="02020603050405020304" pitchFamily="18" charset="0"/>
              </a:rPr>
              <a:t>访问其配置空间的一种实现</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25084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04E3D-4A75-5D4F-4E5E-C60EE6E35C67}"/>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8988F2D3-59B2-DA7F-A426-1F242480875A}"/>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zh-CN" altLang="en-US" sz="3600" dirty="0">
                <a:gradFill>
                  <a:gsLst>
                    <a:gs pos="0">
                      <a:srgbClr val="E30000"/>
                    </a:gs>
                    <a:gs pos="100000">
                      <a:srgbClr val="760303"/>
                    </a:gs>
                  </a:gsLst>
                  <a:lin scaled="0"/>
                </a:gradFill>
              </a:rPr>
              <a:t>消息请求报文</a:t>
            </a:r>
          </a:p>
        </p:txBody>
      </p:sp>
      <p:pic>
        <p:nvPicPr>
          <p:cNvPr id="4" name="图片 3">
            <a:extLst>
              <a:ext uri="{FF2B5EF4-FFF2-40B4-BE49-F238E27FC236}">
                <a16:creationId xmlns:a16="http://schemas.microsoft.com/office/drawing/2014/main" id="{8DE82F33-4345-B79D-EBF9-E96B66F104BA}"/>
              </a:ext>
            </a:extLst>
          </p:cNvPr>
          <p:cNvPicPr>
            <a:picLocks noChangeAspect="1"/>
          </p:cNvPicPr>
          <p:nvPr/>
        </p:nvPicPr>
        <p:blipFill>
          <a:blip r:embed="rId3"/>
          <a:stretch>
            <a:fillRect/>
          </a:stretch>
        </p:blipFill>
        <p:spPr>
          <a:xfrm>
            <a:off x="3683635" y="0"/>
            <a:ext cx="8508365" cy="3295147"/>
          </a:xfrm>
          <a:prstGeom prst="rect">
            <a:avLst/>
          </a:prstGeom>
        </p:spPr>
      </p:pic>
      <p:sp>
        <p:nvSpPr>
          <p:cNvPr id="6" name="文本框 5">
            <a:extLst>
              <a:ext uri="{FF2B5EF4-FFF2-40B4-BE49-F238E27FC236}">
                <a16:creationId xmlns:a16="http://schemas.microsoft.com/office/drawing/2014/main" id="{5BAD1E6B-BE64-DC24-DD9C-369CC61BBC41}"/>
              </a:ext>
            </a:extLst>
          </p:cNvPr>
          <p:cNvSpPr txBox="1"/>
          <p:nvPr/>
        </p:nvSpPr>
        <p:spPr>
          <a:xfrm>
            <a:off x="2310520" y="3780604"/>
            <a:ext cx="7570960" cy="2031325"/>
          </a:xfrm>
          <a:prstGeom prst="rect">
            <a:avLst/>
          </a:prstGeom>
          <a:noFill/>
        </p:spPr>
        <p:txBody>
          <a:bodyPr wrap="square">
            <a:spAutoFit/>
          </a:bodyPr>
          <a:lstStyle/>
          <a:p>
            <a:pPr>
              <a:buNone/>
            </a:pP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总线规定了以下几类消息报文。</a:t>
            </a:r>
          </a:p>
          <a:p>
            <a:pPr lvl="1"/>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INTx</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中断消息报文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INTx</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Interrupt Signaling</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电源管理消息报文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Power Management</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错误消息报文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Error Signaling</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锁定事务消息报文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Locked Transaction Support</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插槽电源限制消息报文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Slot Power Limit Support</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p>
          <a:p>
            <a:pPr lvl="1"/>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Vendor⁃Defined Messages</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宋体" panose="02010600040101010101" pitchFamily="2" charset="-122"/>
                <a:cs typeface="Times New Roman" panose="02020603050405020304" pitchFamily="18" charset="0"/>
              </a:rPr>
              <a:t> </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711409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1CAA3-9099-5659-8AC0-7CEA22869916}"/>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72B1ABFB-CC36-201D-B96F-477BE9E63FC1}"/>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en-US" altLang="zh-CN" sz="3600" dirty="0" err="1">
                <a:gradFill>
                  <a:gsLst>
                    <a:gs pos="0">
                      <a:srgbClr val="E30000"/>
                    </a:gs>
                    <a:gs pos="100000">
                      <a:srgbClr val="760303"/>
                    </a:gs>
                  </a:gsLst>
                  <a:lin scaled="0"/>
                </a:gradFill>
              </a:rPr>
              <a:t>INTx</a:t>
            </a:r>
            <a:r>
              <a:rPr lang="zh-CN" altLang="en-US" sz="3600" dirty="0">
                <a:gradFill>
                  <a:gsLst>
                    <a:gs pos="0">
                      <a:srgbClr val="E30000"/>
                    </a:gs>
                    <a:gs pos="100000">
                      <a:srgbClr val="760303"/>
                    </a:gs>
                  </a:gsLst>
                  <a:lin scaled="0"/>
                </a:gradFill>
              </a:rPr>
              <a:t>中断消息报文</a:t>
            </a:r>
          </a:p>
        </p:txBody>
      </p:sp>
      <p:pic>
        <p:nvPicPr>
          <p:cNvPr id="4" name="图片 3">
            <a:extLst>
              <a:ext uri="{FF2B5EF4-FFF2-40B4-BE49-F238E27FC236}">
                <a16:creationId xmlns:a16="http://schemas.microsoft.com/office/drawing/2014/main" id="{B4A03AD2-81C3-C464-06AD-C7A00B9212CB}"/>
              </a:ext>
            </a:extLst>
          </p:cNvPr>
          <p:cNvPicPr>
            <a:picLocks noChangeAspect="1"/>
          </p:cNvPicPr>
          <p:nvPr/>
        </p:nvPicPr>
        <p:blipFill>
          <a:blip r:embed="rId3"/>
          <a:stretch>
            <a:fillRect/>
          </a:stretch>
        </p:blipFill>
        <p:spPr>
          <a:xfrm>
            <a:off x="4101220" y="0"/>
            <a:ext cx="8090780" cy="3354182"/>
          </a:xfrm>
          <a:prstGeom prst="rect">
            <a:avLst/>
          </a:prstGeom>
        </p:spPr>
      </p:pic>
      <p:sp>
        <p:nvSpPr>
          <p:cNvPr id="6" name="文本框 5">
            <a:extLst>
              <a:ext uri="{FF2B5EF4-FFF2-40B4-BE49-F238E27FC236}">
                <a16:creationId xmlns:a16="http://schemas.microsoft.com/office/drawing/2014/main" id="{8FEA14DB-5AF0-47C9-7990-E8077FED5411}"/>
              </a:ext>
            </a:extLst>
          </p:cNvPr>
          <p:cNvSpPr txBox="1"/>
          <p:nvPr/>
        </p:nvSpPr>
        <p:spPr>
          <a:xfrm>
            <a:off x="834805" y="3823115"/>
            <a:ext cx="10522389" cy="2585323"/>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设备不使用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MSI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报文向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提交中断请求时， 可以首先使用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Assert_INTx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报文向处理器系统提交中断请求， 当中断处理完毕， 再使用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Deassert_INTx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报文。 这些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中断消息报文的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 [2∶ 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0b100</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即为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Local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消息报文。 设备收到该消息报文后， 将结束收到的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中断消息报文， 然后产生一个新的 </a:t>
            </a:r>
            <a:r>
              <a:rPr lang="en-US" altLang="zh-CN" sz="1800"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INTx</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中断消息报文。</a:t>
            </a:r>
          </a:p>
          <a:p>
            <a:pPr>
              <a:buNone/>
            </a:pP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在一个处理器系统中，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设备首先需要通过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桥， 之后可能通过多级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最终到达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假设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设备使用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INTA#</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信号进行中断请求， 但是由于中断路由表的存在，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桥可能将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INTA#</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信号转换为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INTB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 而这个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INTB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中断消息通过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可能又被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Switch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的中断路由表转换为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INTC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 因此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设备收到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INTx</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中断消息后， 首先需要结束当前中断消息， 之后根据中断路由表产生一个新的 </a:t>
            </a:r>
            <a:r>
              <a:rPr lang="en-US" altLang="zh-CN" b="0" i="0" dirty="0" err="1">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INTx</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中断消息， 直到这个中断消息传递到 </a:t>
            </a:r>
            <a:r>
              <a:rPr lang="en-US" altLang="zh-CN"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a:t>
            </a:r>
            <a:r>
              <a:rPr lang="zh-CN" altLang="en-US"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3675562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202C-2EA2-DE7B-C7B3-80ADC95E48F6}"/>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D14A6CDE-4AF5-CDA5-C3F1-A23208C78181}"/>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zh-CN" altLang="en-US" sz="3600" dirty="0">
                <a:gradFill>
                  <a:gsLst>
                    <a:gs pos="0">
                      <a:srgbClr val="E30000"/>
                    </a:gs>
                    <a:gs pos="100000">
                      <a:srgbClr val="760303"/>
                    </a:gs>
                  </a:gsLst>
                  <a:lin scaled="0"/>
                </a:gradFill>
                <a:latin typeface="Times New Roman" panose="02020603050405020304" pitchFamily="18" charset="0"/>
                <a:ea typeface="华文宋体" panose="02010600040101010101" pitchFamily="2" charset="-122"/>
                <a:cs typeface="Times New Roman" panose="02020603050405020304" pitchFamily="18" charset="0"/>
              </a:rPr>
              <a:t>错误消息报文</a:t>
            </a:r>
          </a:p>
        </p:txBody>
      </p:sp>
      <p:sp>
        <p:nvSpPr>
          <p:cNvPr id="4" name="文本框 3">
            <a:extLst>
              <a:ext uri="{FF2B5EF4-FFF2-40B4-BE49-F238E27FC236}">
                <a16:creationId xmlns:a16="http://schemas.microsoft.com/office/drawing/2014/main" id="{12DF203A-408D-E4CD-839E-07D9FD67B87D}"/>
              </a:ext>
            </a:extLst>
          </p:cNvPr>
          <p:cNvSpPr txBox="1"/>
          <p:nvPr/>
        </p:nvSpPr>
        <p:spPr>
          <a:xfrm>
            <a:off x="860079" y="649650"/>
            <a:ext cx="10900372" cy="646331"/>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AER Capability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结构， 当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设备出现某种错误时， 将向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Event Collector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发送错误消息报文， 之后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Event Collector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将根据错误类型分别进行处理。</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6" name="文本框 5">
            <a:extLst>
              <a:ext uri="{FF2B5EF4-FFF2-40B4-BE49-F238E27FC236}">
                <a16:creationId xmlns:a16="http://schemas.microsoft.com/office/drawing/2014/main" id="{A21B7BE4-C38F-8BCA-75A2-151F84454449}"/>
              </a:ext>
            </a:extLst>
          </p:cNvPr>
          <p:cNvSpPr txBox="1"/>
          <p:nvPr/>
        </p:nvSpPr>
        <p:spPr>
          <a:xfrm>
            <a:off x="860079" y="1434168"/>
            <a:ext cx="10900372" cy="1200329"/>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总线规范定义了两大类错误类型， 分别是可恢复错误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Correctable Errors</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和不可恢复错误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Uncorrectable Errors</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不可恢复错误又细分为致命错误 （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Fatal</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和非致命错误（</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Nonfatal</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设备出现这些错误时， 将使用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ERR_COR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ERR_NONFATAL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ERR_FATAL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错误消息报文向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Event Collector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发送错误消息报文。</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8" name="文本框 7">
            <a:extLst>
              <a:ext uri="{FF2B5EF4-FFF2-40B4-BE49-F238E27FC236}">
                <a16:creationId xmlns:a16="http://schemas.microsoft.com/office/drawing/2014/main" id="{A8321706-2F74-DBE1-6564-756BEF46AC7B}"/>
              </a:ext>
            </a:extLst>
          </p:cNvPr>
          <p:cNvSpPr txBox="1"/>
          <p:nvPr/>
        </p:nvSpPr>
        <p:spPr>
          <a:xfrm>
            <a:off x="860078" y="2772684"/>
            <a:ext cx="10900371" cy="923330"/>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总线定义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AER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机制的主要考虑是， 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设备将错误信息 “统一报告” 给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Event Collector</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并由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Event Collector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统一处理” 这些错误。 其中 “统一报告”和 “统一处理” 才是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AER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机制的设计要点。</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10" name="文本框 9">
            <a:extLst>
              <a:ext uri="{FF2B5EF4-FFF2-40B4-BE49-F238E27FC236}">
                <a16:creationId xmlns:a16="http://schemas.microsoft.com/office/drawing/2014/main" id="{F578C68B-78EF-5748-F2BE-567C8DA3E2C4}"/>
              </a:ext>
            </a:extLst>
          </p:cNvPr>
          <p:cNvSpPr txBox="1"/>
          <p:nvPr/>
        </p:nvSpPr>
        <p:spPr>
          <a:xfrm>
            <a:off x="860078" y="3834201"/>
            <a:ext cx="10900371" cy="1200329"/>
          </a:xfrm>
          <a:prstGeom prst="rect">
            <a:avLst/>
          </a:prstGeom>
          <a:noFill/>
        </p:spPr>
        <p:txBody>
          <a:bodyPr wrap="square">
            <a:spAutoFit/>
          </a:bodyPr>
          <a:lstStyle/>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设备出现某种错误后， 首先将这些错误信息保留在设备的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AER Capability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结构中， 之后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Event Collector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从 “来自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设备的错误信息报文” 中获得相应的错误信息。 为此在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中设置了一个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Error Source Identification”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寄存器保存究竟是哪个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设备发出的错误信息报文， 之后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或者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Event Collector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向处理器系统提交中断请求， 由相应的中断服务例程统一处理所有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设备的错误信息。</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12" name="文本框 11">
            <a:extLst>
              <a:ext uri="{FF2B5EF4-FFF2-40B4-BE49-F238E27FC236}">
                <a16:creationId xmlns:a16="http://schemas.microsoft.com/office/drawing/2014/main" id="{5F8DE7F5-8857-9AB3-D948-2512823A1E05}"/>
              </a:ext>
            </a:extLst>
          </p:cNvPr>
          <p:cNvSpPr txBox="1"/>
          <p:nvPr/>
        </p:nvSpPr>
        <p:spPr>
          <a:xfrm>
            <a:off x="2486026" y="5403089"/>
            <a:ext cx="7092540" cy="923330"/>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统一处理所有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设备错误信息的这种做法， 势必加大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RC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和系统软件的设计复杂度。 而外部设备的多样性与复杂程度决定了使用这种方法不一定能够取得较好的效果。</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3673686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90485-E9F2-45C4-C9FA-2DCB70C3CCF0}"/>
            </a:ext>
          </a:extLst>
        </p:cNvPr>
        <p:cNvGrpSpPr/>
        <p:nvPr/>
      </p:nvGrpSpPr>
      <p:grpSpPr>
        <a:xfrm>
          <a:off x="0" y="0"/>
          <a:ext cx="0" cy="0"/>
          <a:chOff x="0" y="0"/>
          <a:chExt cx="0" cy="0"/>
        </a:xfrm>
      </p:grpSpPr>
      <p:sp>
        <p:nvSpPr>
          <p:cNvPr id="2" name="标题 6">
            <a:extLst>
              <a:ext uri="{FF2B5EF4-FFF2-40B4-BE49-F238E27FC236}">
                <a16:creationId xmlns:a16="http://schemas.microsoft.com/office/drawing/2014/main" id="{F15AC641-55FD-1FCA-D4AE-12344A517E07}"/>
              </a:ext>
            </a:extLst>
          </p:cNvPr>
          <p:cNvSpPr>
            <a:spLocks noGrp="1"/>
          </p:cNvSpPr>
          <p:nvPr>
            <p:ph type="title"/>
            <p:custDataLst>
              <p:tags r:id="rId1"/>
            </p:custDataLst>
          </p:nvPr>
        </p:nvSpPr>
        <p:spPr>
          <a:xfrm>
            <a:off x="107504" y="188640"/>
            <a:ext cx="8508365" cy="461010"/>
          </a:xfrm>
        </p:spPr>
        <p:txBody>
          <a:bodyPr>
            <a:normAutofit fontScale="90000"/>
          </a:bodyPr>
          <a:lstStyle/>
          <a:p>
            <a:pPr algn="l"/>
            <a:r>
              <a:rPr lang="en-US" altLang="zh-CN" sz="3600" dirty="0">
                <a:gradFill>
                  <a:gsLst>
                    <a:gs pos="0">
                      <a:srgbClr val="E30000"/>
                    </a:gs>
                    <a:gs pos="100000">
                      <a:srgbClr val="760303"/>
                    </a:gs>
                  </a:gsLst>
                  <a:lin scaled="0"/>
                </a:gradFill>
                <a:latin typeface="Times New Roman" panose="02020603050405020304" pitchFamily="18" charset="0"/>
                <a:ea typeface="华文宋体" panose="02010600040101010101" pitchFamily="2" charset="-122"/>
                <a:cs typeface="Times New Roman" panose="02020603050405020304" pitchFamily="18" charset="0"/>
              </a:rPr>
              <a:t>TLP Processing Hint(TPH)</a:t>
            </a:r>
            <a:endParaRPr lang="zh-CN" altLang="en-US" sz="3600" dirty="0">
              <a:gradFill>
                <a:gsLst>
                  <a:gs pos="0">
                    <a:srgbClr val="E30000"/>
                  </a:gs>
                  <a:gs pos="100000">
                    <a:srgbClr val="760303"/>
                  </a:gs>
                </a:gsLst>
                <a:lin scaled="0"/>
              </a:gradFill>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F5F3FF51-6DF1-C73F-008B-50555143A5E9}"/>
              </a:ext>
            </a:extLst>
          </p:cNvPr>
          <p:cNvSpPr txBox="1"/>
          <p:nvPr/>
        </p:nvSpPr>
        <p:spPr>
          <a:xfrm>
            <a:off x="1023043" y="761514"/>
            <a:ext cx="10366216" cy="923330"/>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表示在当前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中包含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Processing Hint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字段由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V2. 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总线规范引入。 该字段的引入可以使目标设备根据源设备对数据的使用情况，合理地安排数据缓冲， 从而降低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设备的访问延时， 并最大化地利用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设备中的数据缓冲。</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pic>
        <p:nvPicPr>
          <p:cNvPr id="6" name="图片 5">
            <a:extLst>
              <a:ext uri="{FF2B5EF4-FFF2-40B4-BE49-F238E27FC236}">
                <a16:creationId xmlns:a16="http://schemas.microsoft.com/office/drawing/2014/main" id="{AB6D69F5-DAE3-0649-BD85-157653C5ED85}"/>
              </a:ext>
            </a:extLst>
          </p:cNvPr>
          <p:cNvPicPr>
            <a:picLocks noChangeAspect="1"/>
          </p:cNvPicPr>
          <p:nvPr/>
        </p:nvPicPr>
        <p:blipFill>
          <a:blip r:embed="rId4"/>
          <a:stretch>
            <a:fillRect/>
          </a:stretch>
        </p:blipFill>
        <p:spPr>
          <a:xfrm>
            <a:off x="4805403" y="1684844"/>
            <a:ext cx="2581194" cy="2434483"/>
          </a:xfrm>
          <a:prstGeom prst="rect">
            <a:avLst/>
          </a:prstGeom>
        </p:spPr>
      </p:pic>
      <p:sp>
        <p:nvSpPr>
          <p:cNvPr id="8" name="文本框 7">
            <a:extLst>
              <a:ext uri="{FF2B5EF4-FFF2-40B4-BE49-F238E27FC236}">
                <a16:creationId xmlns:a16="http://schemas.microsoft.com/office/drawing/2014/main" id="{B4866E22-78AC-04A7-99CB-CF9C8DCE10AA}"/>
              </a:ext>
            </a:extLst>
          </p:cNvPr>
          <p:cNvSpPr txBox="1"/>
          <p:nvPr/>
        </p:nvSpPr>
        <p:spPr>
          <a:xfrm>
            <a:off x="1023042" y="4169570"/>
            <a:ext cx="10456751" cy="1754326"/>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在这种互连结构中， 处理器、 存储器和智能设备与网络节点相连。 在这种结构中，在网络节点上连接的设备都含有一个处理器， 包括存储器。</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当智能设备与处理器进行通信时， 如果能够预知数据的使用情况， 无疑能够减低数据的访问延时。 如智能设备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将一组数据写入智能存储器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之后， 如果这个智能存储器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能够预测这组数据将很快被再次使用， 则可以将这组数据放入到高速缓冲中， 而不必放入低速缓冲中。 当这组数据被再次使用时， 智能存储器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可以很快将数据从高速缓冲中读出， 从而缩短了访问延时。</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10" name="文本框 9">
            <a:extLst>
              <a:ext uri="{FF2B5EF4-FFF2-40B4-BE49-F238E27FC236}">
                <a16:creationId xmlns:a16="http://schemas.microsoft.com/office/drawing/2014/main" id="{9A69EEC5-3A5A-53D9-3BD2-6DEE4F66BCD5}"/>
              </a:ext>
            </a:extLst>
          </p:cNvPr>
          <p:cNvSpPr txBox="1"/>
          <p:nvPr/>
        </p:nvSpPr>
        <p:spPr>
          <a:xfrm>
            <a:off x="2477254" y="6023029"/>
            <a:ext cx="7237491" cy="646331"/>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总线引入了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字段的主要目的是为了加速外部设备访问主存储器， 即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DMA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操作，同时也兼顾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SMP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处理器系统对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设备的访问。 </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137590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6950B-99F0-63C0-BA08-2B9AAEC4D9C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23F34A0-9B9D-D2A7-E5D2-4FF7AE20864A}"/>
              </a:ext>
            </a:extLst>
          </p:cNvPr>
          <p:cNvSpPr txBox="1"/>
          <p:nvPr/>
        </p:nvSpPr>
        <p:spPr>
          <a:xfrm>
            <a:off x="1441197" y="365859"/>
            <a:ext cx="9309604" cy="923330"/>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a:t>
            </a:r>
          </a:p>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使智能设备或者处理器提前预知数据的使用方法。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字段仅在与存储器访问相关的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中出现， 该字段由两位组成。</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4518A58A-A524-7BBD-BB3E-69D47D9C2E38}"/>
              </a:ext>
            </a:extLst>
          </p:cNvPr>
          <p:cNvPicPr>
            <a:picLocks noChangeAspect="1"/>
          </p:cNvPicPr>
          <p:nvPr/>
        </p:nvPicPr>
        <p:blipFill>
          <a:blip r:embed="rId3"/>
          <a:stretch>
            <a:fillRect/>
          </a:stretch>
        </p:blipFill>
        <p:spPr>
          <a:xfrm>
            <a:off x="1676053" y="1289189"/>
            <a:ext cx="8839892" cy="1923422"/>
          </a:xfrm>
          <a:prstGeom prst="rect">
            <a:avLst/>
          </a:prstGeom>
        </p:spPr>
      </p:pic>
      <p:sp>
        <p:nvSpPr>
          <p:cNvPr id="7" name="文本框 6">
            <a:extLst>
              <a:ext uri="{FF2B5EF4-FFF2-40B4-BE49-F238E27FC236}">
                <a16:creationId xmlns:a16="http://schemas.microsoft.com/office/drawing/2014/main" id="{13EB107B-8B7F-C795-93E3-C2FFA928A5E9}"/>
              </a:ext>
            </a:extLst>
          </p:cNvPr>
          <p:cNvSpPr txBox="1"/>
          <p:nvPr/>
        </p:nvSpPr>
        <p:spPr>
          <a:xfrm>
            <a:off x="190124" y="3212611"/>
            <a:ext cx="11579381" cy="3539430"/>
          </a:xfrm>
          <a:prstGeom prst="rect">
            <a:avLst/>
          </a:prstGeom>
          <a:noFill/>
        </p:spPr>
        <p:txBody>
          <a:bodyPr wrap="square">
            <a:spAutoFit/>
          </a:bodyPr>
          <a:lstStyle/>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[1∶ 0]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为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0b01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表示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中的数据经常被设备使用， 包括以下四种类型。</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DWDW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Write after Device Write</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外部设备对一段数据进行写操作后， 很快还会再次进行写操作。</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DWDR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Read after Device Write</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外部设备对一段数据进行写操作后， 很快还</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会对这段数据进行读操作。</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DRDW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Write after Device Read</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外部设备对一段数据进行读操作后， 很快还</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会对这段数据进行写操作。</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DRDR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Read after Device Read</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外部设备对一段数据进行读操作后， 很快还</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会再次进行读操作。</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[1∶ 0]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为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0b10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表示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中的数据经常被目标设备使用， 包括以下两种类型。 在进行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DMA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操作时，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HOST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处理器为目标设备， 本节也以此为例说明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字段的使用规则。</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DWHR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Host Read after Device Write</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外部设备对一段数据进行写操作后，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Host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处</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理器将很快读取这段数据。</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HWDR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Device Read after Host Write</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Host </a:t>
            </a: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处理器对一段数据进行写操作后， 外部</a:t>
            </a:r>
          </a:p>
          <a:p>
            <a:pPr>
              <a:buNone/>
            </a:pPr>
            <a:r>
              <a:rPr lang="zh-CN" altLang="en-US" sz="16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设备将很快读取这段数据。</a:t>
            </a:r>
            <a:r>
              <a:rPr lang="zh-CN" altLang="en-US" sz="1600"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3644468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47A33-EC42-C44C-F25C-822CF6A25CF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F242EAC-648B-10BF-C72D-6B3256C842C6}"/>
              </a:ext>
            </a:extLst>
          </p:cNvPr>
          <p:cNvSpPr txBox="1"/>
          <p:nvPr/>
        </p:nvSpPr>
        <p:spPr>
          <a:xfrm>
            <a:off x="1186004" y="0"/>
            <a:ext cx="9352230" cy="1200329"/>
          </a:xfrm>
          <a:prstGeom prst="rect">
            <a:avLst/>
          </a:prstGeom>
          <a:noFill/>
        </p:spPr>
        <p:txBody>
          <a:bodyPr wrap="square">
            <a:spAutoFit/>
          </a:bodyPr>
          <a:lstStyle/>
          <a:p>
            <a:pPr>
              <a:buNone/>
            </a:pP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2. Steering Tag</a:t>
            </a:r>
          </a:p>
          <a:p>
            <a:pPr>
              <a:buNone/>
            </a:pP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通过上文对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字段的描述， 可以发现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字段提供的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Processing Hint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控制能力较弱，仅是一个粗颗粒的控制机制。 为此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总线规范提供了一个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16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Steering Tag</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字段， 目标设备通过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Steering Tag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字段可以获得较为详细的信息。</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pic>
        <p:nvPicPr>
          <p:cNvPr id="5" name="图片 4">
            <a:extLst>
              <a:ext uri="{FF2B5EF4-FFF2-40B4-BE49-F238E27FC236}">
                <a16:creationId xmlns:a16="http://schemas.microsoft.com/office/drawing/2014/main" id="{A5D7282F-C8E5-3115-06F7-C2AB8BAD2E8C}"/>
              </a:ext>
            </a:extLst>
          </p:cNvPr>
          <p:cNvPicPr>
            <a:picLocks noChangeAspect="1"/>
          </p:cNvPicPr>
          <p:nvPr/>
        </p:nvPicPr>
        <p:blipFill>
          <a:blip r:embed="rId2"/>
          <a:stretch>
            <a:fillRect/>
          </a:stretch>
        </p:blipFill>
        <p:spPr>
          <a:xfrm>
            <a:off x="2579849" y="4032236"/>
            <a:ext cx="6833126" cy="1465262"/>
          </a:xfrm>
          <a:prstGeom prst="rect">
            <a:avLst/>
          </a:prstGeom>
        </p:spPr>
      </p:pic>
      <p:sp>
        <p:nvSpPr>
          <p:cNvPr id="7" name="文本框 6">
            <a:extLst>
              <a:ext uri="{FF2B5EF4-FFF2-40B4-BE49-F238E27FC236}">
                <a16:creationId xmlns:a16="http://schemas.microsoft.com/office/drawing/2014/main" id="{2ABC9357-E438-4CCA-06B7-21C7B5E89E29}"/>
              </a:ext>
            </a:extLst>
          </p:cNvPr>
          <p:cNvSpPr txBox="1"/>
          <p:nvPr/>
        </p:nvSpPr>
        <p:spPr>
          <a:xfrm>
            <a:off x="1186003" y="1397675"/>
            <a:ext cx="9352230" cy="1477328"/>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位有效时， 存储器写请求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字段被重新定义为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[7∶ 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因为存储器写请求并不需要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Tag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而对于存储器读请求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位有效时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字段被重新定义为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[7∶ 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由于一些存储器读请求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仍然需要使用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字段处理对界，因此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字段只能应用于不需要对界的存储器读请求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br>
              <a:rPr lang="zh-CN" altLang="en-US" dirty="0"/>
            </a:br>
            <a:endParaRPr lang="zh-CN" altLang="en-US" dirty="0"/>
          </a:p>
        </p:txBody>
      </p:sp>
      <p:sp>
        <p:nvSpPr>
          <p:cNvPr id="9" name="文本框 8">
            <a:extLst>
              <a:ext uri="{FF2B5EF4-FFF2-40B4-BE49-F238E27FC236}">
                <a16:creationId xmlns:a16="http://schemas.microsoft.com/office/drawing/2014/main" id="{CB5D5D50-887A-6965-5183-A6CF90B44569}"/>
              </a:ext>
            </a:extLst>
          </p:cNvPr>
          <p:cNvSpPr txBox="1"/>
          <p:nvPr/>
        </p:nvSpPr>
        <p:spPr>
          <a:xfrm>
            <a:off x="1186002" y="2748749"/>
            <a:ext cx="9451820" cy="1200329"/>
          </a:xfrm>
          <a:prstGeom prst="rect">
            <a:avLst/>
          </a:prstGeom>
          <a:noFill/>
        </p:spPr>
        <p:txBody>
          <a:bodyPr wrap="square">
            <a:spAutoFit/>
          </a:bodyPr>
          <a:lstStyle/>
          <a:p>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当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位有效时， 这些 “不需要对界” 的存储器读请求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将使用默认的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值。如果该存储器读请求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时，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First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字段的默认值为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0b1111</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而</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Last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字段的默认值为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0b0000</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如果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Length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字段不为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1</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First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和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Last DW BE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的默认值都为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0b1111</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宋体" panose="02010600040101010101" pitchFamily="2" charset="-122"/>
                <a:cs typeface="Times New Roman" panose="02020603050405020304" pitchFamily="18" charset="0"/>
              </a:rPr>
              <a:t> </a:t>
            </a:r>
            <a:endParaRPr lang="zh-CN" altLang="en-US" dirty="0">
              <a:latin typeface="Times New Roman" panose="02020603050405020304" pitchFamily="18" charset="0"/>
              <a:ea typeface="华文宋体" panose="0201060004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5C359F7A-795E-6CDF-663C-6786F4ABB69A}"/>
              </a:ext>
            </a:extLst>
          </p:cNvPr>
          <p:cNvSpPr txBox="1"/>
          <p:nvPr/>
        </p:nvSpPr>
        <p:spPr>
          <a:xfrm>
            <a:off x="248969" y="5677078"/>
            <a:ext cx="11325885" cy="1200329"/>
          </a:xfrm>
          <a:prstGeom prst="rect">
            <a:avLst/>
          </a:prstGeom>
          <a:noFill/>
        </p:spPr>
        <p:txBody>
          <a:bodyPr wrap="square">
            <a:spAutoFit/>
          </a:bodyPr>
          <a:lstStyle/>
          <a:p>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还可以支持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[15∶ 8]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该字段是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的扩展字段。 如果一个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需要使用</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[15∶ 8]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必须使用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Prefix</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 因为在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TLP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头中已经没有足够的空间放置这些字段。 </a:t>
            </a:r>
            <a:br>
              <a:rPr lang="zh-CN" altLang="en-US" dirty="0">
                <a:latin typeface="Times New Roman" panose="02020603050405020304" pitchFamily="18" charset="0"/>
                <a:ea typeface="华文宋体" panose="02010600040101010101" pitchFamily="2" charset="-122"/>
                <a:cs typeface="Times New Roman" panose="02020603050405020304" pitchFamily="18" charset="0"/>
              </a:rPr>
            </a:b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TPH TLP Prefix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Byte 0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中存放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[15∶ 8]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 在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PCIe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总线中，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[15∶ 8]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字段是可选的， 实际上整个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字段都是可选的。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TPH Requester Capability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结构使用</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Mode Select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字段定义了 </a:t>
            </a:r>
            <a:r>
              <a:rPr lang="en-US" altLang="zh-CN"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ST </a:t>
            </a:r>
            <a:r>
              <a:rPr lang="zh-CN" altLang="en-US" sz="1800" b="0" i="0" dirty="0">
                <a:solidFill>
                  <a:srgbClr val="000000"/>
                </a:solidFill>
                <a:effectLst/>
                <a:latin typeface="Times New Roman" panose="02020603050405020304" pitchFamily="18" charset="0"/>
                <a:ea typeface="华文宋体" panose="02010600040101010101" pitchFamily="2" charset="-122"/>
                <a:cs typeface="Times New Roman" panose="02020603050405020304" pitchFamily="18" charset="0"/>
              </a:rPr>
              <a:t>字段的三种使用模式。</a:t>
            </a:r>
            <a:r>
              <a:rPr lang="zh-CN" altLang="en-US" dirty="0">
                <a:latin typeface="Times New Roman" panose="02020603050405020304" pitchFamily="18" charset="0"/>
                <a:ea typeface="华文宋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121990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EC2D-DC55-FCBC-4563-D5484C13D385}"/>
            </a:ext>
          </a:extLst>
        </p:cNvPr>
        <p:cNvGrpSpPr/>
        <p:nvPr/>
      </p:nvGrpSpPr>
      <p:grpSpPr>
        <a:xfrm>
          <a:off x="0" y="0"/>
          <a:ext cx="0" cy="0"/>
          <a:chOff x="0" y="0"/>
          <a:chExt cx="0" cy="0"/>
        </a:xfrm>
      </p:grpSpPr>
    </p:spTree>
    <p:extLst>
      <p:ext uri="{BB962C8B-B14F-4D97-AF65-F5344CB8AC3E}">
        <p14:creationId xmlns:p14="http://schemas.microsoft.com/office/powerpoint/2010/main" val="4029139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5108B-12BA-3FD4-F5B8-7EE012541E13}"/>
            </a:ext>
          </a:extLst>
        </p:cNvPr>
        <p:cNvGrpSpPr/>
        <p:nvPr/>
      </p:nvGrpSpPr>
      <p:grpSpPr>
        <a:xfrm>
          <a:off x="0" y="0"/>
          <a:ext cx="0" cy="0"/>
          <a:chOff x="0" y="0"/>
          <a:chExt cx="0" cy="0"/>
        </a:xfrm>
      </p:grpSpPr>
    </p:spTree>
    <p:extLst>
      <p:ext uri="{BB962C8B-B14F-4D97-AF65-F5344CB8AC3E}">
        <p14:creationId xmlns:p14="http://schemas.microsoft.com/office/powerpoint/2010/main" val="35208292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31447</TotalTime>
  <Words>6707</Words>
  <Application>Microsoft Office PowerPoint</Application>
  <PresentationFormat>宽屏</PresentationFormat>
  <Paragraphs>155</Paragraphs>
  <Slides>28</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28</vt:i4>
      </vt:variant>
    </vt:vector>
  </HeadingPairs>
  <TitlesOfParts>
    <vt:vector size="35" baseType="lpstr">
      <vt:lpstr>E-BZ</vt:lpstr>
      <vt:lpstr>FZSSK--GBK1-0</vt:lpstr>
      <vt:lpstr>等线</vt:lpstr>
      <vt:lpstr>等线 Light</vt:lpstr>
      <vt:lpstr>Arial</vt:lpstr>
      <vt:lpstr>Times New Roman</vt:lpstr>
      <vt:lpstr>Office 主题​​</vt:lpstr>
      <vt:lpstr>PCIE协议-事务层</vt:lpstr>
      <vt:lpstr>TLP</vt:lpstr>
      <vt:lpstr>PowerPoint 演示文稿</vt:lpstr>
      <vt:lpstr>PowerPoint 演示文稿</vt:lpstr>
      <vt:lpstr>PowerPoint 演示文稿</vt:lpstr>
      <vt:lpstr>PowerPoint 演示文稿</vt:lpstr>
      <vt:lpstr>PowerPoint 演示文稿</vt:lpstr>
      <vt:lpstr>PowerPoint 演示文稿</vt:lpstr>
      <vt:lpstr>TLP路由</vt:lpstr>
      <vt:lpstr>ID路由</vt:lpstr>
      <vt:lpstr>隐式路由</vt:lpstr>
      <vt:lpstr>存储器读写请求TLP</vt:lpstr>
      <vt:lpstr>PowerPoint 演示文稿</vt:lpstr>
      <vt:lpstr>PowerPoint 演示文稿</vt:lpstr>
      <vt:lpstr>PowerPoint 演示文稿</vt:lpstr>
      <vt:lpstr>完成报文</vt:lpstr>
      <vt:lpstr>PowerPoint 演示文稿</vt:lpstr>
      <vt:lpstr>PowerPoint 演示文稿</vt:lpstr>
      <vt:lpstr>配置读写请求TLP</vt:lpstr>
      <vt:lpstr>ECAM(Enhanced Configuration Access Mechanism)</vt:lpstr>
      <vt:lpstr>消息请求报文</vt:lpstr>
      <vt:lpstr>INTx中断消息报文</vt:lpstr>
      <vt:lpstr>错误消息报文</vt:lpstr>
      <vt:lpstr>TLP Processing Hint(TPH)</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Jayden Han</dc:creator>
  <cp:lastModifiedBy>Jayden Han</cp:lastModifiedBy>
  <cp:revision>241</cp:revision>
  <dcterms:created xsi:type="dcterms:W3CDTF">2025-04-21T01:46:21Z</dcterms:created>
  <dcterms:modified xsi:type="dcterms:W3CDTF">2025-05-20T01:43:47Z</dcterms:modified>
</cp:coreProperties>
</file>