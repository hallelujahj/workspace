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82" r:id="rId3"/>
    <p:sldId id="273" r:id="rId4"/>
    <p:sldId id="272" r:id="rId5"/>
    <p:sldId id="275" r:id="rId6"/>
    <p:sldId id="274" r:id="rId7"/>
    <p:sldId id="277" r:id="rId8"/>
    <p:sldId id="278" r:id="rId9"/>
    <p:sldId id="279" r:id="rId10"/>
    <p:sldId id="276" r:id="rId11"/>
    <p:sldId id="281" r:id="rId12"/>
    <p:sldId id="284" r:id="rId13"/>
    <p:sldId id="296" r:id="rId14"/>
    <p:sldId id="283" r:id="rId15"/>
    <p:sldId id="280" r:id="rId16"/>
    <p:sldId id="285" r:id="rId17"/>
    <p:sldId id="287" r:id="rId18"/>
    <p:sldId id="288" r:id="rId19"/>
    <p:sldId id="289" r:id="rId20"/>
    <p:sldId id="290" r:id="rId21"/>
    <p:sldId id="291" r:id="rId22"/>
    <p:sldId id="286" r:id="rId23"/>
    <p:sldId id="292" r:id="rId24"/>
    <p:sldId id="293" r:id="rId25"/>
    <p:sldId id="295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366" autoAdjust="0"/>
  </p:normalViewPr>
  <p:slideViewPr>
    <p:cSldViewPr snapToGrid="0">
      <p:cViewPr varScale="1">
        <p:scale>
          <a:sx n="147" d="100"/>
          <a:sy n="147" d="100"/>
        </p:scale>
        <p:origin x="7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CDFC0-945C-4551-9EE6-38A19AD5F91B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963BA-B36F-4FEF-9379-60F9B1A4E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954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963BA-B36F-4FEF-9379-60F9B1A4E2E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48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物理层的电气模块对于深入理解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总线规范非常重要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但是许多系统软件工程师因为缺少必要的基础知识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很难理解这部分内容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963BA-B36F-4FEF-9379-60F9B1A4E2E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198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物理层的数据在通过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Byte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Un⁃Stripping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 / Stripping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部件时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需要注意大小端模式的转换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963BA-B36F-4FEF-9379-60F9B1A4E2E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797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963BA-B36F-4FEF-9379-60F9B1A4E2E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422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F2328"/>
                </a:solidFill>
                <a:effectLst/>
                <a:latin typeface="-apple-system"/>
              </a:rPr>
              <a:t>数据块的同步头值是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-apple-system"/>
              </a:rPr>
              <a:t>01b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-apple-system"/>
              </a:rPr>
              <a:t>，而不是上面提到的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-apple-system"/>
              </a:rPr>
              <a:t>10b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-apple-system"/>
              </a:rPr>
              <a:t>值。这是因为在链路上传输数据块时，首先发送同步头的最低有效位（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-apple-system"/>
              </a:rPr>
              <a:t>LSB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-apple-system"/>
              </a:rPr>
              <a:t>）。请注意，同步头后面的符号也会先以最低有效位发送。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963BA-B36F-4FEF-9379-60F9B1A4E2E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989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963BA-B36F-4FEF-9379-60F9B1A4E2E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572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GEN6 </a:t>
            </a:r>
            <a:r>
              <a:rPr lang="zh-CN" altLang="en-US" dirty="0"/>
              <a:t>的</a:t>
            </a:r>
            <a:r>
              <a:rPr lang="en-US" altLang="zh-CN" dirty="0"/>
              <a:t>Rate ID</a:t>
            </a:r>
            <a:r>
              <a:rPr lang="zh-CN" altLang="en-US" dirty="0"/>
              <a:t>字段的</a:t>
            </a:r>
            <a:r>
              <a:rPr lang="en-US" altLang="zh-CN" dirty="0"/>
              <a:t>bit0</a:t>
            </a:r>
            <a:r>
              <a:rPr lang="zh-CN" altLang="en-US" dirty="0"/>
              <a:t>用来标识</a:t>
            </a:r>
            <a:r>
              <a:rPr lang="en-US" altLang="zh-CN" dirty="0"/>
              <a:t>flit</a:t>
            </a:r>
            <a:r>
              <a:rPr lang="zh-CN" altLang="en-US" dirty="0"/>
              <a:t>模式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963BA-B36F-4FEF-9379-60F9B1A4E2E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422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GEN6</a:t>
            </a:r>
            <a:r>
              <a:rPr lang="zh-CN" altLang="en-US" dirty="0"/>
              <a:t>在</a:t>
            </a:r>
            <a:r>
              <a:rPr lang="en-US" altLang="zh-CN" dirty="0"/>
              <a:t>L0</a:t>
            </a:r>
            <a:r>
              <a:rPr lang="zh-CN" altLang="en-US" dirty="0"/>
              <a:t>新增了一个</a:t>
            </a:r>
            <a:r>
              <a:rPr lang="en-US" altLang="zh-CN" dirty="0"/>
              <a:t>L0P</a:t>
            </a:r>
            <a:r>
              <a:rPr lang="zh-CN" altLang="en-US" dirty="0"/>
              <a:t>状态，用于部分</a:t>
            </a:r>
            <a:r>
              <a:rPr lang="en-US" altLang="zh-CN" dirty="0"/>
              <a:t>lane</a:t>
            </a:r>
            <a:r>
              <a:rPr lang="zh-CN" altLang="en-US" dirty="0"/>
              <a:t>设置为低功耗，只有</a:t>
            </a:r>
            <a:r>
              <a:rPr lang="en-US" altLang="zh-CN" dirty="0"/>
              <a:t>flit</a:t>
            </a:r>
            <a:r>
              <a:rPr lang="zh-CN" altLang="en-US" dirty="0"/>
              <a:t>模式进入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963BA-B36F-4FEF-9379-60F9B1A4E2E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493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两次检测结果不一致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此时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设备将要退回到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Detect.Quiet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状态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并择时重新进入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Detect.Active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状态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重新进行链路探测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  <a:r>
              <a:rPr lang="zh-CN" altLang="en-US" dirty="0"/>
              <a:t> </a:t>
            </a:r>
            <a:br>
              <a:rPr lang="zh-CN" altLang="en-US" dirty="0"/>
            </a:br>
            <a:r>
              <a:rPr lang="en-US" altLang="zh-CN" dirty="0"/>
              <a:t>Detect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状态中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设备需要识别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链路的拓扑结构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只有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设备发现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链路的对端具有合法设备后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才能进入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Polling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状态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  <a:r>
              <a:rPr lang="zh-CN" altLang="en-US" sz="2800" dirty="0"/>
              <a:t> </a:t>
            </a:r>
            <a:br>
              <a:rPr lang="zh-CN" altLang="en-US" sz="2800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963BA-B36F-4FEF-9379-60F9B1A4E2E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845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Polling.Compliance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状态，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该状态的主要作用是对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链路进行检测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</a:t>
            </a:r>
            <a:r>
              <a:rPr lang="zh-CN" altLang="en-US" dirty="0"/>
              <a:t> 主要用于测试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963BA-B36F-4FEF-9379-60F9B1A4E2E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408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一条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链路可能由多个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Lane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组成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而使用这几个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Lane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进行数据传递时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可能存在速度差异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即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“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Skew”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“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Lane⁃to⁃Lane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E-BZ"/>
              </a:rPr>
              <a:t>de⁃skew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就是消除这个速度差异的方法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963BA-B36F-4FEF-9379-60F9B1A4E2E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466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963BA-B36F-4FEF-9379-60F9B1A4E2EF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760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8F4F5E-7897-A648-2088-85C55756E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41B54E-46E5-238C-20FC-6E65FC176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F3A04F-7578-7DEA-979A-90817AB26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E373-8C30-402D-AAF9-CBDB8214A66F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A27C65-6DE3-0D9E-ECA2-EF955ABD8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630844-237F-8FE4-EAC3-706490BEB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0C8D-93C4-4AEF-BBC8-25C415CA5B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379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D16F4-1EB0-9DC0-6578-D6536361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F9E224-6CC4-F51C-8DD9-0873765FA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742F50-770F-7283-5C69-A26AF5D09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E373-8C30-402D-AAF9-CBDB8214A66F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1BD68E-7971-72FE-A86C-2091FA7F8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7DD3A0-C9CA-C68F-5483-31D56234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0C8D-93C4-4AEF-BBC8-25C415CA5B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537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126C8-14E1-129A-F383-787CAAE2C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F9E405-60A0-CCB0-7638-7FEF1953E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69B59B-CD56-4F7B-AAFC-A552AEDDD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E373-8C30-402D-AAF9-CBDB8214A66F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D91976-17EC-137B-2C5F-F7190805D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B3354E-FD18-C3D5-789F-E32930DB0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0C8D-93C4-4AEF-BBC8-25C415CA5B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271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C71C30-2BD9-1A8E-1766-9EF1D8C98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E6D999-4288-2D10-DC56-ABF994E97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F7BEF2-79AB-A459-59F6-33765DCB3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A0A651-3F4C-BF40-78B7-CE8F2EFB9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E373-8C30-402D-AAF9-CBDB8214A66F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685E0D-FFCD-1DFC-668F-3B425C1DC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63A89F-0F98-76A2-C7D5-D5D5D4FD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0C8D-93C4-4AEF-BBC8-25C415CA5B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999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120BFD-A599-7FD4-987E-233B428D6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C7C4A2-8B3B-8DEF-5999-2A710FB0B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B5F1E7-280D-09CE-2B30-54EEEC38C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124D29C-93CC-7425-86AF-3A6933617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7D7E70-60B5-AE24-F36F-AA9506D79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4B77967-6E7B-74ED-0B66-6BBBEAEC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E373-8C30-402D-AAF9-CBDB8214A66F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6276C14-C68D-267C-DA2C-7FB6F2D1F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D44472-661C-FB1A-4E82-4309163E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0C8D-93C4-4AEF-BBC8-25C415CA5B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249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24867-04E9-8F06-6D2A-638BD5A27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F2D580-B210-9A64-978F-ED69DB7B3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E373-8C30-402D-AAF9-CBDB8214A66F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66B327-E698-B19A-06A8-4B700D287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779CF6-F7E2-303F-8E17-C2F47EEE3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0C8D-93C4-4AEF-BBC8-25C415CA5B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634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E0712C4-5632-46FF-1693-322379F66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E373-8C30-402D-AAF9-CBDB8214A66F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B46A31-4872-FB39-D3C0-16A1F668E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C74263-3352-677F-CC7E-25B5A3E9D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0C8D-93C4-4AEF-BBC8-25C415CA5B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475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D5C2A5-B3A7-3749-B003-4F7A2EB75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A70A34-9DB2-4A0F-E25C-B0610425E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690BD4-95DF-8FDB-A8A0-EF0C7409D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AE8B3D-0795-FEA1-2859-BF0EE69CB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E373-8C30-402D-AAF9-CBDB8214A66F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F86491-2840-D404-0436-2D71348DB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6D85D2-359B-67C8-A4E6-EA1C0050E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0C8D-93C4-4AEF-BBC8-25C415CA5B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070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B5638-B695-BCB1-E707-5ED2C8B3E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049F577-DB56-DD73-F43E-1EF43BC79B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F64BD2-F18B-A618-7CEA-70D067575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321B13-F103-38EA-8949-AA321118D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E373-8C30-402D-AAF9-CBDB8214A66F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907063-6DAD-FF36-60EC-3BA7A7A4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D773B6-2C31-F517-C10E-450F4A7E5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0C8D-93C4-4AEF-BBC8-25C415CA5B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121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D72294-4F7B-68CF-6560-F72AC3B0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9AD005-9259-DFCB-D35F-593FE6153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01F110-8811-F202-6448-DC3E58265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E373-8C30-402D-AAF9-CBDB8214A66F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5605CB-486B-E204-819B-7775C87F3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1994B9-2414-D81F-A76F-016412F14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0C8D-93C4-4AEF-BBC8-25C415CA5B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948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C2874BE-F4DD-B67A-0451-1601785AAB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F1A93A-3DC2-F6AE-CB9F-D44DFE979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0250C-FE1D-8E4A-FFBF-463FE637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E373-8C30-402D-AAF9-CBDB8214A66F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FDF904-55AB-5D9A-58C3-4FE9210D4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A596E6-B2E8-5003-256C-3E1C1545B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C0C8D-93C4-4AEF-BBC8-25C415CA5B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830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4F4C55-A871-AAEE-3E2E-3CDC6B7EB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3D08B2-56EF-AF02-12DB-1EA4013D5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4C862F-A2D1-4AA6-88B7-774EBB92DC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86E373-8C30-402D-AAF9-CBDB8214A66F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3D6C84-438D-6540-DCC0-900C1BB3F6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8CA74-69B9-BF82-E6F5-A8619CC83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0C0C8D-93C4-4AEF-BBC8-25C415CA5B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386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3E840C-09CF-33F9-B78B-6208B4C077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PCIE</a:t>
            </a:r>
            <a:r>
              <a:rPr lang="zh-CN" altLang="en-US" dirty="0"/>
              <a:t>协议</a:t>
            </a:r>
            <a:r>
              <a:rPr lang="en-US" altLang="zh-CN" dirty="0"/>
              <a:t>-</a:t>
            </a:r>
            <a:r>
              <a:rPr lang="zh-CN" altLang="en-US" dirty="0"/>
              <a:t>物理层</a:t>
            </a:r>
          </a:p>
        </p:txBody>
      </p:sp>
    </p:spTree>
    <p:extLst>
      <p:ext uri="{BB962C8B-B14F-4D97-AF65-F5344CB8AC3E}">
        <p14:creationId xmlns:p14="http://schemas.microsoft.com/office/powerpoint/2010/main" val="480966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66A8C-7FD8-3AA0-212A-71D1DFB14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953A608-4C4E-C3A2-5572-D67A22AE9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329" y="199068"/>
            <a:ext cx="5056993" cy="438653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E71E2C9-E87B-121F-E71C-BEA817FD7283}"/>
              </a:ext>
            </a:extLst>
          </p:cNvPr>
          <p:cNvSpPr txBox="1"/>
          <p:nvPr/>
        </p:nvSpPr>
        <p:spPr>
          <a:xfrm>
            <a:off x="3047998" y="4860343"/>
            <a:ext cx="71310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物理层在数据链路层和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链路之间， 其主要作用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发送数据链路层的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发送和接收在物理层产生的报文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PLP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Physical Layer Packet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链路接收数据报文并传送到数据链路层。</a:t>
            </a:r>
            <a:endParaRPr lang="zh-CN" altLang="en-US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927E06F-ACBB-D95B-C0A6-9F8EC8512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78" y="1070346"/>
            <a:ext cx="4381440" cy="264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550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12C0-C404-ED2F-5E40-47F9E966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6">
            <a:extLst>
              <a:ext uri="{FF2B5EF4-FFF2-40B4-BE49-F238E27FC236}">
                <a16:creationId xmlns:a16="http://schemas.microsoft.com/office/drawing/2014/main" id="{26B0017F-953C-7B42-C5BF-7EC62020046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物理层组成结构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2840DF-6097-0172-332F-6DFE015B1B77}"/>
              </a:ext>
            </a:extLst>
          </p:cNvPr>
          <p:cNvSpPr txBox="1"/>
          <p:nvPr/>
        </p:nvSpPr>
        <p:spPr>
          <a:xfrm>
            <a:off x="2259011" y="4704469"/>
            <a:ext cx="78755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总线的物理层通过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LTSSM (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 Training and Status State Machine)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状态机对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链路进行配置与管理， 并与数据链路层进行数据交换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逻辑子层 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Logical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Sub⁃block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电气子层 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Electrical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Sub⁃block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F07E804-5641-0C90-A1E5-FC0B24220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874" y="830962"/>
            <a:ext cx="5302251" cy="369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200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12C0-C404-ED2F-5E40-47F9E966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E4EC4C3C-88A6-094F-F33B-39DBDD2C236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PCIE</a:t>
            </a:r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链路差分信号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447004-D087-7C72-78FD-316C6583D64D}"/>
              </a:ext>
            </a:extLst>
          </p:cNvPr>
          <p:cNvSpPr txBox="1"/>
          <p:nvPr/>
        </p:nvSpPr>
        <p:spPr>
          <a:xfrm>
            <a:off x="540174" y="2422043"/>
            <a:ext cx="85534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链路使用差分信号进行数据传递，差分信号由两个信号组成。</a:t>
            </a: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使用的是单端信号。</a:t>
            </a:r>
            <a:b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差分传输是一种信号传输的技术，区别于传统的一根信号线一根地线的做法（单端信号），差分传输在这两根线上都传输信号，这两个信号的振幅相等，相位相反。在这两根线上传输的信号就是差分信号。</a:t>
            </a:r>
            <a:endParaRPr lang="en-US" altLang="zh-CN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抗干扰能力较强。 差分信号不受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SSO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噪声的影响， 其走线是等长的， 且距离较近。当外界存在噪声干扰时， 这些干扰同时被耦合到两个信号上， 因为接收端只关心这两个信号的差值， 这些干扰相减后可以忽略不计。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能够有效抑制信号传递带来的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EMI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干扰。 差分信号的极性相反， 对外界辐射的电磁场可以相互抵消， 因此产生的噪声较小。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逻辑状态定位准确。 由于差分信号的开关变化位于两个信号的交点， 而不像单端信号使用高低电压两个阈值进行判断， 因而受制造工艺、 外部环境变化的影响较小， 使用差分信号时， 接收逻辑较易判断逻辑状态 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1”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提供的数据带宽较高。 由于差分信号受外界环境的影响较小， 能够运行在更高的时钟频率上， 从而提供的数据带宽较高。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F6E0962-386A-8B74-6523-76D1DCC89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6962" y="112571"/>
            <a:ext cx="2932664" cy="230947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4C52191-3560-CD2D-DDAC-A5F80EE31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13171"/>
            <a:ext cx="2342726" cy="202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366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12C0-C404-ED2F-5E40-47F9E966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B9B40F2-3EE4-A543-9207-D5A3478D3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848001"/>
            <a:ext cx="6577776" cy="5161997"/>
          </a:xfrm>
          <a:prstGeom prst="rect">
            <a:avLst/>
          </a:prstGeom>
        </p:spPr>
      </p:pic>
      <p:sp>
        <p:nvSpPr>
          <p:cNvPr id="2" name="标题 6">
            <a:extLst>
              <a:ext uri="{FF2B5EF4-FFF2-40B4-BE49-F238E27FC236}">
                <a16:creationId xmlns:a16="http://schemas.microsoft.com/office/drawing/2014/main" id="{583D6B03-ACA0-494D-8693-200D0DF0C99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逻辑子层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41FD83-4F20-1B21-EE94-FEE5FE3A4EC3}"/>
              </a:ext>
            </a:extLst>
          </p:cNvPr>
          <p:cNvSpPr txBox="1"/>
          <p:nvPr/>
        </p:nvSpPr>
        <p:spPr>
          <a:xfrm>
            <a:off x="7334250" y="326484"/>
            <a:ext cx="3930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solidFill>
                  <a:srgbClr val="000000"/>
                </a:solidFill>
                <a:latin typeface="FZSSK--GBK1-0"/>
              </a:rPr>
              <a:t>逻辑子层与数据链路层进行数据交换</a:t>
            </a:r>
            <a:r>
              <a:rPr lang="zh-CN" altLang="en-US" dirty="0">
                <a:solidFill>
                  <a:srgbClr val="000000"/>
                </a:solidFill>
                <a:latin typeface="E-BZ"/>
              </a:rPr>
              <a:t>， </a:t>
            </a:r>
            <a:endParaRPr lang="en-US" altLang="zh-CN" dirty="0">
              <a:solidFill>
                <a:srgbClr val="000000"/>
              </a:solidFill>
              <a:latin typeface="E-BZ"/>
            </a:endParaRPr>
          </a:p>
          <a:p>
            <a:pPr>
              <a:buNone/>
            </a:pPr>
            <a:r>
              <a:rPr lang="zh-CN" altLang="en-US" dirty="0">
                <a:solidFill>
                  <a:srgbClr val="000000"/>
                </a:solidFill>
                <a:latin typeface="FZSSK--GBK1-0"/>
              </a:rPr>
              <a:t>由</a:t>
            </a:r>
            <a:r>
              <a:rPr lang="zh-CN" altLang="en-US" b="1" dirty="0">
                <a:solidFill>
                  <a:srgbClr val="000000"/>
                </a:solidFill>
                <a:latin typeface="FZSSK--GBK1-0"/>
              </a:rPr>
              <a:t>发送逻辑 </a:t>
            </a:r>
            <a:r>
              <a:rPr lang="en-US" altLang="zh-CN" b="1" dirty="0">
                <a:solidFill>
                  <a:srgbClr val="000000"/>
                </a:solidFill>
                <a:latin typeface="E-BZ"/>
              </a:rPr>
              <a:t>TX </a:t>
            </a:r>
            <a:r>
              <a:rPr lang="zh-CN" altLang="en-US" dirty="0">
                <a:solidFill>
                  <a:srgbClr val="000000"/>
                </a:solidFill>
                <a:latin typeface="FZSSK--GBK1-0"/>
              </a:rPr>
              <a:t>和</a:t>
            </a:r>
            <a:r>
              <a:rPr lang="zh-CN" altLang="en-US" b="1" dirty="0">
                <a:solidFill>
                  <a:srgbClr val="000000"/>
                </a:solidFill>
                <a:latin typeface="FZSSK--GBK1-0"/>
              </a:rPr>
              <a:t>接收逻辑</a:t>
            </a:r>
            <a:r>
              <a:rPr lang="en-US" altLang="zh-CN" b="1" dirty="0">
                <a:solidFill>
                  <a:srgbClr val="000000"/>
                </a:solidFill>
                <a:latin typeface="E-BZ"/>
              </a:rPr>
              <a:t>RX </a:t>
            </a:r>
            <a:r>
              <a:rPr lang="zh-CN" altLang="en-US" dirty="0">
                <a:solidFill>
                  <a:srgbClr val="000000"/>
                </a:solidFill>
                <a:latin typeface="FZSSK--GBK1-0"/>
              </a:rPr>
              <a:t>组成</a:t>
            </a:r>
            <a:r>
              <a:rPr lang="zh-CN" altLang="en-US" dirty="0"/>
              <a:t>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138D0F-B32D-6B6E-8172-D4F3C78B798E}"/>
              </a:ext>
            </a:extLst>
          </p:cNvPr>
          <p:cNvSpPr txBox="1"/>
          <p:nvPr/>
        </p:nvSpPr>
        <p:spPr>
          <a:xfrm>
            <a:off x="6698034" y="1499274"/>
            <a:ext cx="549396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TX: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物理层从数据链路层获得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或者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然后放入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Tx Buffer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中。</a:t>
            </a:r>
            <a:endParaRPr lang="en-US" altLang="zh-CN" sz="1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物理层将这些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或者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加入物理层的前缀 （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Start Code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和后缀 （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End Code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），后通过多路选择器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Mux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，进入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Byte Stripping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部件。物理层也定义了一系列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PLP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，这些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PLP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也可以通过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Mux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，进入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Byte Stripping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部件。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链路可能由多个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组成，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Byte Stripping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部件可以将数据报文分发到不同的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中。 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链路的不同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中传递的数据可能存在漂移， 即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Skew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Byte Stripping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部件还有一个重要功能即消除这个漂移， 即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De⁃skew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数据进入到各自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的加扰 （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Scrambler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部件， “加扰” 后进行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8/10b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编码， 最后通过并转串逻辑将数据发送到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链路中。</a:t>
            </a:r>
            <a:r>
              <a:rPr lang="zh-CN" altLang="en-US" sz="12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b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RX: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物理层从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链路的各个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获得串行数据， 并通过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8/10b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解码和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De⁃Scrambler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部件， 发送到 “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Byte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Un⁃Stripping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”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部件。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Byte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Un⁃Stripping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”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部件将来自不同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的数据合并， 进行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De⁃skew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操作， 然后取出物理层的前后缀并进行边界检查后， 将数据放入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 Buffer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中。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物理层将在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 Buffer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中的数据传递到数据链路层。</a:t>
            </a:r>
            <a:r>
              <a:rPr lang="zh-CN" altLang="en-US" sz="12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11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12C0-C404-ED2F-5E40-47F9E966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EAABE65D-4CA1-14FF-3BFD-A1D5B3C7A9F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8/10b</a:t>
            </a:r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编码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069AF12-9891-1B62-7C77-025E5F83D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792212"/>
            <a:ext cx="5308065" cy="39847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1F4E661-371D-8320-0274-133EE753A96B}"/>
              </a:ext>
            </a:extLst>
          </p:cNvPr>
          <p:cNvSpPr txBox="1"/>
          <p:nvPr/>
        </p:nvSpPr>
        <p:spPr>
          <a:xfrm>
            <a:off x="635000" y="92084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 / 10b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编码的基本原理是将一个连续的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位数据流分为两组， 其中一组由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 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FGH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）组成， 而另一组由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 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ABCDE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组成。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 / 10b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编码将这两组数据流分别编码成一组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位（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fghj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和一组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6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 （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abcdei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的数据流。 而解码过程是编码的逆过程， 将一组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位和一组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位的数据流还原成为一组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位和一组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位的数据流。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D058AA4-B82E-A47F-0B33-56E84CB5DD1A}"/>
              </a:ext>
            </a:extLst>
          </p:cNvPr>
          <p:cNvSpPr txBox="1"/>
          <p:nvPr/>
        </p:nvSpPr>
        <p:spPr>
          <a:xfrm>
            <a:off x="647700" y="5090885"/>
            <a:ext cx="10896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设备采用这种编码方式可以保证数据流中出现的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的数量基本保持一致， 同时保证在通过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物理链路的数据流中， 连续的 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不会超过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个。 虽然采用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 / 10b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编码将降低总线的使用效率， 但是能够保证高速串行信号的传送完整性。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保证直流平衡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(DC Balance)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如果在一个高速串行数据流中有较多连续的“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时， 会将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耦合电容充满， 从而影响这些电容的正常工作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723964A-7FD8-AE58-4B89-5C4B1FCB7CBA}"/>
              </a:ext>
            </a:extLst>
          </p:cNvPr>
          <p:cNvSpPr txBox="1"/>
          <p:nvPr/>
        </p:nvSpPr>
        <p:spPr>
          <a:xfrm>
            <a:off x="635000" y="2784575"/>
            <a:ext cx="5969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物理层可以对两类字符进行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 / 10b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编码，</a:t>
            </a:r>
            <a:endParaRPr lang="en-US" altLang="zh-CN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一类是数据字符， 即从数据链路层获得的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； </a:t>
            </a:r>
            <a:endParaRPr lang="en-US" altLang="zh-CN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一类是物理层使用的控制字符， 如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Start / End / Idle Code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和一些物理层中使用的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PLP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</a:t>
            </a:r>
            <a:endParaRPr lang="en-US" altLang="zh-CN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为此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总线在进行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 / 10b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编解码需要区分数据和控制字符。</a:t>
            </a:r>
            <a:r>
              <a:rPr lang="zh-CN" altLang="en-US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数据字符与控制字符使用的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 / 10b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编码不同，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总线分别使用 </a:t>
            </a:r>
            <a:r>
              <a:rPr lang="en-US" altLang="zh-CN" sz="1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Dxx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. y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Kxx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. y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表示数据字符 （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和控制字符 （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）， 其中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xx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记录字符的低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ABCDE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而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y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记录字符的高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FGH</a:t>
            </a:r>
            <a:r>
              <a:rPr lang="en-US" altLang="zh-CN" sz="16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1600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305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12C0-C404-ED2F-5E40-47F9E966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7ECB4CA1-FAD2-7C51-660F-465DD490E42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CRD(Current Running Disparity)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208FEA-6DAB-FC4D-F2C8-32FC5F32080F}"/>
              </a:ext>
            </a:extLst>
          </p:cNvPr>
          <p:cNvSpPr txBox="1"/>
          <p:nvPr/>
        </p:nvSpPr>
        <p:spPr>
          <a:xfrm>
            <a:off x="2182508" y="724370"/>
            <a:ext cx="78269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每一个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Dxx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. 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Kxx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. 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对应两个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10b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的编码， 分别是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CRD +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CRD -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随着通过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链路的数据流增多，累积的“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的个数可能并不平衡。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当所有通过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链路的字符流中，“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的个数大于 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的个数时，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CRD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状态为正；当所有通过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链路的字符流中，“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的个数大于“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的个数时，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CRD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状态为负； 当所有通过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链路的字符 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的个数等于 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1”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的个数时，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CRD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状态保持不变。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CC94E73-4751-E40D-CAEF-115BD08A6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68" y="2609921"/>
            <a:ext cx="3992072" cy="422471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E8638D2-7E1A-A916-5A76-409C413D2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243" y="3102252"/>
            <a:ext cx="6442508" cy="324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4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12C0-C404-ED2F-5E40-47F9E966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77101C9-FA6C-F5DF-3FC4-8FD6519AA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49" y="144702"/>
            <a:ext cx="8982499" cy="506984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4B77209-0A09-9EB1-41B3-8E1629F88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851" y="5499100"/>
            <a:ext cx="8866294" cy="107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24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12C0-C404-ED2F-5E40-47F9E966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098D908C-1371-94D9-4F08-05317D8D9AB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有序集</a:t>
            </a:r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(ordered set)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F23202-0652-A7BE-E7A5-88EBCCAC1BBF}"/>
              </a:ext>
            </a:extLst>
          </p:cNvPr>
          <p:cNvSpPr txBox="1"/>
          <p:nvPr/>
        </p:nvSpPr>
        <p:spPr>
          <a:xfrm>
            <a:off x="1511300" y="3065834"/>
            <a:ext cx="8788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规范为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Gen3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定义了七个有序集（比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Gen1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Gen2 PCIe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多一个有序集）。在大多数情况下，它们的功能与前几代相同。</a:t>
            </a:r>
          </a:p>
          <a:p>
            <a:pPr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SOS - Skip Ordered Set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：用于时钟补偿。</a:t>
            </a:r>
          </a:p>
          <a:p>
            <a:pPr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EIOS -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电气空闲有序集（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Electrical Idle Ordered Set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）：用于进入电气空闲状态</a:t>
            </a:r>
          </a:p>
          <a:p>
            <a:pPr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EIEOS -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电气空闲退出有序集（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Electrical Idle Exit Ordered Set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）：现在用于两个目的：</a:t>
            </a:r>
          </a:p>
          <a:p>
            <a:pPr lvl="1">
              <a:buFont typeface="+mj-lt"/>
              <a:buAutoNum type="arabicPeriod"/>
            </a:pP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—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电气空闲退出，这与前几代相同</a:t>
            </a:r>
          </a:p>
          <a:p>
            <a:pPr lvl="1">
              <a:buFont typeface="+mj-lt"/>
              <a:buAutoNum type="arabicPeriod"/>
            </a:pP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—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用于指示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8.0GT/s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速率下的块对齐边界</a:t>
            </a:r>
          </a:p>
          <a:p>
            <a:pPr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TS1 -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训练序列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有序集（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Training Sequence 1 Ordered Set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</a:t>
            </a:r>
          </a:p>
          <a:p>
            <a:pPr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TS2 -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训练序列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有序集（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Training Sequence 2 Ordered Set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</a:t>
            </a:r>
          </a:p>
          <a:p>
            <a:pPr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FTS -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快速训练序列有序集（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Fast Training Sequence Ordered Set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</a:t>
            </a:r>
          </a:p>
          <a:p>
            <a:pPr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SDS -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数据流开端有序集（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Start of Data Stream Ordered Set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）：在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Gen3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中新增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5D775E-351F-09A2-4482-CADB0A0A8021}"/>
              </a:ext>
            </a:extLst>
          </p:cNvPr>
          <p:cNvSpPr txBox="1"/>
          <p:nvPr/>
        </p:nvSpPr>
        <p:spPr>
          <a:xfrm>
            <a:off x="1511300" y="1090117"/>
            <a:ext cx="8788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Ordered Sets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主要用于链路管理（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Link Management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）功能。链路训练时钟容差补偿（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Clock Tolerance Compensation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CTC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）以及更改链路功耗状态（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Changing Link Power States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）等，对于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Gen1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Gen2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来说，所有的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Ordered Set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都以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COM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作为开头。</a:t>
            </a:r>
            <a:endParaRPr lang="en-US" altLang="zh-CN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Ordered Sets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是在每个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上同步发送的，即每一个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都会同时的发送相同的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Ordered Sets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，因此，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Ordered Sets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也可以被用于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De-skewing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767862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12C0-C404-ED2F-5E40-47F9E966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DE3484DE-58B9-697F-5DDC-95B90CDA4C2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128/130b</a:t>
            </a:r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编码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0BE6959-ECFE-913A-7E46-2BE9986837E9}"/>
              </a:ext>
            </a:extLst>
          </p:cNvPr>
          <p:cNvSpPr txBox="1"/>
          <p:nvPr/>
        </p:nvSpPr>
        <p:spPr>
          <a:xfrm>
            <a:off x="1577973" y="758848"/>
            <a:ext cx="9036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8b/10b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编码，浪费了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20%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的带宽资源，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128b/130b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相比于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8b/10b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，在带宽利用率上有了显著地提升，从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80%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98.46%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GEN3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开始使用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128b</a:t>
            </a:r>
            <a:r>
              <a:rPr lang="en-US" altLang="zh-CN" dirty="0">
                <a:solidFill>
                  <a:srgbClr val="333333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/130b</a:t>
            </a:r>
            <a:r>
              <a:rPr lang="zh-CN" altLang="en-US" dirty="0">
                <a:solidFill>
                  <a:srgbClr val="333333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编码</a:t>
            </a:r>
            <a:endParaRPr lang="zh-CN" altLang="en-US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C701032-13D6-252A-9B4D-37D3E9C22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806" y="2812541"/>
            <a:ext cx="5448276" cy="118937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051D6F9-3342-25CD-2C20-1F2A90DA85B6}"/>
              </a:ext>
            </a:extLst>
          </p:cNvPr>
          <p:cNvSpPr txBox="1"/>
          <p:nvPr/>
        </p:nvSpPr>
        <p:spPr>
          <a:xfrm>
            <a:off x="1730373" y="1448721"/>
            <a:ext cx="87312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将字符分组为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16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个字节的块，每个块的开头有一个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比特的同步字段。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比特同步字段表示该块是否包括数据（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10b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）或有序集（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01b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）。因此，同步字段用于向接收端表明数据流的开端以及预期的数据流类型。与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8b/10b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版本类似，有序集必须在所有通道上被同时传输。这要求所有通道之间能够正确地同步，这也是训练过程的一部分。</a:t>
            </a:r>
            <a:endParaRPr lang="zh-CN" altLang="en-US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F066D71-5CD0-D3C5-38DB-72F1F191471F}"/>
              </a:ext>
            </a:extLst>
          </p:cNvPr>
          <p:cNvSpPr txBox="1"/>
          <p:nvPr/>
        </p:nvSpPr>
        <p:spPr>
          <a:xfrm>
            <a:off x="6369050" y="4223179"/>
            <a:ext cx="55689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Sync bit：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‘b10代表是data block。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‘</a:t>
            </a:r>
            <a:r>
              <a:rPr lang="en-US" altLang="zh-CN" dirty="0"/>
              <a:t>b</a:t>
            </a:r>
            <a:r>
              <a:rPr lang="zh-CN" altLang="en-US" dirty="0"/>
              <a:t>01代表ordered set block</a:t>
            </a:r>
            <a:endParaRPr lang="en-US" altLang="zh-CN" dirty="0"/>
          </a:p>
          <a:p>
            <a:r>
              <a:rPr lang="zh-CN" altLang="en-US" dirty="0"/>
              <a:t>Ordered set block：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在所有的lane同时传输相同的ordered set block。</a:t>
            </a:r>
            <a:endParaRPr lang="en-US" altLang="zh-CN" dirty="0"/>
          </a:p>
          <a:p>
            <a:r>
              <a:rPr lang="zh-CN" altLang="en-US" dirty="0"/>
              <a:t>Data blockData block：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包括</a:t>
            </a:r>
            <a:r>
              <a:rPr lang="zh-CN" altLang="en-US" b="1" dirty="0"/>
              <a:t>framing token</a:t>
            </a:r>
            <a:r>
              <a:rPr lang="zh-CN" altLang="en-US" dirty="0"/>
              <a:t>、DLLP、TLP。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Framing token类似于8/10b编码中的控制符号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41D7D80-00AA-AD78-CC96-718B8E9210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4199" y="5409279"/>
            <a:ext cx="3821490" cy="144872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2066F0D-632B-1969-45F4-F8F1A60847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4200" y="4041639"/>
            <a:ext cx="3821490" cy="133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266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12C0-C404-ED2F-5E40-47F9E966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07CB791-CEE9-65D5-C6BD-5CE51F175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46" y="528119"/>
            <a:ext cx="4784655" cy="453283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E020B70-6246-6483-150D-4A5B36ABC260}"/>
              </a:ext>
            </a:extLst>
          </p:cNvPr>
          <p:cNvSpPr txBox="1"/>
          <p:nvPr/>
        </p:nvSpPr>
        <p:spPr>
          <a:xfrm>
            <a:off x="5977376" y="1917371"/>
            <a:ext cx="561150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当发送有序集块时，它必须同时出现在所有通道上，并且几乎都是由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16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个字节组成，只有一个例外。</a:t>
            </a:r>
            <a:endParaRPr lang="en-US" altLang="zh-CN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SOS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SKP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有序集），它由时钟补偿逻辑（例如与链路中继器（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Link Repeater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）相关）以四个为一组的形式添加或删除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SKP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符号，因此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20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或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24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字节长度都是合法的。</a:t>
            </a:r>
            <a:endParaRPr lang="zh-CN" altLang="en-US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68E92C-08D4-FDBA-6750-6AF7736BFF8E}"/>
              </a:ext>
            </a:extLst>
          </p:cNvPr>
          <p:cNvSpPr txBox="1"/>
          <p:nvPr/>
        </p:nvSpPr>
        <p:spPr>
          <a:xfrm>
            <a:off x="1974850" y="5406551"/>
            <a:ext cx="82423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128b/130b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编码</a:t>
            </a:r>
            <a:r>
              <a:rPr lang="zh-CN" altLang="en-US" dirty="0">
                <a:solidFill>
                  <a:srgbClr val="333333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只是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128bit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Payload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前面增加了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2bit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的同步头，严格意义上都不能称之为编码。显然仅仅依靠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128b/130b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编码根本不可能实现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8b/10b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编码那样的直流均衡，因为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Gen3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使用了全新的扰码方式，以达到直流均衡的目标。</a:t>
            </a:r>
            <a:endParaRPr lang="zh-CN" altLang="en-US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597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91AE3-2332-AFB0-5C74-03A59D13B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B4239B4D-42C4-A36E-46BF-D9D03EC06B1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Framing token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75E8C7-86EE-0E52-698A-3B79C0EEFCF6}"/>
              </a:ext>
            </a:extLst>
          </p:cNvPr>
          <p:cNvSpPr txBox="1"/>
          <p:nvPr/>
        </p:nvSpPr>
        <p:spPr>
          <a:xfrm>
            <a:off x="6110258" y="1072792"/>
            <a:ext cx="60245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STP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– start of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：与早期版本很相似，但新增了字段：数据包双字（</a:t>
            </a:r>
            <a:r>
              <a:rPr lang="en-US" altLang="zh-CN" b="0" i="0" dirty="0" err="1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dword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）数量。</a:t>
            </a:r>
          </a:p>
          <a:p>
            <a:pPr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SDP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– start of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</a:t>
            </a:r>
          </a:p>
          <a:p>
            <a:pPr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EDB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- End Bad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。用于使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无效，就像在早期的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Gen1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Gen2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设计中那样，但现在会连续发送四个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EDB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符号。另外，现在已经取消了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END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end good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）符号；如果没有明确标记为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bad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将被假定为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good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EDS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– end of data stream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。数据流的最后一个</a:t>
            </a:r>
            <a:r>
              <a:rPr lang="en-US" altLang="zh-CN" b="0" i="0" dirty="0" err="1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dword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，后续转换为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ordered set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。但是，数据流可能并没有因为这个事件而真正结束。如果紧随其后的有序集是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SOS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，并且紧随其后的是另一个数据块，则数据流继续。如果跟随</a:t>
            </a:r>
            <a:r>
              <a:rPr lang="en-US" altLang="zh-CN" dirty="0">
                <a:solidFill>
                  <a:srgbClr val="1F2328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EDS</a:t>
            </a:r>
            <a:r>
              <a:rPr lang="zh-CN" altLang="en-US" dirty="0">
                <a:solidFill>
                  <a:srgbClr val="1F2328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的有序集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不是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SOS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，或者如果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SOS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后面没有数据块，那么数据流就会结束。</a:t>
            </a:r>
          </a:p>
          <a:p>
            <a:pPr algn="l">
              <a:buFont typeface="+mj-lt"/>
              <a:buAutoNum type="arabicPeriod"/>
            </a:pPr>
            <a:r>
              <a:rPr lang="en-US" altLang="zh-CN" b="1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IDL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– logical idle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。空闲标记只是在链路逻辑空闲状态下，没有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TLPs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或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DLLPs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准备传输时发送的数据零字节（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data zero bytes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0BD18F5-220F-7314-398A-C20D49C65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921596"/>
            <a:ext cx="5974239" cy="510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84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E4A1AB1-E418-38E9-6DA3-D46C38913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53CB716-AD93-AD8D-5848-1C0DCEF64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163" y="584089"/>
            <a:ext cx="4880797" cy="584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913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15EA3-E9C4-4204-0DD2-68AB8FA2F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AC7C613-EB5B-305D-8C78-F1D436BD9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975" y="467019"/>
            <a:ext cx="7766050" cy="371348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C199E05-88C1-7A74-2E7B-6418DBE2294E}"/>
              </a:ext>
            </a:extLst>
          </p:cNvPr>
          <p:cNvSpPr txBox="1"/>
          <p:nvPr/>
        </p:nvSpPr>
        <p:spPr>
          <a:xfrm>
            <a:off x="1558925" y="4534238"/>
            <a:ext cx="90741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数据块的内容因链路当前的活动（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activity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）而异：</a:t>
            </a:r>
          </a:p>
          <a:p>
            <a:pPr algn="l">
              <a:buNone/>
            </a:pP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• IDLs -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当没有数据包被传送时，数据块只由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IDL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组成。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规范将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IDL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指定为标记之一）。</a:t>
            </a:r>
          </a:p>
          <a:p>
            <a:pPr algn="l">
              <a:buNone/>
            </a:pP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• TLPs -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在一个给定的数据块中可以发送一个或多个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TLPs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，取决于链路宽度。</a:t>
            </a:r>
          </a:p>
          <a:p>
            <a:pPr algn="l">
              <a:buNone/>
            </a:pP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• DLLPs -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在一个给定的数据块中可以发送一个或多个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DLLPs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l"/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•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上述活动的组合可在一个数据块中传送。</a:t>
            </a:r>
          </a:p>
        </p:txBody>
      </p:sp>
    </p:spTree>
    <p:extLst>
      <p:ext uri="{BB962C8B-B14F-4D97-AF65-F5344CB8AC3E}">
        <p14:creationId xmlns:p14="http://schemas.microsoft.com/office/powerpoint/2010/main" val="2629804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12C0-C404-ED2F-5E40-47F9E966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ABC7A86B-076C-8AC4-9993-90FC87AE4FA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GEN3 TX/RX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529B7E-719B-2ABC-BCEF-92D92B229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316" y="649650"/>
            <a:ext cx="3329656" cy="504952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2BADF43-F926-5357-282A-4C352EA81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237" y="649651"/>
            <a:ext cx="3720461" cy="504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012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B68C7-B941-FBE7-6909-BDDBCF584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6">
            <a:extLst>
              <a:ext uri="{FF2B5EF4-FFF2-40B4-BE49-F238E27FC236}">
                <a16:creationId xmlns:a16="http://schemas.microsoft.com/office/drawing/2014/main" id="{A4C80F25-4088-573E-D52E-7F721F98EB2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链路训练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7C1D027-F5C2-A76F-678C-338E2AD82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630" y="941492"/>
            <a:ext cx="5261379" cy="226922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E0ACAC1-1457-E5D4-CA22-799429559EDD}"/>
              </a:ext>
            </a:extLst>
          </p:cNvPr>
          <p:cNvSpPr txBox="1"/>
          <p:nvPr/>
        </p:nvSpPr>
        <p:spPr>
          <a:xfrm>
            <a:off x="8615868" y="1499284"/>
            <a:ext cx="1658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方便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PCB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走线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AECA97-0F4A-D827-E71B-670369718EC0}"/>
              </a:ext>
            </a:extLst>
          </p:cNvPr>
          <p:cNvSpPr txBox="1"/>
          <p:nvPr/>
        </p:nvSpPr>
        <p:spPr>
          <a:xfrm>
            <a:off x="1351581" y="3429000"/>
            <a:ext cx="948883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链路进行链路训练时， 需要了解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链路两端的连接拓扑结构。 一条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链路可能使用多个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进行数据交换， 而数据报文经过不同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的延时并不完全相同。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总线进行链路训练时， 需要处理这些不同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的延时差异， 并进行补偿。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总线规范将这个过程称为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De⁃skew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总线在链路训练过程中， 还需要确定数据传送率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V1. x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总线使用的数据传送率为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2. 5GT / s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V2. 0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总线使用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5. 0GT / s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V3. 0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总线使用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8GT / s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的数据传送率。 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如果一个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链路的两端分别连接不同类型的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设备时， 将选择较低的数据传送率。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b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链路在进行初始化时， 首先使用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2. 5GT / s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的数据传送率， 之后切换到更高的数据传送率， 如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5GT / s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或者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8GT / s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2447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F627D-AC6E-C23F-C2A3-A6F9D7C68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170A11A-D24C-E065-5C84-32819ED26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908" y="0"/>
            <a:ext cx="3962184" cy="310466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9632B1F-363F-7EF1-9E11-7F6477CE305E}"/>
              </a:ext>
            </a:extLst>
          </p:cNvPr>
          <p:cNvSpPr txBox="1"/>
          <p:nvPr/>
        </p:nvSpPr>
        <p:spPr>
          <a:xfrm>
            <a:off x="1913534" y="3096477"/>
            <a:ext cx="83649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Link Number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一个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Switch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中存在多个下游链路， 并使用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进行编号， 其中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n≤255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这些编号保存在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Switch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的硬件逻辑中， 而不在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Switch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的配置空间中。 </a:t>
            </a:r>
            <a:endParaRPr lang="en-US" altLang="zh-C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Number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两类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Number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，物理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Number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和逻辑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Number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物理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Number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是链路训练之前使用的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Number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一个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链路的物理 “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Number”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编号为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其中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为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链路的最大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Number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如果一个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链路上有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则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等于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逻辑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Number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是链路训练之后使用的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Number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链路允许错序连接，因此物理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Number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和逻辑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Number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并不相同，它们的对应关系是在链路训练中确定的。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总线进行链路训练时，需要进行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RC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或者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Switch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Link Number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Number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的初始化。</a:t>
            </a: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458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E9793-A7AA-57B2-E7B1-49CA98861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853B07F-11B8-94A5-42E7-7CC064E20960}"/>
              </a:ext>
            </a:extLst>
          </p:cNvPr>
          <p:cNvSpPr txBox="1"/>
          <p:nvPr/>
        </p:nvSpPr>
        <p:spPr>
          <a:xfrm>
            <a:off x="1127125" y="2610683"/>
            <a:ext cx="99377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链路训练使用的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ordered-set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TS1/TS2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在物理层的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LTSSM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状态机中，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TS2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序列的使用方法不同。 其中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序列的主要作用是检测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链路的配置信息， 而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TS2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序列确认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序列的检测结果。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16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个字符组成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。</a:t>
            </a: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Idle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</a:t>
            </a:r>
            <a:endParaRPr lang="en-US" altLang="zh-C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在正常情况下， 发送端进入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Electrical Idle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状态时， 将首先向对端发送若干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Idle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序列， 才能进入。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Electrical Idle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状态是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链路的一个低功耗状态。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EIOS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序列进入该状态。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EIEOS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序列退出该状态</a:t>
            </a:r>
          </a:p>
          <a:p>
            <a:pPr>
              <a:buNone/>
            </a:pPr>
            <a:r>
              <a:rPr lang="zh-CN" altLang="en-US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FTS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 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该字符序列协助接收逻辑获得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Bit / Symbol Lock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，接收逻辑需要获得多个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FTS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后， 才能确定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Bit / Symbol Lock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buNone/>
            </a:pPr>
            <a:r>
              <a:rPr lang="en-US" altLang="zh-CN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SKIP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该字符序列的主要作用是进行时钟补偿。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解决时钟漂移的问题</a:t>
            </a:r>
            <a:b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GEN1/GEN2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的有序集格式和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GEN3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的有序集格式不一样，因为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8b/10b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编码和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128b/130b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编码的差异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AC56CE-D403-60A9-6913-61E499970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184" y="162559"/>
            <a:ext cx="3167766" cy="24597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4D2AF4E-EF78-DC26-DCB9-79C0E516B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480" y="162559"/>
            <a:ext cx="3057820" cy="245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008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0EE9E-8E75-CD73-0EF1-FE8113DC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E515C65F-234B-1D4E-789B-9AF0FA057C8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LTSSM</a:t>
            </a:r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状态机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A36CE1-6213-ACF6-E50A-E0BF29FC2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46409"/>
            <a:ext cx="5238750" cy="483196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65CF37F-EA1F-3765-E9EF-58B66C72D4CD}"/>
              </a:ext>
            </a:extLst>
          </p:cNvPr>
          <p:cNvSpPr txBox="1"/>
          <p:nvPr/>
        </p:nvSpPr>
        <p:spPr>
          <a:xfrm>
            <a:off x="5344824" y="649650"/>
            <a:ext cx="6847176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Detect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 </a:t>
            </a:r>
            <a:endParaRPr lang="en-US" altLang="zh-CN" sz="1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当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链路被复位或者数据链路层通过填写某些寄存器后，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LTSSM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将</a:t>
            </a:r>
          </a:p>
          <a:p>
            <a:pPr lvl="1"/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进入该状态。 该状态也是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LTSSM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的初始状态。 当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链路处于该状态时， 发送逻辑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TX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并不知道对端接收逻辑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的存在， 因此需要使用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Receiver Detect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识别逻辑判断对端接收逻辑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是否可以正常工作， 之后才能进入其他状态。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Polling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 </a:t>
            </a:r>
            <a:endParaRPr lang="en-US" altLang="zh-CN" sz="1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当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链路进入该状态时， 将向对端发送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序列， 并接收对端的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序列， 以确定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Bit / Symbol Lock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的极性。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链路处于该状态时， 将进行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Loopback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测试， 确定当前使用的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链路可以正常工作。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Configuration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</a:t>
            </a:r>
            <a:endParaRPr lang="en-US" altLang="zh-CN" sz="1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当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链路进入该状态时， 将确定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链路的宽度、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Link Number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reversal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Polarity inversion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Lane⁃to⁃Lane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的延时。 该状态是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LTSSM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状态机最重要的状态。 值得注意的是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链路在进行初始化时， 链路两端统一使用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2. 5GT / s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的数据传送率， 直到进入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L0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L0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 </a:t>
            </a:r>
            <a:endParaRPr lang="en-US" altLang="zh-CN" sz="1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链路的正常工作状态。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链路可以正常发送和接收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TLP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DLLP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</a:t>
            </a:r>
          </a:p>
          <a:p>
            <a:pPr lvl="1"/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PLP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链路可以从该状态进入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Recovery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状态， 以改变数据传送率。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Recovery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</a:t>
            </a:r>
            <a:endParaRPr lang="en-US" altLang="zh-CN" sz="1200" dirty="0">
              <a:solidFill>
                <a:srgbClr val="000000"/>
              </a:solidFill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链路需要进行链路重训练时需要进入该状态。 该状态是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LTSSM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状态机的重要状态。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L0s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 </a:t>
            </a:r>
            <a:endParaRPr lang="en-US" altLang="zh-CN" sz="1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链路的低功耗状态， 其中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链路处于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L0s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状态时， 使用的功耗相对较高， 而处于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状态时， 使用的功耗最低。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Disabled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 </a:t>
            </a:r>
            <a:endParaRPr lang="en-US" altLang="zh-CN" sz="1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系统软件可以通过设置寄存器， 使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链路进入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Disabled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 当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链路的对端设备被拔出时，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LTSSM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也需要进入该状态。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Loopback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 </a:t>
            </a:r>
            <a:endParaRPr lang="en-US" altLang="zh-CN" sz="1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链路进入该状态时， 发送端口将转发其接收端口接收到的数据，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测试仪器可以利用该状态进行数据测试。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Hot Reset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 </a:t>
            </a:r>
            <a:endParaRPr lang="en-US" altLang="zh-CN" sz="1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当处理器系统进行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Hot Reset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操作时，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链路将进入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Recovery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状态， 然后进入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Hot Reset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状态进行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链路的重训练。</a:t>
            </a:r>
            <a:r>
              <a:rPr lang="zh-CN" altLang="en-US" sz="12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32183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B3C33-A920-A616-958A-26DBD5F24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72599EB-F23B-FC76-E404-9EB573B80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3971" y="419145"/>
            <a:ext cx="4524054" cy="77757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5436F23-0467-608C-1F9E-DD98AC3CBF47}"/>
              </a:ext>
            </a:extLst>
          </p:cNvPr>
          <p:cNvSpPr txBox="1"/>
          <p:nvPr/>
        </p:nvSpPr>
        <p:spPr>
          <a:xfrm>
            <a:off x="1093785" y="1312386"/>
            <a:ext cx="100044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Detect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状态的主要功能是识别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链路的拓扑结构，检测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链路上是否有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设备存在， 如果存在， 一共使用了多少可用的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资源。 在正常情况下，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链路将从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Detect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状态迁移到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Polling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传统复位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后才能进入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Detect.Quiet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如果该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设备的对端存在设备时，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链路的两端将同时进入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Detect.Quiet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98EE16-33C8-9A71-CD3F-731FF3F7400A}"/>
              </a:ext>
            </a:extLst>
          </p:cNvPr>
          <p:cNvSpPr txBox="1"/>
          <p:nvPr/>
        </p:nvSpPr>
        <p:spPr>
          <a:xfrm>
            <a:off x="1093785" y="2789714"/>
            <a:ext cx="100044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物理层也可以从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L2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Loopback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Disabled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Polling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Configuration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Recovery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状态进入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Detect. Quiet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状态， 此时发送逻辑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TX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需要发送必要的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Idle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序列， 通知对端设备的接收逻辑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然后经过一段延时后才能进入 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Electrical Idle”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 而在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Detect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状态中，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设备的发送逻辑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TX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将直接进入到 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Electrical Idle”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状态， 并不会使用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Idle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序列通知对端设备的接收逻辑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3DF16A-D51D-2F75-2A69-64CAAC7078EF}"/>
              </a:ext>
            </a:extLst>
          </p:cNvPr>
          <p:cNvSpPr txBox="1"/>
          <p:nvPr/>
        </p:nvSpPr>
        <p:spPr>
          <a:xfrm>
            <a:off x="1093785" y="4084037"/>
            <a:ext cx="100044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设备处于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Detect.Quiet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状态时，整个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链路处于“完全静止状态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”</a:t>
            </a:r>
            <a:b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 err="1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Detect.Quiet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状态超过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12ms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后，或者检测到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链路上的任何一个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退出“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Electrical Idle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”状态时，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设备进入</a:t>
            </a:r>
            <a:r>
              <a:rPr lang="en-US" altLang="zh-CN" dirty="0" err="1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Detect.Active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</a:t>
            </a: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设备进入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Detect.Active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状态后， 其发送逻辑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TX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将向该链路的所有 “未配置过的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端发送 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Receiver Detection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序列”， 检测其对端的接收逻辑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是否正常工作。 如果所有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的接收逻辑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都在正常工作时，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设备进入到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Polling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如果没有一个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的接收逻辑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被检测到，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设备将进入到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Detect.Quiet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状态， 此时可能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链路的对端没有连接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设备， 或者该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设备并没有正常工作。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12ms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后会重发一次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检测，结果相同的话将不可用的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置为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idle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，进入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polling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。结果不同则进入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Dectect.Quiet</a:t>
            </a:r>
            <a:endParaRPr lang="zh-CN" altLang="en-US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标题 6">
            <a:extLst>
              <a:ext uri="{FF2B5EF4-FFF2-40B4-BE49-F238E27FC236}">
                <a16:creationId xmlns:a16="http://schemas.microsoft.com/office/drawing/2014/main" id="{A85FE306-43D9-35E3-7EC2-6DEAFDAA212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Detect</a:t>
            </a:r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状态</a:t>
            </a:r>
          </a:p>
        </p:txBody>
      </p:sp>
    </p:spTree>
    <p:extLst>
      <p:ext uri="{BB962C8B-B14F-4D97-AF65-F5344CB8AC3E}">
        <p14:creationId xmlns:p14="http://schemas.microsoft.com/office/powerpoint/2010/main" val="10685033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F3E96-37BF-951F-6442-497DA6678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46C9C52-ECE4-6E0B-4182-B9C9FFC41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316" y="54185"/>
            <a:ext cx="4803368" cy="2230795"/>
          </a:xfrm>
          <a:prstGeom prst="rect">
            <a:avLst/>
          </a:prstGeom>
        </p:spPr>
      </p:pic>
      <p:sp>
        <p:nvSpPr>
          <p:cNvPr id="4" name="标题 6">
            <a:extLst>
              <a:ext uri="{FF2B5EF4-FFF2-40B4-BE49-F238E27FC236}">
                <a16:creationId xmlns:a16="http://schemas.microsoft.com/office/drawing/2014/main" id="{B89CC44A-3B70-939E-EB98-D8583157817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Polling</a:t>
            </a:r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状态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2F5EE3-DEF4-F6B4-52ED-4F9908F0FB22}"/>
              </a:ext>
            </a:extLst>
          </p:cNvPr>
          <p:cNvSpPr txBox="1"/>
          <p:nvPr/>
        </p:nvSpPr>
        <p:spPr>
          <a:xfrm>
            <a:off x="966787" y="2393015"/>
            <a:ext cx="10258425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检查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Link Control 2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寄存器的 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Enter Compliance Bit”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位。 如果该位为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设备将进入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Polling.Compliance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状态， 值得注意的是，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链路两端设备的 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Enter Compliance Bit”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需要被同时置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即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链路两端的设备需要同时进入到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Polling.Compliance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 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如果 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Enter Compliance Bit”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不为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则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链路两端设备的发送逻辑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TX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需要向对端至少发送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1024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序列， 其中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/ Link Number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必须为 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PAD”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即不设置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/ Link Number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。以此获得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Bit / Symbol Lock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，时间大约</a:t>
            </a:r>
            <a:r>
              <a:rPr lang="el-GR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64 μ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接收逻辑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从</a:t>
            </a:r>
            <a:r>
              <a:rPr lang="zh-CN" altLang="en-US" sz="1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全部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“已被正确识别的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中收到了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个连续的报文序列后，满足以下条件，</a:t>
            </a:r>
            <a:r>
              <a:rPr lang="zh-CN" altLang="en-US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该 </a:t>
            </a:r>
            <a:r>
              <a:rPr lang="en-US" altLang="zh-CN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设备将进入 </a:t>
            </a:r>
            <a:r>
              <a:rPr lang="en-US" altLang="zh-CN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Polling. Configuration </a:t>
            </a:r>
            <a:r>
              <a:rPr lang="zh-CN" altLang="en-US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</a:t>
            </a:r>
            <a:endParaRPr lang="en-US" altLang="zh-CN" sz="180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接收到的 </a:t>
            </a:r>
            <a:r>
              <a:rPr lang="en-US" altLang="zh-CN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 </a:t>
            </a:r>
            <a:r>
              <a:rPr lang="zh-CN" altLang="en-US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的链路和通道字段全部被设置为全填充字符（</a:t>
            </a:r>
            <a:r>
              <a:rPr lang="en-US" altLang="zh-CN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PAD</a:t>
            </a:r>
            <a:r>
              <a:rPr lang="zh-CN" altLang="en-US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），并且 </a:t>
            </a:r>
            <a:r>
              <a:rPr lang="en-US" altLang="zh-CN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Compliance Receive </a:t>
            </a:r>
            <a:r>
              <a:rPr lang="zh-CN" altLang="en-US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比特设置为 </a:t>
            </a:r>
            <a:r>
              <a:rPr lang="en-US" altLang="zh-CN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0b (</a:t>
            </a:r>
            <a:r>
              <a:rPr lang="zh-CN" altLang="en-US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符号 </a:t>
            </a:r>
            <a:r>
              <a:rPr lang="en-US" altLang="zh-CN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 比特 </a:t>
            </a:r>
            <a:r>
              <a:rPr lang="en-US" altLang="zh-CN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4)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接收到的 </a:t>
            </a:r>
            <a:r>
              <a:rPr lang="en-US" altLang="zh-CN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 </a:t>
            </a:r>
            <a:r>
              <a:rPr lang="zh-CN" altLang="en-US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的链路和通道字段都被设置为全填充字符，并且 </a:t>
            </a:r>
            <a:r>
              <a:rPr lang="en-US" altLang="zh-CN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Loopback </a:t>
            </a:r>
            <a:r>
              <a:rPr lang="zh-CN" altLang="en-US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比特设置为 </a:t>
            </a:r>
            <a:r>
              <a:rPr lang="en-US" altLang="zh-CN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1b (</a:t>
            </a:r>
            <a:r>
              <a:rPr lang="zh-CN" altLang="en-US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符号 </a:t>
            </a:r>
            <a:r>
              <a:rPr lang="en-US" altLang="zh-CN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 比特 </a:t>
            </a:r>
            <a:r>
              <a:rPr lang="en-US" altLang="zh-CN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2)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接收到的 </a:t>
            </a:r>
            <a:r>
              <a:rPr lang="en-US" altLang="zh-CN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TS2 </a:t>
            </a:r>
            <a:r>
              <a:rPr lang="zh-CN" altLang="en-US" sz="14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的链路和通道字段都被设置为全填充字符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如果上述条件没满足，等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24ms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超时后，发送完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1024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序列后，</a:t>
            </a:r>
            <a:r>
              <a:rPr lang="zh-CN" altLang="en-US" sz="1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任意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“已被正确识别的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中收到了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个连续的报文序列，满足上述条件，该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设备将进入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Polling. Configuration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</a:t>
            </a:r>
            <a:b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如果该条件也没有成立，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设备将可能进入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Polling.Compliance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3662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0B684-4409-90CE-EB59-4D41B9DB7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D84A3E4-CBAA-85B8-E09A-41F3B87B6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316" y="54185"/>
            <a:ext cx="4803368" cy="223079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3B1A4BB-1C2E-FBCD-71EA-7BF00E0F84B2}"/>
              </a:ext>
            </a:extLst>
          </p:cNvPr>
          <p:cNvSpPr txBox="1"/>
          <p:nvPr/>
        </p:nvSpPr>
        <p:spPr>
          <a:xfrm>
            <a:off x="966787" y="2393015"/>
            <a:ext cx="102584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Polling. Configuration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状态中，发送方停止发送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序列，转而发送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TS2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序列，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TS2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序列中的链路和通道（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）字段仍然使用填充字段填充。该状态中，发送方转而发送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TS2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的目的是通知链路对端的设备：本方已经做好准备进入状态机中的下一个状态。转而发送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TS2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是为了使链路两端的设备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LTSSM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同步而设计的握手机制。双方设备都无法独自进入下一状态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除非链路两端的设备都准备就绪。开始发送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TS2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序列是通知对端本方准备就绪的方式。所以一旦设备同时发送并且接收到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TS2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序列，就代表本方和对端设备都已经就绪， 设备可以进入下一状态。</a:t>
            </a:r>
            <a:endParaRPr lang="en-US" altLang="zh-CN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置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Link Control 2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寄存器的 “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Transmit Margin”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字段为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0b000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在任意通道上接收到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个连续的链路和通道（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）字段填充的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TS2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序列后，并且从接收到第一个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TS2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序列开始，已经发送了至少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16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TS2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序列后，退出 </a:t>
            </a:r>
            <a:r>
              <a:rPr lang="en-US" altLang="zh-CN" b="0" i="0" dirty="0" err="1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Polling.Configuration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状态进入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Configuration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</a:t>
            </a:r>
            <a:endParaRPr lang="en-US" altLang="zh-CN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如果上述条件在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48 </a:t>
            </a:r>
            <a:r>
              <a:rPr lang="en-US" altLang="zh-CN" b="0" i="0" dirty="0" err="1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ms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的超时后仍未满足，退出 </a:t>
            </a:r>
            <a:r>
              <a:rPr lang="en-US" altLang="zh-CN" b="0" i="0" dirty="0" err="1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Polling.Configuration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状态返回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Detect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</a:t>
            </a:r>
            <a:endParaRPr lang="zh-CN" altLang="en-US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标题 6">
            <a:extLst>
              <a:ext uri="{FF2B5EF4-FFF2-40B4-BE49-F238E27FC236}">
                <a16:creationId xmlns:a16="http://schemas.microsoft.com/office/drawing/2014/main" id="{03133244-FCC0-9869-6140-C7A3E60016A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Polling</a:t>
            </a:r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状态</a:t>
            </a:r>
          </a:p>
        </p:txBody>
      </p:sp>
    </p:spTree>
    <p:extLst>
      <p:ext uri="{BB962C8B-B14F-4D97-AF65-F5344CB8AC3E}">
        <p14:creationId xmlns:p14="http://schemas.microsoft.com/office/powerpoint/2010/main" val="2433464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7E87C-280D-901A-8D09-EB0E4ADBA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FDD23181-732E-221D-C38F-8900027129B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Configuration</a:t>
            </a:r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状态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BCE9AAB-5F16-50FD-25BC-DAACC0F6A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589" y="0"/>
            <a:ext cx="3826821" cy="310299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B8112A-6455-EBDB-8013-E1F40B94B91F}"/>
              </a:ext>
            </a:extLst>
          </p:cNvPr>
          <p:cNvSpPr txBox="1"/>
          <p:nvPr/>
        </p:nvSpPr>
        <p:spPr>
          <a:xfrm>
            <a:off x="1584323" y="3102993"/>
            <a:ext cx="97710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Configuration.Linkwidth.Start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Configuration.Linkwidth.Accept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状态通过自协商确定不同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Link Number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通过交互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序列完成</a:t>
            </a:r>
            <a:endParaRPr lang="en-US" altLang="zh-CN" b="1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Configuration.Lanenum.Wait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Configuration.Lanenum.Accept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状态通过自协商当前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链路的物 理 “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Number 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与 逻 辑 “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Number ”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 对 应 关系。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通过交互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序列完成</a:t>
            </a:r>
            <a:endParaRPr lang="en-US" altLang="zh-CN" sz="1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Configuration.Complete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状态负责处理 “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Lane⁃to⁃Lane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de⁃skew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Configuration.Complete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Configuration.Idle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状态进行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Link Number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Number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的确认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设备处于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Configuration.Idle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状态时，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链路已经设置完毕， 此时将向对端至少发送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16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Idle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序列， 当接收逻辑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收到这些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Idle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序列后， 将置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LinkUp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状态位为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0b1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数据链路层将从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DL_Inactive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状态迁移到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DL_Init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状态， 而物理层将进入正常工作状态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L0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5752ABA-AD24-05CC-202F-E541E5A73FE4}"/>
              </a:ext>
            </a:extLst>
          </p:cNvPr>
          <p:cNvSpPr txBox="1"/>
          <p:nvPr/>
        </p:nvSpPr>
        <p:spPr>
          <a:xfrm>
            <a:off x="1584327" y="5746030"/>
            <a:ext cx="90233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LTSSM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状态机中，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Polling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状态正常结束时将进入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Configuration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 此外当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Recovery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状态出现某些错误， 没有正常进入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L0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状态时， 也可能首先进入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Configuration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状态， 然后经过错误处理之后， 重新返回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L0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194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B640C-354E-5592-E41C-D1324ECC3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1AB3431E-6050-13B5-FBF9-6A76F94D7FB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Recovery</a:t>
            </a:r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状态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3C8C07-FBA4-AB4B-FF56-BC3DF50DE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381" y="0"/>
            <a:ext cx="4629238" cy="213059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9A62425-FF68-B0E8-CF51-2E595AD8170E}"/>
              </a:ext>
            </a:extLst>
          </p:cNvPr>
          <p:cNvSpPr txBox="1"/>
          <p:nvPr/>
        </p:nvSpPr>
        <p:spPr>
          <a:xfrm>
            <a:off x="1413752" y="2262079"/>
            <a:ext cx="94747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当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设备工作在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L0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状态时， 出现以下情况时， 将进入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Recovery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b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更改数据传送率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b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更改链路宽度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b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已配置完毕的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中收到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或者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TS2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序列。</a:t>
            </a:r>
          </a:p>
          <a:p>
            <a:pPr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检测或者推断出对端设备处于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Idle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一个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设备进入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Recovery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状态之后， 将向对端发送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序列， 而对端设备收到这个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序列后， 也将从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L0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状态进入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Recovery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 因此在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链路中， 当一端设备进入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Recovery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状态后， 对端设备也将进入该状态。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设备连续发送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序列的同时， 将通过其接收逻辑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RX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检测， 是否收到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个连续的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或者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TS2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序列， 是否这些序列使用的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Link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Number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与该设备发送的值相同， 而且这些序列的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speed_change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位是否与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directed_speed_change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位相同。 如果检测成功， 该设备将进入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Recovery.RcvrCfg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 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设备进入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Recovery.RcvrCfg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状态后， 将向对端发送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TS2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序列， 该序列的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Link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Lane Number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为之前在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Configuration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状态设置的值。进一步确认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Recovery.RcvrLock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状态使用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TS1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序列所获得的结果。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833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65916-DE3E-CF83-DBB8-419B1589F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83BE60FA-AEFE-2207-302A-99366B7A0FA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LTSSM</a:t>
            </a:r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其他状态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7404A69-8E6E-08CC-BA09-97B8F67715DD}"/>
              </a:ext>
            </a:extLst>
          </p:cNvPr>
          <p:cNvSpPr txBox="1"/>
          <p:nvPr/>
        </p:nvSpPr>
        <p:spPr>
          <a:xfrm>
            <a:off x="1593714" y="1516346"/>
            <a:ext cx="90045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LTSSM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中还含有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Disabled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Host Reset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Loopback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Recovery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L0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L2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L0s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 其中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L0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L2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L0s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的电源管理相关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链路还可以从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Configuration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Recovery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状态进入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Disabled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 当系统软件需要关闭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链路时， 可以通过设置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Link Control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Link Disabled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位， 使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链路进入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Disabled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 物理层进入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Disabled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状态时， 将禁止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链路的使用， 然后视情况进入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链路的初始状态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Detect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重新进行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链路的训练工作。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Loopback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状态是一种调试状态，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总线测试仪器可以使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链路的对端设备进入该状态， 然后对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链路进行测试。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Hot Reset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Recovery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状态进入， 当系统软件对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链路进行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Hot Reset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操作时，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链路将进入该状态， 然后进入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链路的初始状态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Detect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06181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10529</TotalTime>
  <Words>4813</Words>
  <Application>Microsoft Office PowerPoint</Application>
  <PresentationFormat>宽屏</PresentationFormat>
  <Paragraphs>183</Paragraphs>
  <Slides>25</Slides>
  <Notes>12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-apple-system</vt:lpstr>
      <vt:lpstr>E-BZ</vt:lpstr>
      <vt:lpstr>FZSSK--GBK1-0</vt:lpstr>
      <vt:lpstr>等线</vt:lpstr>
      <vt:lpstr>等线 Light</vt:lpstr>
      <vt:lpstr>Arial</vt:lpstr>
      <vt:lpstr>Times New Roman</vt:lpstr>
      <vt:lpstr>Wingdings</vt:lpstr>
      <vt:lpstr>Office 主题​​</vt:lpstr>
      <vt:lpstr>PCIE协议-物理层</vt:lpstr>
      <vt:lpstr>PowerPoint 演示文稿</vt:lpstr>
      <vt:lpstr>物理层组成结构</vt:lpstr>
      <vt:lpstr>PCIE链路差分信号</vt:lpstr>
      <vt:lpstr>逻辑子层</vt:lpstr>
      <vt:lpstr>8/10b编码</vt:lpstr>
      <vt:lpstr>CRD(Current Running Disparity)</vt:lpstr>
      <vt:lpstr>PowerPoint 演示文稿</vt:lpstr>
      <vt:lpstr>有序集(ordered set)</vt:lpstr>
      <vt:lpstr>128/130b编码</vt:lpstr>
      <vt:lpstr>PowerPoint 演示文稿</vt:lpstr>
      <vt:lpstr>Framing token</vt:lpstr>
      <vt:lpstr>PowerPoint 演示文稿</vt:lpstr>
      <vt:lpstr>PowerPoint 演示文稿</vt:lpstr>
      <vt:lpstr>GEN3 TX/RX</vt:lpstr>
      <vt:lpstr>链路训练</vt:lpstr>
      <vt:lpstr>PowerPoint 演示文稿</vt:lpstr>
      <vt:lpstr>PowerPoint 演示文稿</vt:lpstr>
      <vt:lpstr>LTSSM状态机</vt:lpstr>
      <vt:lpstr>Detect状态</vt:lpstr>
      <vt:lpstr>Polling状态</vt:lpstr>
      <vt:lpstr>Polling状态</vt:lpstr>
      <vt:lpstr>Configuration状态</vt:lpstr>
      <vt:lpstr>Recovery状态</vt:lpstr>
      <vt:lpstr>LTSSM其他状态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Jayden Han</dc:creator>
  <cp:lastModifiedBy>Jayden Han</cp:lastModifiedBy>
  <cp:revision>368</cp:revision>
  <dcterms:created xsi:type="dcterms:W3CDTF">2025-04-11T02:00:32Z</dcterms:created>
  <dcterms:modified xsi:type="dcterms:W3CDTF">2025-04-18T09:30:18Z</dcterms:modified>
</cp:coreProperties>
</file>